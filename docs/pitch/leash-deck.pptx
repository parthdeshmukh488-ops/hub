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6" Type="http://schemas.openxmlformats.org/officeDocument/2006/relationships/hyperlink" Target="https://youtu.be/dsJoAv4XV_8"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Text 5"/>
          <p:cNvSpPr txBox="1"/>
          <p:nvPr/>
        </p:nvSpPr>
        <p:spPr>
          <a:xfrm>
            <a:off x="548640" y="4160520"/>
            <a:ext cx="4114800" cy="274320"/>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Parth Deshmukh · solo builder</a:t>
            </a:r>
            <a:endParaRPr lang="en-US" sz="1100" dirty="0"/>
          </a:p>
        </p:txBody>
      </p:sp>
      <p:pic>
        <p:nvPicPr>
          <p:cNvPr id="8"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9" name="Shape 6"/>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0" name="Text 7"/>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THE PROBLEM</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fooled agent can empty its whole wallet</a:t>
            </a:r>
            <a:endParaRPr lang="en-US" sz="3000" dirty="0"/>
          </a:p>
        </p:txBody>
      </p:sp>
      <p:sp>
        <p:nvSpPr>
          <p:cNvPr id="6" name="Shape 4"/>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7" name="Shape 5"/>
          <p:cNvSpPr/>
          <p:nvPr/>
        </p:nvSpPr>
        <p:spPr>
          <a:xfrm>
            <a:off x="749808" y="1325880"/>
            <a:ext cx="457200" cy="457200"/>
          </a:xfrm>
          <a:prstGeom prst="ellipse">
            <a:avLst/>
          </a:prstGeom>
          <a:solidFill>
            <a:srgbClr val="EEF0F4"/>
          </a:solidFill>
          <a:ln/>
        </p:spPr>
      </p:sp>
      <p:pic>
        <p:nvPicPr>
          <p:cNvPr id="8"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9" name="Text 6"/>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10" name="Text 7"/>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1" name="Shape 8"/>
          <p:cNvSpPr/>
          <p:nvPr/>
        </p:nvSpPr>
        <p:spPr>
          <a:xfrm>
            <a:off x="2971800" y="1938528"/>
            <a:ext cx="365760" cy="0"/>
          </a:xfrm>
          <a:prstGeom prst="line">
            <a:avLst/>
          </a:prstGeom>
          <a:noFill/>
          <a:ln w="19050">
            <a:solidFill>
              <a:srgbClr val="535C6B"/>
            </a:solidFill>
            <a:prstDash val="solid"/>
            <a:tailEnd type="triangle"/>
          </a:ln>
        </p:spPr>
      </p:sp>
      <p:sp>
        <p:nvSpPr>
          <p:cNvPr id="12" name="Shape 9"/>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3630168" y="1325880"/>
            <a:ext cx="457200" cy="457200"/>
          </a:xfrm>
          <a:prstGeom prst="ellipse">
            <a:avLst/>
          </a:prstGeom>
          <a:solidFill>
            <a:srgbClr val="EEF0F4"/>
          </a:solidFill>
          <a:ln/>
        </p:spPr>
      </p:sp>
      <p:pic>
        <p:nvPicPr>
          <p:cNvPr id="14"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5" name="Text 11"/>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6" name="Text 12"/>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7" name="Shape 13"/>
          <p:cNvSpPr/>
          <p:nvPr/>
        </p:nvSpPr>
        <p:spPr>
          <a:xfrm>
            <a:off x="5852160" y="1938528"/>
            <a:ext cx="365760" cy="0"/>
          </a:xfrm>
          <a:prstGeom prst="line">
            <a:avLst/>
          </a:prstGeom>
          <a:noFill/>
          <a:ln w="19050">
            <a:solidFill>
              <a:srgbClr val="535C6B"/>
            </a:solidFill>
            <a:prstDash val="solid"/>
            <a:tailEnd type="triangle"/>
          </a:ln>
        </p:spPr>
      </p:sp>
      <p:sp>
        <p:nvSpPr>
          <p:cNvPr id="18" name="Shape 14"/>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Shape 15"/>
          <p:cNvSpPr/>
          <p:nvPr/>
        </p:nvSpPr>
        <p:spPr>
          <a:xfrm>
            <a:off x="6510528" y="1325880"/>
            <a:ext cx="457200" cy="457200"/>
          </a:xfrm>
          <a:prstGeom prst="ellipse">
            <a:avLst/>
          </a:prstGeom>
          <a:solidFill>
            <a:srgbClr val="F8E8E8"/>
          </a:solidFill>
          <a:ln/>
        </p:spPr>
      </p:sp>
      <p:pic>
        <p:nvPicPr>
          <p:cNvPr id="20"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1" name="Text 16"/>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2" name="Text 17"/>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3" name="Text 18"/>
          <p:cNvSpPr txBox="1"/>
          <p:nvPr/>
        </p:nvSpPr>
        <p:spPr>
          <a:xfrm>
            <a:off x="548640" y="3063240"/>
            <a:ext cx="8046720" cy="640080"/>
          </a:xfrm>
          <a:prstGeom prst="rect">
            <a:avLst/>
          </a:prstGeom>
          <a:noFill/>
          <a:ln/>
        </p:spPr>
        <p:txBody>
          <a:bodyPr wrap="square" lIns="0" tIns="0" rIns="0" bIns="0" rtlCol="0" anchor="t"/>
          <a:lstStyle/>
          <a:p>
            <a:pPr algn="l" indent="0" marL="0">
              <a:buNone/>
            </a:pPr>
            <a:r>
              <a:rPr lang="en-US" sz="1900" b="1" dirty="0">
                <a:solidFill>
                  <a:srgbClr val="0F1419"/>
                </a:solidFill>
                <a:latin typeface="Arial" pitchFamily="34" charset="0"/>
                <a:ea typeface="Arial" pitchFamily="34" charset="-122"/>
                <a:cs typeface="Arial" pitchFamily="34" charset="-120"/>
              </a:rPr>
              <a:t>Today, giving an AI agent a wallet gives anyone who can fool it the whole balance.</a:t>
            </a:r>
            <a:endParaRPr lang="en-US" sz="1900" dirty="0"/>
          </a:p>
        </p:txBody>
      </p:sp>
      <p:sp>
        <p:nvSpPr>
          <p:cNvPr id="24" name="Text 19"/>
          <p:cNvSpPr txBox="1"/>
          <p:nvPr/>
        </p:nvSpPr>
        <p:spPr>
          <a:xfrm>
            <a:off x="548640" y="3794760"/>
            <a:ext cx="8046720" cy="502920"/>
          </a:xfrm>
          <a:prstGeom prst="rect">
            <a:avLst/>
          </a:prstGeom>
          <a:noFill/>
          <a:ln/>
        </p:spPr>
        <p:txBody>
          <a:bodyPr wrap="square" lIns="0" tIns="0" rIns="0" bIns="0" rtlCol="0" anchor="t"/>
          <a:lstStyle/>
          <a:p>
            <a:pPr algn="l" indent="0" marL="0">
              <a:buNone/>
            </a:pPr>
            <a:r>
              <a:rPr lang="en-US" sz="1250" dirty="0">
                <a:solidFill>
                  <a:srgbClr val="535C6B"/>
                </a:solidFill>
                <a:latin typeface="Arial" pitchFamily="34" charset="0"/>
                <a:ea typeface="Arial" pitchFamily="34" charset="-122"/>
                <a:cs typeface="Arial" pitchFamily="34" charset="-120"/>
              </a:rPr>
              <a:t>Developers hand agents a private key or a custodial wallet. No model is immune to a crafted message, and nothing between the agent and the money asks whether a payment makes sense.</a:t>
            </a:r>
            <a:endParaRPr lang="en-US" sz="1250" dirty="0"/>
          </a:p>
        </p:txBody>
      </p:sp>
      <p:sp>
        <p:nvSpPr>
          <p:cNvPr id="25" name="Text 20"/>
          <p:cNvSpPr txBox="1"/>
          <p:nvPr/>
        </p:nvSpPr>
        <p:spPr>
          <a:xfrm>
            <a:off x="548640" y="448056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WHY NOW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6" name="Text 4"/>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7" name="Text 5"/>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8" name="Text 6"/>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9" name="Text 7"/>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10" name="Shape 8"/>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Text 9"/>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2" name="Text 10"/>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3" name="Text 11"/>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4" name="Shape 12"/>
          <p:cNvSpPr/>
          <p:nvPr/>
        </p:nvSpPr>
        <p:spPr>
          <a:xfrm>
            <a:off x="6995160" y="2514600"/>
            <a:ext cx="1371600" cy="329184"/>
          </a:xfrm>
          <a:prstGeom prst="roundRect">
            <a:avLst>
              <a:gd name="adj" fmla="val 277778"/>
            </a:avLst>
          </a:prstGeom>
          <a:solidFill>
            <a:srgbClr val="E6F2EE"/>
          </a:solidFill>
          <a:ln/>
        </p:spPr>
      </p:sp>
      <p:pic>
        <p:nvPicPr>
          <p:cNvPr id="15"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6" name="Text 13"/>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7" name="Text 14"/>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8" name="Shape 15"/>
          <p:cNvSpPr/>
          <p:nvPr/>
        </p:nvSpPr>
        <p:spPr>
          <a:xfrm>
            <a:off x="6995160" y="2971800"/>
            <a:ext cx="1371600" cy="329184"/>
          </a:xfrm>
          <a:prstGeom prst="roundRect">
            <a:avLst>
              <a:gd name="adj" fmla="val 277778"/>
            </a:avLst>
          </a:prstGeom>
          <a:solidFill>
            <a:srgbClr val="F8E8E8"/>
          </a:solidFill>
          <a:ln/>
        </p:spPr>
      </p:sp>
      <p:pic>
        <p:nvPicPr>
          <p:cNvPr id="19"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20" name="Text 16"/>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1" name="Text 17"/>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2" name="Text 18"/>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THE SOLUTION</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Leash: a spending firewall for AI agents</a:t>
            </a:r>
            <a:endParaRPr lang="en-US" sz="3000" dirty="0"/>
          </a:p>
        </p:txBody>
      </p:sp>
      <p:sp>
        <p:nvSpPr>
          <p:cNvPr id="6" name="Text 4"/>
          <p:cNvSpPr txBox="1"/>
          <p:nvPr/>
        </p:nvSpPr>
        <p:spPr>
          <a:xfrm>
            <a:off x="548640" y="1005840"/>
            <a:ext cx="8046720" cy="502920"/>
          </a:xfrm>
          <a:prstGeom prst="rect">
            <a:avLst/>
          </a:prstGeom>
          <a:noFill/>
          <a:ln/>
        </p:spPr>
        <p:txBody>
          <a:bodyPr wrap="square" lIns="0" tIns="0" rIns="0" bIns="0" rtlCol="0" anchor="t"/>
          <a:lstStyle/>
          <a:p>
            <a:pPr algn="l" indent="0" marL="0">
              <a:buNone/>
            </a:pPr>
            <a:r>
              <a:rPr lang="en-US" sz="1400" dirty="0">
                <a:solidFill>
                  <a:srgbClr val="0F1419"/>
                </a:solidFill>
                <a:latin typeface="Arial" pitchFamily="34" charset="0"/>
                <a:ea typeface="Arial" pitchFamily="34" charset="-122"/>
                <a:cs typeface="Arial" pitchFamily="34" charset="-120"/>
              </a:rPr>
              <a:t>An on-chain program checks every payment the agent makes. It pays only who you allow, only as much as you allow, and freezes itself when someone tries to trick it.</a:t>
            </a:r>
            <a:endParaRPr lang="en-US" sz="1400" dirty="0"/>
          </a:p>
        </p:txBody>
      </p:sp>
      <p:sp>
        <p:nvSpPr>
          <p:cNvPr id="7" name="Shape 5"/>
          <p:cNvSpPr/>
          <p:nvPr/>
        </p:nvSpPr>
        <p:spPr>
          <a:xfrm>
            <a:off x="54864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8" name="Shape 6"/>
          <p:cNvSpPr/>
          <p:nvPr/>
        </p:nvSpPr>
        <p:spPr>
          <a:xfrm>
            <a:off x="731520" y="1801368"/>
            <a:ext cx="457200" cy="457200"/>
          </a:xfrm>
          <a:prstGeom prst="ellipse">
            <a:avLst/>
          </a:prstGeom>
          <a:solidFill>
            <a:srgbClr val="F0E9FB"/>
          </a:solidFill>
          <a:ln/>
        </p:spPr>
      </p:sp>
      <p:pic>
        <p:nvPicPr>
          <p:cNvPr id="9" name="Image 0" descr="preencoded.png">    </p:cNvPr>
          <p:cNvPicPr>
            <a:picLocks noChangeAspect="1"/>
          </p:cNvPicPr>
          <p:nvPr/>
        </p:nvPicPr>
        <p:blipFill>
          <a:blip r:embed="rId1"/>
          <a:stretch>
            <a:fillRect/>
          </a:stretch>
        </p:blipFill>
        <p:spPr>
          <a:xfrm>
            <a:off x="841248" y="1911096"/>
            <a:ext cx="237744" cy="237744"/>
          </a:xfrm>
          <a:prstGeom prst="rect">
            <a:avLst/>
          </a:prstGeom>
        </p:spPr>
      </p:pic>
      <p:sp>
        <p:nvSpPr>
          <p:cNvPr id="10" name="Text 7"/>
          <p:cNvSpPr txBox="1"/>
          <p:nvPr/>
        </p:nvSpPr>
        <p:spPr>
          <a:xfrm>
            <a:off x="73152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11" name="Text 8"/>
          <p:cNvSpPr txBox="1"/>
          <p:nvPr/>
        </p:nvSpPr>
        <p:spPr>
          <a:xfrm>
            <a:off x="73152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2" name="Shape 9"/>
          <p:cNvSpPr/>
          <p:nvPr/>
        </p:nvSpPr>
        <p:spPr>
          <a:xfrm>
            <a:off x="219456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2377440" y="1801368"/>
            <a:ext cx="457200" cy="457200"/>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2487168" y="1911096"/>
            <a:ext cx="237744" cy="237744"/>
          </a:xfrm>
          <a:prstGeom prst="rect">
            <a:avLst/>
          </a:prstGeom>
        </p:spPr>
      </p:pic>
      <p:sp>
        <p:nvSpPr>
          <p:cNvPr id="15" name="Text 11"/>
          <p:cNvSpPr txBox="1"/>
          <p:nvPr/>
        </p:nvSpPr>
        <p:spPr>
          <a:xfrm>
            <a:off x="237744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6" name="Text 12"/>
          <p:cNvSpPr txBox="1"/>
          <p:nvPr/>
        </p:nvSpPr>
        <p:spPr>
          <a:xfrm>
            <a:off x="237744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7" name="Shape 13"/>
          <p:cNvSpPr/>
          <p:nvPr/>
        </p:nvSpPr>
        <p:spPr>
          <a:xfrm>
            <a:off x="384048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4023360" y="1801368"/>
            <a:ext cx="457200" cy="457200"/>
          </a:xfrm>
          <a:prstGeom prst="ellipse">
            <a:avLst/>
          </a:prstGeom>
          <a:solidFill>
            <a:srgbClr val="F8EEE6"/>
          </a:solidFill>
          <a:ln/>
        </p:spPr>
      </p:sp>
      <p:pic>
        <p:nvPicPr>
          <p:cNvPr id="19" name="Image 2" descr="preencoded.png">    </p:cNvPr>
          <p:cNvPicPr>
            <a:picLocks noChangeAspect="1"/>
          </p:cNvPicPr>
          <p:nvPr/>
        </p:nvPicPr>
        <p:blipFill>
          <a:blip r:embed="rId3"/>
          <a:stretch>
            <a:fillRect/>
          </a:stretch>
        </p:blipFill>
        <p:spPr>
          <a:xfrm>
            <a:off x="4133088" y="1911096"/>
            <a:ext cx="237744" cy="237744"/>
          </a:xfrm>
          <a:prstGeom prst="rect">
            <a:avLst/>
          </a:prstGeom>
        </p:spPr>
      </p:pic>
      <p:sp>
        <p:nvSpPr>
          <p:cNvPr id="20" name="Text 15"/>
          <p:cNvSpPr txBox="1"/>
          <p:nvPr/>
        </p:nvSpPr>
        <p:spPr>
          <a:xfrm>
            <a:off x="402336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21" name="Text 16"/>
          <p:cNvSpPr txBox="1"/>
          <p:nvPr/>
        </p:nvSpPr>
        <p:spPr>
          <a:xfrm>
            <a:off x="402336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2" name="Shape 17"/>
          <p:cNvSpPr/>
          <p:nvPr/>
        </p:nvSpPr>
        <p:spPr>
          <a:xfrm>
            <a:off x="548640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3" name="Shape 18"/>
          <p:cNvSpPr/>
          <p:nvPr/>
        </p:nvSpPr>
        <p:spPr>
          <a:xfrm>
            <a:off x="5669280" y="1801368"/>
            <a:ext cx="457200" cy="457200"/>
          </a:xfrm>
          <a:prstGeom prst="ellipse">
            <a:avLst/>
          </a:prstGeom>
          <a:solidFill>
            <a:srgbClr val="F8E8E8"/>
          </a:solidFill>
          <a:ln/>
        </p:spPr>
      </p:sp>
      <p:pic>
        <p:nvPicPr>
          <p:cNvPr id="24" name="Image 3" descr="preencoded.png">    </p:cNvPr>
          <p:cNvPicPr>
            <a:picLocks noChangeAspect="1"/>
          </p:cNvPicPr>
          <p:nvPr/>
        </p:nvPicPr>
        <p:blipFill>
          <a:blip r:embed="rId4"/>
          <a:stretch>
            <a:fillRect/>
          </a:stretch>
        </p:blipFill>
        <p:spPr>
          <a:xfrm>
            <a:off x="5779008" y="1911096"/>
            <a:ext cx="237744" cy="237744"/>
          </a:xfrm>
          <a:prstGeom prst="rect">
            <a:avLst/>
          </a:prstGeom>
        </p:spPr>
      </p:pic>
      <p:sp>
        <p:nvSpPr>
          <p:cNvPr id="25" name="Text 19"/>
          <p:cNvSpPr txBox="1"/>
          <p:nvPr/>
        </p:nvSpPr>
        <p:spPr>
          <a:xfrm>
            <a:off x="566928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6" name="Text 20"/>
          <p:cNvSpPr txBox="1"/>
          <p:nvPr/>
        </p:nvSpPr>
        <p:spPr>
          <a:xfrm>
            <a:off x="566928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7" name="Shape 21"/>
          <p:cNvSpPr/>
          <p:nvPr/>
        </p:nvSpPr>
        <p:spPr>
          <a:xfrm>
            <a:off x="7132320" y="1645920"/>
            <a:ext cx="1463040" cy="18745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7315200" y="1801368"/>
            <a:ext cx="457200" cy="457200"/>
          </a:xfrm>
          <a:prstGeom prst="ellipse">
            <a:avLst/>
          </a:prstGeom>
          <a:solidFill>
            <a:srgbClr val="E8EDFB"/>
          </a:solidFill>
          <a:ln/>
        </p:spPr>
      </p:sp>
      <p:pic>
        <p:nvPicPr>
          <p:cNvPr id="29" name="Image 4" descr="preencoded.png">    </p:cNvPr>
          <p:cNvPicPr>
            <a:picLocks noChangeAspect="1"/>
          </p:cNvPicPr>
          <p:nvPr/>
        </p:nvPicPr>
        <p:blipFill>
          <a:blip r:embed="rId5"/>
          <a:stretch>
            <a:fillRect/>
          </a:stretch>
        </p:blipFill>
        <p:spPr>
          <a:xfrm>
            <a:off x="7424928" y="1911096"/>
            <a:ext cx="237744" cy="237744"/>
          </a:xfrm>
          <a:prstGeom prst="rect">
            <a:avLst/>
          </a:prstGeom>
        </p:spPr>
      </p:pic>
      <p:sp>
        <p:nvSpPr>
          <p:cNvPr id="30" name="Text 23"/>
          <p:cNvSpPr txBox="1"/>
          <p:nvPr/>
        </p:nvSpPr>
        <p:spPr>
          <a:xfrm>
            <a:off x="7315200" y="23500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31" name="Text 24"/>
          <p:cNvSpPr txBox="1"/>
          <p:nvPr/>
        </p:nvSpPr>
        <p:spPr>
          <a:xfrm>
            <a:off x="7315200" y="2651760"/>
            <a:ext cx="1143000" cy="82296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2" name="Text 25"/>
          <p:cNvSpPr txBox="1"/>
          <p:nvPr/>
        </p:nvSpPr>
        <p:spPr>
          <a:xfrm>
            <a:off x="548640" y="370332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3" name="Text 26"/>
          <p:cNvSpPr txBox="1"/>
          <p:nvPr/>
        </p:nvSpPr>
        <p:spPr>
          <a:xfrm>
            <a:off x="548640" y="4069080"/>
            <a:ext cx="8046720" cy="502920"/>
          </a:xfrm>
          <a:prstGeom prst="rect">
            <a:avLst/>
          </a:prstGeom>
          <a:noFill/>
          <a:ln/>
        </p:spPr>
        <p:txBody>
          <a:bodyPr wrap="square" lIns="0" tIns="0" rIns="0" bIns="0" rtlCol="0" anchor="t"/>
          <a:lstStyle/>
          <a:p>
            <a:pPr algn="l" indent="0" marL="0">
              <a:buNone/>
            </a:pPr>
            <a:r>
              <a:rPr lang="en-US" sz="125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HOW IT WORKS ON SOLANA</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Every payment passes the Leash program</a:t>
            </a:r>
            <a:endParaRPr lang="en-US" sz="3000" dirty="0"/>
          </a:p>
        </p:txBody>
      </p:sp>
      <p:sp>
        <p:nvSpPr>
          <p:cNvPr id="6" name="Shape 4"/>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7" name="Text 5"/>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8" name="Shape 6"/>
          <p:cNvSpPr/>
          <p:nvPr/>
        </p:nvSpPr>
        <p:spPr>
          <a:xfrm>
            <a:off x="1984248" y="1645920"/>
            <a:ext cx="182880" cy="0"/>
          </a:xfrm>
          <a:prstGeom prst="line">
            <a:avLst/>
          </a:prstGeom>
          <a:noFill/>
          <a:ln w="19050">
            <a:solidFill>
              <a:srgbClr val="535C6B"/>
            </a:solidFill>
            <a:prstDash val="solid"/>
            <a:tailEnd type="triangle"/>
          </a:ln>
        </p:spPr>
      </p:sp>
      <p:sp>
        <p:nvSpPr>
          <p:cNvPr id="9" name="Shape 7"/>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1" name="Shape 9"/>
          <p:cNvSpPr/>
          <p:nvPr/>
        </p:nvSpPr>
        <p:spPr>
          <a:xfrm>
            <a:off x="3648456" y="1645920"/>
            <a:ext cx="182880" cy="0"/>
          </a:xfrm>
          <a:prstGeom prst="line">
            <a:avLst/>
          </a:prstGeom>
          <a:noFill/>
          <a:ln w="19050">
            <a:solidFill>
              <a:srgbClr val="535C6B"/>
            </a:solidFill>
            <a:prstDash val="solid"/>
            <a:tailEnd type="triangle"/>
          </a:ln>
        </p:spPr>
      </p:sp>
      <p:sp>
        <p:nvSpPr>
          <p:cNvPr id="12" name="Shape 10"/>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Text 11"/>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4" name="Shape 12"/>
          <p:cNvSpPr/>
          <p:nvPr/>
        </p:nvSpPr>
        <p:spPr>
          <a:xfrm>
            <a:off x="5312664" y="1645920"/>
            <a:ext cx="182880" cy="0"/>
          </a:xfrm>
          <a:prstGeom prst="line">
            <a:avLst/>
          </a:prstGeom>
          <a:noFill/>
          <a:ln w="19050">
            <a:solidFill>
              <a:srgbClr val="535C6B"/>
            </a:solidFill>
            <a:prstDash val="solid"/>
            <a:tailEnd type="triangle"/>
          </a:ln>
        </p:spPr>
      </p:sp>
      <p:sp>
        <p:nvSpPr>
          <p:cNvPr id="15" name="Shape 13"/>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6" name="Text 14"/>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7" name="Shape 15"/>
          <p:cNvSpPr/>
          <p:nvPr/>
        </p:nvSpPr>
        <p:spPr>
          <a:xfrm>
            <a:off x="6976872" y="1645920"/>
            <a:ext cx="182880" cy="0"/>
          </a:xfrm>
          <a:prstGeom prst="line">
            <a:avLst/>
          </a:prstGeom>
          <a:noFill/>
          <a:ln w="19050">
            <a:solidFill>
              <a:srgbClr val="535C6B"/>
            </a:solidFill>
            <a:prstDash val="solid"/>
            <a:tailEnd type="triangle"/>
          </a:ln>
        </p:spPr>
      </p:sp>
      <p:sp>
        <p:nvSpPr>
          <p:cNvPr id="18" name="Shape 16"/>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Text 17"/>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20" name="Shape 18"/>
          <p:cNvSpPr/>
          <p:nvPr/>
        </p:nvSpPr>
        <p:spPr>
          <a:xfrm>
            <a:off x="548640" y="2468880"/>
            <a:ext cx="3931920" cy="868680"/>
          </a:xfrm>
          <a:prstGeom prst="roundRect">
            <a:avLst>
              <a:gd name="adj" fmla="val 8421"/>
            </a:avLst>
          </a:prstGeom>
          <a:solidFill>
            <a:srgbClr val="E6F2EE"/>
          </a:solidFill>
          <a:ln/>
        </p:spPr>
      </p:sp>
      <p:pic>
        <p:nvPicPr>
          <p:cNvPr id="21"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2" name="Text 19"/>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3" name="Shape 20"/>
          <p:cNvSpPr/>
          <p:nvPr/>
        </p:nvSpPr>
        <p:spPr>
          <a:xfrm>
            <a:off x="4663440" y="2468880"/>
            <a:ext cx="3931920" cy="868680"/>
          </a:xfrm>
          <a:prstGeom prst="roundRect">
            <a:avLst>
              <a:gd name="adj" fmla="val 8421"/>
            </a:avLst>
          </a:prstGeom>
          <a:solidFill>
            <a:srgbClr val="F8E8E8"/>
          </a:solidFill>
          <a:ln/>
        </p:spPr>
      </p:sp>
      <p:pic>
        <p:nvPicPr>
          <p:cNvPr id="24"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5" name="Text 21"/>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6" name="Text 22"/>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WORKING PROTOTYPE</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6" name="Shape 4"/>
          <p:cNvSpPr/>
          <p:nvPr/>
        </p:nvSpPr>
        <p:spPr>
          <a:xfrm>
            <a:off x="548640" y="1097280"/>
            <a:ext cx="1051560" cy="292608"/>
          </a:xfrm>
          <a:prstGeom prst="roundRect">
            <a:avLst>
              <a:gd name="adj" fmla="val 312500"/>
            </a:avLst>
          </a:prstGeom>
          <a:solidFill>
            <a:srgbClr val="E6F2EE"/>
          </a:solidFill>
          <a:ln/>
        </p:spPr>
      </p:sp>
      <p:sp>
        <p:nvSpPr>
          <p:cNvPr id="7" name="Text 5"/>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8" name="Text 6"/>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9" name="Shape 7"/>
          <p:cNvSpPr/>
          <p:nvPr/>
        </p:nvSpPr>
        <p:spPr>
          <a:xfrm>
            <a:off x="548640" y="1618488"/>
            <a:ext cx="1051560" cy="292608"/>
          </a:xfrm>
          <a:prstGeom prst="roundRect">
            <a:avLst>
              <a:gd name="adj" fmla="val 312500"/>
            </a:avLst>
          </a:prstGeom>
          <a:solidFill>
            <a:srgbClr val="F8EEE6"/>
          </a:solidFill>
          <a:ln/>
        </p:spPr>
      </p:sp>
      <p:sp>
        <p:nvSpPr>
          <p:cNvPr id="10" name="Text 8"/>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1" name="Text 9"/>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2" name="Shape 10"/>
          <p:cNvSpPr/>
          <p:nvPr/>
        </p:nvSpPr>
        <p:spPr>
          <a:xfrm>
            <a:off x="548640" y="2322576"/>
            <a:ext cx="1051560" cy="292608"/>
          </a:xfrm>
          <a:prstGeom prst="roundRect">
            <a:avLst>
              <a:gd name="adj" fmla="val 312500"/>
            </a:avLst>
          </a:prstGeom>
          <a:solidFill>
            <a:srgbClr val="F8E8E8"/>
          </a:solidFill>
          <a:ln/>
        </p:spPr>
      </p:sp>
      <p:sp>
        <p:nvSpPr>
          <p:cNvPr id="13" name="Text 11"/>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4" name="Text 12"/>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5" name="Shape 13"/>
          <p:cNvSpPr/>
          <p:nvPr/>
        </p:nvSpPr>
        <p:spPr>
          <a:xfrm>
            <a:off x="548640" y="3026664"/>
            <a:ext cx="1051560" cy="292608"/>
          </a:xfrm>
          <a:prstGeom prst="roundRect">
            <a:avLst>
              <a:gd name="adj" fmla="val 312500"/>
            </a:avLst>
          </a:prstGeom>
          <a:solidFill>
            <a:srgbClr val="E8EDFB"/>
          </a:solidFill>
          <a:ln/>
        </p:spPr>
      </p:sp>
      <p:sp>
        <p:nvSpPr>
          <p:cNvPr id="16" name="Text 14"/>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7" name="Text 15"/>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8"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9" name="Shape 16"/>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20" name="Text 17"/>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1" name="Text 18"/>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WHY SOLANA</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rules live where the money is</a:t>
            </a:r>
            <a:endParaRPr lang="en-US" sz="3000" dirty="0"/>
          </a:p>
        </p:txBody>
      </p:sp>
      <p:sp>
        <p:nvSpPr>
          <p:cNvPr id="6" name="Shape 4"/>
          <p:cNvSpPr/>
          <p:nvPr/>
        </p:nvSpPr>
        <p:spPr>
          <a:xfrm>
            <a:off x="548640" y="1088136"/>
            <a:ext cx="384048" cy="384048"/>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640812" y="1180308"/>
            <a:ext cx="199705" cy="199705"/>
          </a:xfrm>
          <a:prstGeom prst="rect">
            <a:avLst/>
          </a:prstGeom>
        </p:spPr>
      </p:pic>
      <p:sp>
        <p:nvSpPr>
          <p:cNvPr id="8" name="Text 5"/>
          <p:cNvSpPr txBox="1"/>
          <p:nvPr/>
        </p:nvSpPr>
        <p:spPr>
          <a:xfrm>
            <a:off x="1051560" y="1069848"/>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Allowances program</a:t>
            </a:r>
            <a:endParaRPr lang="en-US" sz="1300" dirty="0"/>
          </a:p>
        </p:txBody>
      </p:sp>
      <p:sp>
        <p:nvSpPr>
          <p:cNvPr id="9" name="Text 6"/>
          <p:cNvSpPr txBox="1"/>
          <p:nvPr/>
        </p:nvSpPr>
        <p:spPr>
          <a:xfrm>
            <a:off x="3291840" y="1069848"/>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The Solana Foundation's audited program caps how much the agent can spend. Leash builds on it, so it never holds funds.</a:t>
            </a:r>
            <a:endParaRPr lang="en-US" sz="1150" dirty="0"/>
          </a:p>
        </p:txBody>
      </p:sp>
      <p:sp>
        <p:nvSpPr>
          <p:cNvPr id="10" name="Shape 7"/>
          <p:cNvSpPr/>
          <p:nvPr/>
        </p:nvSpPr>
        <p:spPr>
          <a:xfrm>
            <a:off x="548640" y="1618488"/>
            <a:ext cx="384048" cy="384048"/>
          </a:xfrm>
          <a:prstGeom prst="ellipse">
            <a:avLst/>
          </a:prstGeom>
          <a:solidFill>
            <a:srgbClr val="E8EDFB"/>
          </a:solidFill>
          <a:ln/>
        </p:spPr>
      </p:sp>
      <p:pic>
        <p:nvPicPr>
          <p:cNvPr id="11" name="Image 1" descr="preencoded.png">    </p:cNvPr>
          <p:cNvPicPr>
            <a:picLocks noChangeAspect="1"/>
          </p:cNvPicPr>
          <p:nvPr/>
        </p:nvPicPr>
        <p:blipFill>
          <a:blip r:embed="rId2"/>
          <a:stretch>
            <a:fillRect/>
          </a:stretch>
        </p:blipFill>
        <p:spPr>
          <a:xfrm>
            <a:off x="640812" y="1710660"/>
            <a:ext cx="199705" cy="199705"/>
          </a:xfrm>
          <a:prstGeom prst="rect">
            <a:avLst/>
          </a:prstGeom>
        </p:spPr>
      </p:pic>
      <p:sp>
        <p:nvSpPr>
          <p:cNvPr id="12" name="Text 8"/>
          <p:cNvSpPr txBox="1"/>
          <p:nvPr/>
        </p:nvSpPr>
        <p:spPr>
          <a:xfrm>
            <a:off x="1051560" y="1600200"/>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Program-owned accounts</a:t>
            </a:r>
            <a:endParaRPr lang="en-US" sz="1300" dirty="0"/>
          </a:p>
        </p:txBody>
      </p:sp>
      <p:sp>
        <p:nvSpPr>
          <p:cNvPr id="13" name="Text 9"/>
          <p:cNvSpPr txBox="1"/>
          <p:nvPr/>
        </p:nvSpPr>
        <p:spPr>
          <a:xfrm>
            <a:off x="3291840" y="1600200"/>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The allowance belongs to the agent's Leash account, which only the program signs for, after every check. The agent's key alone can't move money.</a:t>
            </a:r>
            <a:endParaRPr lang="en-US" sz="1150" dirty="0"/>
          </a:p>
        </p:txBody>
      </p:sp>
      <p:sp>
        <p:nvSpPr>
          <p:cNvPr id="14" name="Shape 10"/>
          <p:cNvSpPr/>
          <p:nvPr/>
        </p:nvSpPr>
        <p:spPr>
          <a:xfrm>
            <a:off x="548640" y="2148840"/>
            <a:ext cx="384048" cy="384048"/>
          </a:xfrm>
          <a:prstGeom prst="ellipse">
            <a:avLst/>
          </a:prstGeom>
          <a:solidFill>
            <a:srgbClr val="F0E9FB"/>
          </a:solidFill>
          <a:ln/>
        </p:spPr>
      </p:sp>
      <p:pic>
        <p:nvPicPr>
          <p:cNvPr id="15" name="Image 2" descr="preencoded.png">    </p:cNvPr>
          <p:cNvPicPr>
            <a:picLocks noChangeAspect="1"/>
          </p:cNvPicPr>
          <p:nvPr/>
        </p:nvPicPr>
        <p:blipFill>
          <a:blip r:embed="rId3"/>
          <a:stretch>
            <a:fillRect/>
          </a:stretch>
        </p:blipFill>
        <p:spPr>
          <a:xfrm>
            <a:off x="640812" y="2241012"/>
            <a:ext cx="199705" cy="199705"/>
          </a:xfrm>
          <a:prstGeom prst="rect">
            <a:avLst/>
          </a:prstGeom>
        </p:spPr>
      </p:pic>
      <p:sp>
        <p:nvSpPr>
          <p:cNvPr id="16" name="Text 11"/>
          <p:cNvSpPr txBox="1"/>
          <p:nvPr/>
        </p:nvSpPr>
        <p:spPr>
          <a:xfrm>
            <a:off x="1051560" y="2130552"/>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USDC over x402</a:t>
            </a:r>
            <a:endParaRPr lang="en-US" sz="1300" dirty="0"/>
          </a:p>
        </p:txBody>
      </p:sp>
      <p:sp>
        <p:nvSpPr>
          <p:cNvPr id="17" name="Text 12"/>
          <p:cNvSpPr txBox="1"/>
          <p:nvPr/>
        </p:nvSpPr>
        <p:spPr>
          <a:xfrm>
            <a:off x="3291840" y="2130552"/>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76% of x402 agent payments already run on Solana. Sub-cent fees make a 0.01 USDC API call worth paying.</a:t>
            </a:r>
            <a:endParaRPr lang="en-US" sz="1150" dirty="0"/>
          </a:p>
        </p:txBody>
      </p:sp>
      <p:sp>
        <p:nvSpPr>
          <p:cNvPr id="18" name="Shape 13"/>
          <p:cNvSpPr/>
          <p:nvPr/>
        </p:nvSpPr>
        <p:spPr>
          <a:xfrm>
            <a:off x="548640" y="2679192"/>
            <a:ext cx="384048" cy="384048"/>
          </a:xfrm>
          <a:prstGeom prst="ellipse">
            <a:avLst/>
          </a:prstGeom>
          <a:solidFill>
            <a:srgbClr val="F8EEE6"/>
          </a:solidFill>
          <a:ln/>
        </p:spPr>
      </p:sp>
      <p:pic>
        <p:nvPicPr>
          <p:cNvPr id="19" name="Image 3" descr="preencoded.png">    </p:cNvPr>
          <p:cNvPicPr>
            <a:picLocks noChangeAspect="1"/>
          </p:cNvPicPr>
          <p:nvPr/>
        </p:nvPicPr>
        <p:blipFill>
          <a:blip r:embed="rId4"/>
          <a:stretch>
            <a:fillRect/>
          </a:stretch>
        </p:blipFill>
        <p:spPr>
          <a:xfrm>
            <a:off x="640812" y="2771364"/>
            <a:ext cx="199705" cy="199705"/>
          </a:xfrm>
          <a:prstGeom prst="rect">
            <a:avLst/>
          </a:prstGeom>
        </p:spPr>
      </p:pic>
      <p:sp>
        <p:nvSpPr>
          <p:cNvPr id="20" name="Text 14"/>
          <p:cNvSpPr txBox="1"/>
          <p:nvPr/>
        </p:nvSpPr>
        <p:spPr>
          <a:xfrm>
            <a:off x="1051560" y="2660904"/>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Sub-second slots</a:t>
            </a:r>
            <a:endParaRPr lang="en-US" sz="1300" dirty="0"/>
          </a:p>
        </p:txBody>
      </p:sp>
      <p:sp>
        <p:nvSpPr>
          <p:cNvPr id="21" name="Text 15"/>
          <p:cNvSpPr txBox="1"/>
          <p:nvPr/>
        </p:nvSpPr>
        <p:spPr>
          <a:xfrm>
            <a:off x="3291840" y="2660904"/>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A freeze stops every payment from the next slot, about 0.4 s later, and every block is an on-chain event.</a:t>
            </a:r>
            <a:endParaRPr lang="en-US" sz="1150" dirty="0"/>
          </a:p>
        </p:txBody>
      </p:sp>
      <p:sp>
        <p:nvSpPr>
          <p:cNvPr id="22" name="Shape 16"/>
          <p:cNvSpPr/>
          <p:nvPr/>
        </p:nvSpPr>
        <p:spPr>
          <a:xfrm>
            <a:off x="548640" y="3209544"/>
            <a:ext cx="384048" cy="384048"/>
          </a:xfrm>
          <a:prstGeom prst="ellipse">
            <a:avLst/>
          </a:prstGeom>
          <a:solidFill>
            <a:srgbClr val="E8EDFB"/>
          </a:solidFill>
          <a:ln/>
        </p:spPr>
      </p:sp>
      <p:pic>
        <p:nvPicPr>
          <p:cNvPr id="23" name="Image 4" descr="preencoded.png">    </p:cNvPr>
          <p:cNvPicPr>
            <a:picLocks noChangeAspect="1"/>
          </p:cNvPicPr>
          <p:nvPr/>
        </p:nvPicPr>
        <p:blipFill>
          <a:blip r:embed="rId5"/>
          <a:stretch>
            <a:fillRect/>
          </a:stretch>
        </p:blipFill>
        <p:spPr>
          <a:xfrm>
            <a:off x="640812" y="3301716"/>
            <a:ext cx="199705" cy="199705"/>
          </a:xfrm>
          <a:prstGeom prst="rect">
            <a:avLst/>
          </a:prstGeom>
        </p:spPr>
      </p:pic>
      <p:sp>
        <p:nvSpPr>
          <p:cNvPr id="24" name="Text 17"/>
          <p:cNvSpPr txBox="1"/>
          <p:nvPr/>
        </p:nvSpPr>
        <p:spPr>
          <a:xfrm>
            <a:off x="1051560" y="3191256"/>
            <a:ext cx="2240280" cy="420624"/>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Solana Actions (Blinks)</a:t>
            </a:r>
            <a:endParaRPr lang="en-US" sz="1300" dirty="0"/>
          </a:p>
        </p:txBody>
      </p:sp>
      <p:sp>
        <p:nvSpPr>
          <p:cNvPr id="25" name="Text 18"/>
          <p:cNvSpPr txBox="1"/>
          <p:nvPr/>
        </p:nvSpPr>
        <p:spPr>
          <a:xfrm>
            <a:off x="3291840" y="3191256"/>
            <a:ext cx="5303520" cy="420624"/>
          </a:xfrm>
          <a:prstGeom prst="rect">
            <a:avLst/>
          </a:prstGeom>
          <a:noFill/>
          <a:ln/>
        </p:spPr>
        <p:txBody>
          <a:bodyPr wrap="square" lIns="0" tIns="0" rIns="0" bIns="0" rtlCol="0" anchor="ctr"/>
          <a:lstStyle/>
          <a:p>
            <a:pPr algn="l" indent="0" marL="0">
              <a:buNone/>
            </a:pPr>
            <a:r>
              <a:rPr lang="en-US" sz="1150" dirty="0">
                <a:solidFill>
                  <a:srgbClr val="0F1419"/>
                </a:solidFill>
                <a:latin typeface="Arial" pitchFamily="34" charset="0"/>
                <a:ea typeface="Arial" pitchFamily="34" charset="-122"/>
                <a:cs typeface="Arial" pitchFamily="34" charset="-120"/>
              </a:rPr>
              <a:t>The owner approves a payment or freezes an agent from a link in a chat; the wallet signs.</a:t>
            </a:r>
            <a:endParaRPr lang="en-US" sz="1150" dirty="0"/>
          </a:p>
        </p:txBody>
      </p:sp>
      <p:sp>
        <p:nvSpPr>
          <p:cNvPr id="26" name="Text 19"/>
          <p:cNvSpPr txBox="1"/>
          <p:nvPr/>
        </p:nvSpPr>
        <p:spPr>
          <a:xfrm>
            <a:off x="548640" y="3886200"/>
            <a:ext cx="8046720" cy="5486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SAFETY</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6" name="Shape 4"/>
          <p:cNvSpPr/>
          <p:nvPr/>
        </p:nvSpPr>
        <p:spPr>
          <a:xfrm>
            <a:off x="548640" y="1097280"/>
            <a:ext cx="4114800" cy="1051560"/>
          </a:xfrm>
          <a:prstGeom prst="roundRect">
            <a:avLst>
              <a:gd name="adj" fmla="val 6957"/>
            </a:avLst>
          </a:prstGeom>
          <a:solidFill>
            <a:srgbClr val="F0E9FB"/>
          </a:solidFill>
          <a:ln/>
        </p:spPr>
      </p:sp>
      <p:sp>
        <p:nvSpPr>
          <p:cNvPr id="7" name="Text 5"/>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8" name="Text 6"/>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9" name="Text 7"/>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10"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1" name="Shape 8"/>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2" name="Text 9"/>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3" name="Shape 10"/>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4" name="Shape 11"/>
          <p:cNvSpPr/>
          <p:nvPr/>
        </p:nvSpPr>
        <p:spPr>
          <a:xfrm>
            <a:off x="5120640" y="2852928"/>
            <a:ext cx="438912" cy="438912"/>
          </a:xfrm>
          <a:prstGeom prst="ellipse">
            <a:avLst/>
          </a:prstGeom>
          <a:solidFill>
            <a:srgbClr val="E6F2EE"/>
          </a:solidFill>
          <a:ln/>
        </p:spPr>
      </p:sp>
      <p:pic>
        <p:nvPicPr>
          <p:cNvPr id="15"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6" name="Text 12"/>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7" name="Text 13"/>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WORKING PROTOTYPE</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6" name="Shape 4"/>
          <p:cNvSpPr/>
          <p:nvPr/>
        </p:nvSpPr>
        <p:spPr>
          <a:xfrm>
            <a:off x="548640" y="1051560"/>
            <a:ext cx="914400" cy="292608"/>
          </a:xfrm>
          <a:prstGeom prst="roundRect">
            <a:avLst>
              <a:gd name="adj" fmla="val 312500"/>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8" name="Text 5"/>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9"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10" name="Text 6"/>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1"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2" name="Text 7"/>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3"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4" name="Text 8"/>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5"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6" name="Text 9"/>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7"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8" name="Text 10"/>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9"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20" name="Text 11"/>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1"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2" name="Text 12"/>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3"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4" name="Text 13"/>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5"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6" name="Text 14"/>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7"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8" name="Text 15"/>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9" name="Shape 16"/>
          <p:cNvSpPr/>
          <p:nvPr/>
        </p:nvSpPr>
        <p:spPr>
          <a:xfrm>
            <a:off x="5669280" y="1051560"/>
            <a:ext cx="1325880" cy="292608"/>
          </a:xfrm>
          <a:prstGeom prst="roundRect">
            <a:avLst>
              <a:gd name="adj" fmla="val 312500"/>
            </a:avLst>
          </a:prstGeom>
          <a:solidFill>
            <a:srgbClr val="F8EEE6"/>
          </a:solidFill>
          <a:ln/>
        </p:spPr>
      </p:sp>
      <p:pic>
        <p:nvPicPr>
          <p:cNvPr id="30"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1" name="Text 17"/>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2"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3" name="Text 18"/>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control panel with a real wallet, on devnet</a:t>
            </a:r>
            <a:endParaRPr lang="en-US" sz="1150" dirty="0"/>
          </a:p>
        </p:txBody>
      </p:sp>
      <p:sp>
        <p:nvSpPr>
          <p:cNvPr id="34" name="Shape 19"/>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5" name="Text 20"/>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6" name="Text 21"/>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7" name="Text 22"/>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POTENTIAL TO GROW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6" name="Shape 4"/>
          <p:cNvSpPr/>
          <p:nvPr/>
        </p:nvSpPr>
        <p:spPr>
          <a:xfrm>
            <a:off x="548640" y="1051560"/>
            <a:ext cx="384048" cy="384048"/>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8" name="Text 5"/>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9" name="Text 6"/>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10" name="Shape 7"/>
          <p:cNvSpPr/>
          <p:nvPr/>
        </p:nvSpPr>
        <p:spPr>
          <a:xfrm>
            <a:off x="548640" y="1956816"/>
            <a:ext cx="384048" cy="384048"/>
          </a:xfrm>
          <a:prstGeom prst="ellipse">
            <a:avLst/>
          </a:prstGeom>
          <a:solidFill>
            <a:srgbClr val="F0E9FB"/>
          </a:solidFill>
          <a:ln/>
        </p:spPr>
      </p:sp>
      <p:pic>
        <p:nvPicPr>
          <p:cNvPr id="11"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2" name="Text 8"/>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3" name="Text 9"/>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4" name="Shape 10"/>
          <p:cNvSpPr/>
          <p:nvPr/>
        </p:nvSpPr>
        <p:spPr>
          <a:xfrm>
            <a:off x="548640" y="3044952"/>
            <a:ext cx="384048" cy="384048"/>
          </a:xfrm>
          <a:prstGeom prst="ellipse">
            <a:avLst/>
          </a:prstGeom>
          <a:solidFill>
            <a:srgbClr val="F0E9FB"/>
          </a:solidFill>
          <a:ln/>
        </p:spPr>
      </p:sp>
      <p:pic>
        <p:nvPicPr>
          <p:cNvPr id="15"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6" name="Text 11"/>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Next: talk to them</a:t>
            </a:r>
            <a:endParaRPr lang="en-US" sz="1300" dirty="0"/>
          </a:p>
        </p:txBody>
      </p:sp>
      <p:sp>
        <p:nvSpPr>
          <p:cNvPr id="17" name="Text 12"/>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Five conversations with developers whose agents pay for APIs (Superteam Germany, x402 builders, MCP users), before Nov 2.</a:t>
            </a:r>
            <a:endParaRPr lang="en-US" sz="1150" dirty="0"/>
          </a:p>
        </p:txBody>
      </p:sp>
      <p:sp>
        <p:nvSpPr>
          <p:cNvPr id="18" name="Shape 13"/>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Text 14"/>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0" name="Text 15"/>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1" name="Text 16"/>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2" name="Text 17"/>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3" name="Text 18"/>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4" name="Text 19"/>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5" name="Text 20"/>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6" name="Text 21"/>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7" name="Text 22"/>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POTENTIAL TO GROW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6" name="Shape 4"/>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7" name="Shape 5"/>
          <p:cNvSpPr/>
          <p:nvPr/>
        </p:nvSpPr>
        <p:spPr>
          <a:xfrm>
            <a:off x="777240" y="1298448"/>
            <a:ext cx="502920" cy="502920"/>
          </a:xfrm>
          <a:prstGeom prst="ellipse">
            <a:avLst/>
          </a:prstGeom>
          <a:solidFill>
            <a:srgbClr val="E6F2EE"/>
          </a:solidFill>
          <a:ln/>
        </p:spPr>
      </p:sp>
      <p:pic>
        <p:nvPicPr>
          <p:cNvPr id="8"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9" name="Text 6"/>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10" name="Text 7"/>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1" name="Text 8"/>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2" name="Shape 9"/>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3520440" y="1298448"/>
            <a:ext cx="502920" cy="502920"/>
          </a:xfrm>
          <a:prstGeom prst="ellipse">
            <a:avLst/>
          </a:prstGeom>
          <a:solidFill>
            <a:srgbClr val="F0E9FB"/>
          </a:solidFill>
          <a:ln/>
        </p:spPr>
      </p:sp>
      <p:pic>
        <p:nvPicPr>
          <p:cNvPr id="14"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5" name="Text 11"/>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6" name="Text 12"/>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7" name="Text 13"/>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8" name="Shape 14"/>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9" name="Shape 15"/>
          <p:cNvSpPr/>
          <p:nvPr/>
        </p:nvSpPr>
        <p:spPr>
          <a:xfrm>
            <a:off x="6263640" y="1298448"/>
            <a:ext cx="502920" cy="502920"/>
          </a:xfrm>
          <a:prstGeom prst="ellipse">
            <a:avLst/>
          </a:prstGeom>
          <a:solidFill>
            <a:srgbClr val="E8EDFB"/>
          </a:solidFill>
          <a:ln/>
        </p:spPr>
      </p:sp>
      <p:pic>
        <p:nvPicPr>
          <p:cNvPr id="20"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1" name="Text 16"/>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2" name="Text 17"/>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3" name="Text 18"/>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4" name="Text 19"/>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219456"/>
            <a:ext cx="8046720" cy="182880"/>
          </a:xfrm>
          <a:prstGeom prst="rect">
            <a:avLst/>
          </a:prstGeom>
          <a:noFill/>
          <a:ln/>
        </p:spPr>
        <p:txBody>
          <a:bodyPr wrap="square" lIns="0" tIns="0" rIns="0" bIns="0" rtlCol="0" anchor="t"/>
          <a:lstStyle/>
          <a:p>
            <a:pPr algn="l" indent="0" marL="0">
              <a:buNone/>
            </a:pPr>
            <a:r>
              <a:rPr lang="en-US" sz="1000" b="1" spc="150" kern="0" dirty="0">
                <a:solidFill>
                  <a:srgbClr val="6D28D9"/>
                </a:solidFill>
                <a:latin typeface="Arial" pitchFamily="34" charset="0"/>
                <a:ea typeface="Arial" pitchFamily="34" charset="-122"/>
                <a:cs typeface="Arial" pitchFamily="34" charset="-120"/>
              </a:rPr>
              <a:t>POTENTIAL TO GROW</a:t>
            </a:r>
            <a:endParaRPr lang="en-US" sz="1000" dirty="0"/>
          </a:p>
        </p:txBody>
      </p:sp>
      <p:sp>
        <p:nvSpPr>
          <p:cNvPr id="5" name="Text 3"/>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6" name="Shape 4"/>
          <p:cNvSpPr/>
          <p:nvPr/>
        </p:nvSpPr>
        <p:spPr>
          <a:xfrm>
            <a:off x="676656" y="1417320"/>
            <a:ext cx="7680960" cy="0"/>
          </a:xfrm>
          <a:prstGeom prst="line">
            <a:avLst/>
          </a:prstGeom>
          <a:noFill/>
          <a:ln w="25400">
            <a:solidFill>
              <a:srgbClr val="DFE3EA"/>
            </a:solidFill>
            <a:prstDash val="solid"/>
          </a:ln>
        </p:spPr>
      </p:sp>
      <p:sp>
        <p:nvSpPr>
          <p:cNvPr id="7" name="Shape 5"/>
          <p:cNvSpPr/>
          <p:nvPr/>
        </p:nvSpPr>
        <p:spPr>
          <a:xfrm>
            <a:off x="548640" y="1289304"/>
            <a:ext cx="256032" cy="256032"/>
          </a:xfrm>
          <a:prstGeom prst="ellipse">
            <a:avLst/>
          </a:prstGeom>
          <a:solidFill>
            <a:srgbClr val="B45309"/>
          </a:solidFill>
          <a:ln/>
        </p:spPr>
      </p:sp>
      <p:sp>
        <p:nvSpPr>
          <p:cNvPr id="8" name="Text 6"/>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9" name="Text 7"/>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10" name="Text 8"/>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1" name="Shape 9"/>
          <p:cNvSpPr/>
          <p:nvPr/>
        </p:nvSpPr>
        <p:spPr>
          <a:xfrm>
            <a:off x="3291840" y="1289304"/>
            <a:ext cx="256032" cy="256032"/>
          </a:xfrm>
          <a:prstGeom prst="ellipse">
            <a:avLst/>
          </a:prstGeom>
          <a:solidFill>
            <a:srgbClr val="6D28D9"/>
          </a:solidFill>
          <a:ln/>
        </p:spPr>
      </p:sp>
      <p:sp>
        <p:nvSpPr>
          <p:cNvPr id="12" name="Text 10"/>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3" name="Text 11"/>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4" name="Text 12"/>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5" name="Shape 13"/>
          <p:cNvSpPr/>
          <p:nvPr/>
        </p:nvSpPr>
        <p:spPr>
          <a:xfrm>
            <a:off x="6035040" y="1289304"/>
            <a:ext cx="256032" cy="256032"/>
          </a:xfrm>
          <a:prstGeom prst="ellipse">
            <a:avLst/>
          </a:prstGeom>
          <a:solidFill>
            <a:srgbClr val="0F1419"/>
          </a:solidFill>
          <a:ln/>
        </p:spPr>
      </p:sp>
      <p:sp>
        <p:nvSpPr>
          <p:cNvPr id="16" name="Text 14"/>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7" name="Text 15"/>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8" name="Text 16"/>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Text 4"/>
          <p:cNvSpPr txBox="1"/>
          <p:nvPr/>
        </p:nvSpPr>
        <p:spPr>
          <a:xfrm>
            <a:off x="2514600" y="3017520"/>
            <a:ext cx="4114800" cy="274320"/>
          </a:xfrm>
          <a:prstGeom prst="rect">
            <a:avLst/>
          </a:prstGeom>
          <a:noFill/>
          <a:ln/>
        </p:spPr>
        <p:txBody>
          <a:bodyPr wrap="square" lIns="0" tIns="0" rIns="0" bIns="0" rtlCol="0" anchor="t"/>
          <a:lstStyle/>
          <a:p>
            <a:pPr algn="ctr" indent="0" marL="0">
              <a:buNone/>
            </a:pPr>
            <a:r>
              <a:rPr lang="en-US" sz="1200" b="1" dirty="0">
                <a:solidFill>
                  <a:srgbClr val="0F1419"/>
                </a:solidFill>
                <a:latin typeface="Arial" pitchFamily="34" charset="0"/>
                <a:ea typeface="Arial" pitchFamily="34" charset="-122"/>
                <a:cs typeface="Arial" pitchFamily="34" charset="-120"/>
              </a:rPr>
              <a:t>Parth Deshmukh · solo builder</a:t>
            </a:r>
            <a:endParaRPr lang="en-US" sz="1200" dirty="0"/>
          </a:p>
        </p:txBody>
      </p:sp>
      <p:pic>
        <p:nvPicPr>
          <p:cNvPr id="7"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8" name="Text 5"/>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9"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0" name="Text 6"/>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1"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2" name="Text 7"/>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Demo video (2:21, YouTube)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2026-10-03T18:38:26Z</dcterms:created>
  <dcterms:modified xsi:type="dcterms:W3CDTF">2026-10-03T18:38:26Z</dcterms:modified>
</cp:coreProperties>
</file>