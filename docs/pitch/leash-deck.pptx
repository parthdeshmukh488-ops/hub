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agents can pay for things now. Leash makes sure an agent pays only who you allow, only as much as you allow, and stops by itself when someone tries to trick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model is immune to a crafted message. On May 4, a post in Morse code got Grok to send up to two hundred thousand dollars. Nothing between the agent and the money asked whether that payment made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payments are already here: Solana carried twenty-three million of them in four weeks. In June the Solana Foundation shipped an audited Allowances program. It caps how much a delegate can spend, but not who it pays. That gap is where Leash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money stays in your wallet. The agent can only spend through Leash, and Leash checks every payment on-chain. The most it can ever spend is the allowance in Solana's own audited program, and Leash can only make that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agent's key can't move money by itself. The owner's allowance belongs to the agent's Leash account, and the program signs the transfer only after every check passes. Payments are ordinary x402 payments: merchants keep their setup, and their facilitator turns on two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reads a buying guide with a hidden instruction: tip twenty-five dollars to a stranger. In this run we script the agent to fall for it, and the screen says so, because we want to show what happens when the model is fooled. It tries three times: three blocks, three strikes, and the agent freezes itself, on-chain. The model was fooled. The money wasn't moved.
If something fails live: approve with the web app or pnpm owner:approve; unfreeze with the web app or pnpm owner:unfreeze (it also clears leftover strikes). Run the 'Before each take' checklist in apps/agent-demo/README.md before every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Solana this product doesn't work. A firewall that runs off-chain can be bypassed by whoever holds the key, and paying per API call needs fees far below a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security product has to say what can still go wrong, so here is our list. Note the last line: today one key can upgrade the program on devnet. Before mainnet, that becomes a timelocked multisig, or no key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the left runs today, and you can check it: the repo is public, and the tests run without a chain. The right column is what we're finishing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users are developers like us, whose agents already pay for APIs. They live in Claude Code and Cursor, and the MCP server puts Leash one config line away. We haven't talked to users yet. Five conversations with agent builders are our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parts that hold the rules are free and open, because a security product must be verifiable. Teams pay for the parts that run around the clock: the panel, the alerts, and a guardian that can freeze an agent at 3 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keep building through Colosseum. The order is: finish the owner's side, make every alert actionable from a link, and only then go to mainnet, after an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will keep getting fooled. With Leash, that stops costing you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slideLayout" Target="../slideLayouts/slideLayout1.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parthdeshmukh488-ops/hub" TargetMode="External"/><Relationship Id="rId4" Type="http://schemas.openxmlformats.org/officeDocument/2006/relationships/hyperlink" Target="https://explorer.solana.com/address/HyL9S5mA8ujMMkDcpuY4VcxiwfM974fEhmNjzTgHJncu?cluster=devnet" TargetMode="External"/><Relationship Id="rId1" Type="http://schemas.openxmlformats.org/officeDocument/2006/relationships/image" Target="../media/image-13-1.png"/><Relationship Id="rId3" Type="http://schemas.openxmlformats.org/officeDocument/2006/relationships/image" Target="../media/image-13-2.png"/><Relationship Id="rId5" Type="http://schemas.openxmlformats.org/officeDocument/2006/relationships/image" Target="../media/image-13-3.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914400"/>
            <a:ext cx="731520" cy="731520"/>
          </a:xfrm>
          <a:prstGeom prst="roundRect">
            <a:avLst>
              <a:gd name="adj" fmla="val 37500"/>
            </a:avLst>
          </a:prstGeom>
          <a:solidFill>
            <a:srgbClr val="6D28D9"/>
          </a:solidFill>
          <a:ln/>
        </p:spPr>
      </p:sp>
      <p:sp>
        <p:nvSpPr>
          <p:cNvPr id="3" name="Text 1"/>
          <p:cNvSpPr txBox="1"/>
          <p:nvPr/>
        </p:nvSpPr>
        <p:spPr>
          <a:xfrm>
            <a:off x="548640" y="914400"/>
            <a:ext cx="731520" cy="731520"/>
          </a:xfrm>
          <a:prstGeom prst="rect">
            <a:avLst/>
          </a:prstGeom>
          <a:noFill/>
          <a:ln/>
        </p:spPr>
        <p:txBody>
          <a:bodyPr wrap="square" lIns="0" tIns="0" rIns="0" bIns="0"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L</a:t>
            </a:r>
            <a:endParaRPr lang="en-US" sz="3200" dirty="0"/>
          </a:p>
        </p:txBody>
      </p:sp>
      <p:sp>
        <p:nvSpPr>
          <p:cNvPr id="4" name="Text 2"/>
          <p:cNvSpPr txBox="1"/>
          <p:nvPr/>
        </p:nvSpPr>
        <p:spPr>
          <a:xfrm>
            <a:off x="548640" y="1783080"/>
            <a:ext cx="4206240" cy="777240"/>
          </a:xfrm>
          <a:prstGeom prst="rect">
            <a:avLst/>
          </a:prstGeom>
          <a:noFill/>
          <a:ln/>
        </p:spPr>
        <p:txBody>
          <a:bodyPr wrap="square" lIns="0" tIns="0" rIns="0" bIns="0" rtlCol="0" anchor="ctr"/>
          <a:lstStyle/>
          <a:p>
            <a:pPr algn="l" indent="0" marL="0">
              <a:buNone/>
            </a:pPr>
            <a:r>
              <a:rPr lang="en-US" sz="5400" b="1" dirty="0">
                <a:solidFill>
                  <a:srgbClr val="0F1419"/>
                </a:solidFill>
                <a:latin typeface="Arial" pitchFamily="34" charset="0"/>
                <a:ea typeface="Arial" pitchFamily="34" charset="-122"/>
                <a:cs typeface="Arial" pitchFamily="34" charset="-120"/>
              </a:rPr>
              <a:t>Leash</a:t>
            </a:r>
            <a:endParaRPr lang="en-US" sz="5400" dirty="0"/>
          </a:p>
        </p:txBody>
      </p:sp>
      <p:sp>
        <p:nvSpPr>
          <p:cNvPr id="5" name="Text 3"/>
          <p:cNvSpPr txBox="1"/>
          <p:nvPr/>
        </p:nvSpPr>
        <p:spPr>
          <a:xfrm>
            <a:off x="548640" y="2651760"/>
            <a:ext cx="4114800" cy="822960"/>
          </a:xfrm>
          <a:prstGeom prst="rect">
            <a:avLst/>
          </a:prstGeom>
          <a:noFill/>
          <a:ln/>
        </p:spPr>
        <p:txBody>
          <a:bodyPr wrap="square" lIns="0" tIns="0" rIns="0" bIns="0" rtlCol="0" anchor="t"/>
          <a:lstStyle/>
          <a:p>
            <a:pPr algn="l" indent="0" marL="0">
              <a:buNone/>
            </a:pPr>
            <a:r>
              <a:rPr lang="en-US" sz="1800" dirty="0">
                <a:solidFill>
                  <a:srgbClr val="535C6B"/>
                </a:solidFill>
                <a:latin typeface="Arial" pitchFamily="34" charset="0"/>
                <a:ea typeface="Arial" pitchFamily="34" charset="-122"/>
                <a:cs typeface="Arial" pitchFamily="34" charset="-120"/>
              </a:rPr>
              <a:t>Spending limits and an off switch for AI agents, enforced on Solana.</a:t>
            </a:r>
            <a:endParaRPr lang="en-US" sz="1800" dirty="0"/>
          </a:p>
        </p:txBody>
      </p:sp>
      <p:sp>
        <p:nvSpPr>
          <p:cNvPr id="6" name="Text 4"/>
          <p:cNvSpPr txBox="1"/>
          <p:nvPr/>
        </p:nvSpPr>
        <p:spPr>
          <a:xfrm>
            <a:off x="548640" y="3566160"/>
            <a:ext cx="4114800" cy="411480"/>
          </a:xfrm>
          <a:prstGeom prst="rect">
            <a:avLst/>
          </a:prstGeom>
          <a:noFill/>
          <a:ln/>
        </p:spPr>
        <p:txBody>
          <a:bodyPr wrap="square" lIns="0" tIns="0" rIns="0" bIns="0" rtlCol="0" anchor="t"/>
          <a:lstStyle/>
          <a:p>
            <a:pPr algn="l" indent="0" marL="0">
              <a:buNone/>
            </a:pPr>
            <a:r>
              <a:rPr lang="en-US" sz="1050" dirty="0">
                <a:solidFill>
                  <a:srgbClr val="535C6B"/>
                </a:solidFill>
                <a:latin typeface="Arial" pitchFamily="34" charset="0"/>
                <a:ea typeface="Arial" pitchFamily="34" charset="-122"/>
                <a:cs typeface="Arial" pitchFamily="34" charset="-120"/>
              </a:rPr>
              <a:t>Superteam Germany Solana Challenge</a:t>
            </a:r>
            <a:endParaRPr lang="en-US" sz="1050" dirty="0"/>
          </a:p>
          <a:p>
            <a:pPr algn="l" indent="0" marL="0">
              <a:buNone/>
            </a:pPr>
            <a:r>
              <a:rPr lang="en-US" sz="1050" dirty="0">
                <a:solidFill>
                  <a:srgbClr val="535C6B"/>
                </a:solidFill>
                <a:latin typeface="Arial" pitchFamily="34" charset="0"/>
                <a:ea typeface="Arial" pitchFamily="34" charset="-122"/>
                <a:cs typeface="Arial" pitchFamily="34" charset="-120"/>
              </a:rPr>
              <a:t>WHU Prompting Progress · October 2026</a:t>
            </a:r>
            <a:endParaRPr lang="en-US" sz="1050" dirty="0"/>
          </a:p>
        </p:txBody>
      </p:sp>
      <p:sp>
        <p:nvSpPr>
          <p:cNvPr id="7" name="Shape 5"/>
          <p:cNvSpPr/>
          <p:nvPr/>
        </p:nvSpPr>
        <p:spPr>
          <a:xfrm>
            <a:off x="548640" y="4160520"/>
            <a:ext cx="3931920" cy="329184"/>
          </a:xfrm>
          <a:prstGeom prst="roundRect">
            <a:avLst>
              <a:gd name="adj" fmla="val 277778"/>
            </a:avLst>
          </a:prstGeom>
          <a:solidFill>
            <a:srgbClr val="F8EEE6"/>
          </a:solidFill>
          <a:ln/>
        </p:spPr>
      </p:sp>
      <p:sp>
        <p:nvSpPr>
          <p:cNvPr id="8" name="Text 6"/>
          <p:cNvSpPr txBox="1"/>
          <p:nvPr/>
        </p:nvSpPr>
        <p:spPr>
          <a:xfrm>
            <a:off x="548640" y="4160520"/>
            <a:ext cx="3931920" cy="329184"/>
          </a:xfrm>
          <a:prstGeom prst="rect">
            <a:avLst/>
          </a:prstGeom>
          <a:noFill/>
          <a:ln/>
        </p:spPr>
        <p:txBody>
          <a:bodyPr wrap="square" lIns="0" tIns="0" rIns="0" bIns="0" rtlCol="0" anchor="ctr"/>
          <a:lstStyle/>
          <a:p>
            <a:pPr algn="ctr" indent="0" marL="0">
              <a:buNone/>
            </a:pPr>
            <a:r>
              <a:rPr lang="en-US" sz="1000" b="1" dirty="0">
                <a:solidFill>
                  <a:srgbClr val="B45309"/>
                </a:solidFill>
                <a:latin typeface="Arial" pitchFamily="34" charset="0"/>
                <a:ea typeface="Arial" pitchFamily="34" charset="-122"/>
                <a:cs typeface="Arial" pitchFamily="34" charset="-120"/>
              </a:rPr>
              <a:t>[Team: names and roles, to be filled in by Parth]</a:t>
            </a:r>
            <a:endParaRPr lang="en-US" sz="1000" dirty="0"/>
          </a:p>
        </p:txBody>
      </p:sp>
      <p:pic>
        <p:nvPicPr>
          <p:cNvPr id="9" name="Image 0" descr="preencoded.png">    </p:cNvPr>
          <p:cNvPicPr>
            <a:picLocks noChangeAspect="1"/>
          </p:cNvPicPr>
          <p:nvPr/>
        </p:nvPicPr>
        <p:blipFill>
          <a:blip r:embed="rId1"/>
          <a:stretch>
            <a:fillRect/>
          </a:stretch>
        </p:blipFill>
        <p:spPr>
          <a:xfrm>
            <a:off x="4937760" y="914400"/>
            <a:ext cx="3657600" cy="2653553"/>
          </a:xfrm>
          <a:prstGeom prst="rect">
            <a:avLst/>
          </a:prstGeom>
        </p:spPr>
      </p:pic>
      <p:sp>
        <p:nvSpPr>
          <p:cNvPr id="10" name="Shape 7"/>
          <p:cNvSpPr/>
          <p:nvPr/>
        </p:nvSpPr>
        <p:spPr>
          <a:xfrm>
            <a:off x="4937760" y="914400"/>
            <a:ext cx="3657600" cy="2653553"/>
          </a:xfrm>
          <a:prstGeom prst="rect">
            <a:avLst/>
          </a:prstGeom>
          <a:solidFill>
            <a:srgbClr val="FFFFFF">
              <a:alpha val="0"/>
            </a:srgbClr>
          </a:solidFill>
          <a:ln w="9525">
            <a:solidFill>
              <a:srgbClr val="DFE3EA"/>
            </a:solidFill>
            <a:prstDash val="solid"/>
          </a:ln>
        </p:spPr>
      </p:sp>
      <p:sp>
        <p:nvSpPr>
          <p:cNvPr id="11" name="Text 8"/>
          <p:cNvSpPr txBox="1"/>
          <p:nvPr/>
        </p:nvSpPr>
        <p:spPr>
          <a:xfrm>
            <a:off x="4937760" y="3659393"/>
            <a:ext cx="3657600" cy="228600"/>
          </a:xfrm>
          <a:prstGeom prst="rect">
            <a:avLst/>
          </a:prstGeom>
          <a:noFill/>
          <a:ln/>
        </p:spPr>
        <p:txBody>
          <a:bodyPr wrap="square" lIns="0" tIns="0" rIns="0" bIns="0" rtlCol="0" anchor="t"/>
          <a:lstStyle/>
          <a:p>
            <a:pPr algn="l" indent="0" marL="0">
              <a:buNone/>
            </a:pPr>
            <a:r>
              <a:rPr lang="en-US" sz="900" dirty="0">
                <a:solidFill>
                  <a:srgbClr val="535C6B"/>
                </a:solidFill>
                <a:latin typeface="Arial" pitchFamily="34" charset="0"/>
                <a:ea typeface="Arial" pitchFamily="34" charset="-122"/>
                <a:cs typeface="Arial" pitchFamily="34" charset="-120"/>
              </a:rPr>
              <a:t>The control panel after an attack (sample data)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754880"/>
            <a:ext cx="1828800" cy="201168"/>
          </a:xfrm>
          <a:prstGeom prst="rect">
            <a:avLst/>
          </a:prstGeom>
          <a:noFill/>
          <a:ln/>
        </p:spPr>
        <p:txBody>
          <a:bodyPr wrap="square" lIns="0" tIns="0" rIns="0" bIns="0" rtlCol="0" anchor="t"/>
          <a:lstStyle/>
          <a:p>
            <a:pPr algn="l" indent="0" marL="0">
              <a:buNone/>
            </a:pPr>
            <a:r>
              <a:rPr lang="en-US" sz="900" dirty="0">
                <a:solidFill>
                  <a:srgbClr val="535C6B"/>
                </a:solidFill>
                <a:latin typeface="Arial" pitchFamily="34" charset="0"/>
                <a:ea typeface="Arial" pitchFamily="34" charset="-122"/>
                <a:cs typeface="Arial" pitchFamily="34" charset="-120"/>
              </a:rPr>
              <a:t>Leash</a:t>
            </a:r>
            <a:endParaRPr lang="en-US" sz="900" dirty="0"/>
          </a:p>
        </p:txBody>
      </p:sp>
      <p:sp>
        <p:nvSpPr>
          <p:cNvPr id="3" name="Text 1"/>
          <p:cNvSpPr txBox="1"/>
          <p:nvPr/>
        </p:nvSpPr>
        <p:spPr>
          <a:xfrm>
            <a:off x="8138160" y="4754880"/>
            <a:ext cx="457200" cy="201168"/>
          </a:xfrm>
          <a:prstGeom prst="rect">
            <a:avLst/>
          </a:prstGeom>
          <a:noFill/>
          <a:ln/>
        </p:spPr>
        <p:txBody>
          <a:bodyPr wrap="square" lIns="0" tIns="0" rIns="0" bIns="0" rtlCol="0" anchor="t"/>
          <a:lstStyle/>
          <a:p>
            <a:pPr algn="r" indent="0" marL="0">
              <a:buNone/>
            </a:pPr>
            <a:r>
              <a:rPr lang="en-US" sz="900" dirty="0">
                <a:solidFill>
                  <a:srgbClr val="535C6B"/>
                </a:solidFill>
                <a:latin typeface="Arial" pitchFamily="34" charset="0"/>
                <a:ea typeface="Arial" pitchFamily="34" charset="-122"/>
                <a:cs typeface="Arial" pitchFamily="34" charset="-120"/>
              </a:rPr>
              <a:t>2</a:t>
            </a:r>
            <a:endParaRPr lang="en-US" sz="900" dirty="0"/>
          </a:p>
        </p:txBody>
      </p:sp>
      <p:sp>
        <p:nvSpPr>
          <p:cNvPr id="4" name="Text 2"/>
          <p:cNvSpPr txBox="1"/>
          <p:nvPr/>
        </p:nvSpPr>
        <p:spPr>
          <a:xfrm>
            <a:off x="548640" y="384048"/>
            <a:ext cx="8046720" cy="548640"/>
          </a:xfrm>
          <a:prstGeom prst="rect">
            <a:avLst/>
          </a:prstGeom>
          <a:noFill/>
          <a:ln/>
        </p:spPr>
        <p:txBody>
          <a:bodyPr wrap="square" lIns="0" tIns="0" rIns="0" bIns="0" rtlCol="0" anchor="ctr"/>
          <a:lstStyle/>
          <a:p>
            <a:pPr algn="l" indent="0" marL="0">
              <a:buNone/>
            </a:pPr>
            <a:r>
              <a:rPr lang="en-US" sz="3000" b="1" dirty="0">
                <a:solidFill>
                  <a:srgbClr val="0F1419"/>
                </a:solidFill>
                <a:latin typeface="Arial" pitchFamily="34" charset="0"/>
                <a:ea typeface="Arial" pitchFamily="34" charset="-122"/>
                <a:cs typeface="Arial" pitchFamily="34" charset="-120"/>
              </a:rPr>
              <a:t>An agent's wallet is all or nothing</a:t>
            </a:r>
            <a:endParaRPr lang="en-US" sz="3000" dirty="0"/>
          </a:p>
        </p:txBody>
      </p:sp>
      <p:sp>
        <p:nvSpPr>
          <p:cNvPr id="5" name="Shape 3"/>
          <p:cNvSpPr/>
          <p:nvPr/>
        </p:nvSpPr>
        <p:spPr>
          <a:xfrm>
            <a:off x="548640" y="1143000"/>
            <a:ext cx="2331720" cy="1737360"/>
          </a:xfrm>
          <a:prstGeom prst="roundRect">
            <a:avLst>
              <a:gd name="adj" fmla="val 4211"/>
            </a:avLst>
          </a:prstGeom>
          <a:solidFill>
            <a:srgbClr val="FFFFFF"/>
          </a:solidFill>
          <a:ln w="9525">
            <a:solidFill>
              <a:srgbClr val="DFE3EA"/>
            </a:solidFill>
            <a:prstDash val="solid"/>
          </a:ln>
          <a:effectLst>
            <a:outerShdw sx="100000" sy="100000" kx="0" ky="0" algn="bl" rotWithShape="0" blurRad="50800" dist="12700" dir="5400000">
              <a:srgbClr val="000000">
                <a:alpha val="8000"/>
              </a:srgbClr>
            </a:outerShdw>
          </a:effectLst>
        </p:spPr>
      </p:sp>
      <p:sp>
        <p:nvSpPr>
          <p:cNvPr id="6" name="Shape 4"/>
          <p:cNvSpPr/>
          <p:nvPr/>
        </p:nvSpPr>
        <p:spPr>
          <a:xfrm>
            <a:off x="749808" y="1325880"/>
            <a:ext cx="457200" cy="457200"/>
          </a:xfrm>
          <a:prstGeom prst="ellipse">
            <a:avLst/>
          </a:prstGeom>
          <a:solidFill>
            <a:srgbClr val="EEF0F4"/>
          </a:solidFill>
          <a:ln/>
        </p:spPr>
      </p:sp>
      <p:pic>
        <p:nvPicPr>
          <p:cNvPr id="7" name="Image 0" descr="preencoded.png">    </p:cNvPr>
          <p:cNvPicPr>
            <a:picLocks noChangeAspect="1"/>
          </p:cNvPicPr>
          <p:nvPr/>
        </p:nvPicPr>
        <p:blipFill>
          <a:blip r:embed="rId1"/>
          <a:stretch>
            <a:fillRect/>
          </a:stretch>
        </p:blipFill>
        <p:spPr>
          <a:xfrm>
            <a:off x="859536" y="1435608"/>
            <a:ext cx="237744" cy="237744"/>
          </a:xfrm>
          <a:prstGeom prst="rect">
            <a:avLst/>
          </a:prstGeom>
        </p:spPr>
      </p:pic>
      <p:sp>
        <p:nvSpPr>
          <p:cNvPr id="8" name="Text 5"/>
          <p:cNvSpPr txBox="1"/>
          <p:nvPr/>
        </p:nvSpPr>
        <p:spPr>
          <a:xfrm>
            <a:off x="749808" y="1874520"/>
            <a:ext cx="1965960" cy="457200"/>
          </a:xfrm>
          <a:prstGeom prst="rect">
            <a:avLst/>
          </a:prstGeom>
          <a:noFill/>
          <a:ln/>
        </p:spPr>
        <p:txBody>
          <a:bodyPr wrap="square" lIns="0" tIns="0" rIns="0" bIns="0" rtlCol="0" anchor="t"/>
          <a:lstStyle/>
          <a:p>
            <a:pPr algn="l" indent="0" marL="0">
              <a:buNone/>
            </a:pPr>
            <a:r>
              <a:rPr lang="en-US" sz="1300" b="1" dirty="0">
                <a:solidFill>
                  <a:srgbClr val="0F1419"/>
                </a:solidFill>
                <a:latin typeface="Arial" pitchFamily="34" charset="0"/>
                <a:ea typeface="Arial" pitchFamily="34" charset="-122"/>
                <a:cs typeface="Arial" pitchFamily="34" charset="-120"/>
              </a:rPr>
              <a:t>A post on X, in Morse code</a:t>
            </a:r>
            <a:endParaRPr lang="en-US" sz="1300" dirty="0"/>
          </a:p>
        </p:txBody>
      </p:sp>
      <p:sp>
        <p:nvSpPr>
          <p:cNvPr id="9" name="Text 6"/>
          <p:cNvSpPr txBox="1"/>
          <p:nvPr/>
        </p:nvSpPr>
        <p:spPr>
          <a:xfrm>
            <a:off x="749808" y="2331720"/>
            <a:ext cx="1965960" cy="320040"/>
          </a:xfrm>
          <a:prstGeom prst="rect">
            <a:avLst/>
          </a:prstGeom>
          <a:noFill/>
          <a:ln/>
        </p:spPr>
        <p:txBody>
          <a:bodyPr wrap="square" lIns="0" tIns="0" rIns="0" bIns="0" rtlCol="0" anchor="t"/>
          <a:lstStyle/>
          <a:p>
            <a:pPr algn="l" indent="0" marL="0">
              <a:buNone/>
            </a:pPr>
            <a:r>
              <a:rPr lang="en-US" sz="1050" dirty="0">
                <a:solidFill>
                  <a:srgbClr val="535C6B"/>
                </a:solidFill>
                <a:latin typeface="Arial" pitchFamily="34" charset="0"/>
                <a:ea typeface="Arial" pitchFamily="34" charset="-122"/>
                <a:cs typeface="Arial" pitchFamily="34" charset="-120"/>
              </a:rPr>
              <a:t>May 4, 2026</a:t>
            </a:r>
            <a:endParaRPr lang="en-US" sz="1050" dirty="0"/>
          </a:p>
        </p:txBody>
      </p:sp>
      <p:sp>
        <p:nvSpPr>
          <p:cNvPr id="10" name="Shape 7"/>
          <p:cNvSpPr/>
          <p:nvPr/>
        </p:nvSpPr>
        <p:spPr>
          <a:xfrm>
            <a:off x="2971800" y="1938528"/>
            <a:ext cx="365760" cy="0"/>
          </a:xfrm>
          <a:prstGeom prst="line">
            <a:avLst/>
          </a:prstGeom>
          <a:noFill/>
          <a:ln w="19050">
            <a:solidFill>
              <a:srgbClr val="535C6B"/>
            </a:solidFill>
            <a:prstDash val="solid"/>
            <a:tailEnd type="triangle"/>
          </a:ln>
        </p:spPr>
      </p:sp>
      <p:sp>
        <p:nvSpPr>
          <p:cNvPr id="11" name="Shape 8"/>
          <p:cNvSpPr/>
          <p:nvPr/>
        </p:nvSpPr>
        <p:spPr>
          <a:xfrm>
            <a:off x="3429000" y="1143000"/>
            <a:ext cx="2331720" cy="1737360"/>
          </a:xfrm>
          <a:prstGeom prst="roundRect">
            <a:avLst>
              <a:gd name="adj" fmla="val 4211"/>
            </a:avLst>
          </a:prstGeom>
          <a:solidFill>
            <a:srgbClr val="FFFFFF"/>
          </a:solidFill>
          <a:ln w="9525">
            <a:solidFill>
              <a:srgbClr val="DFE3EA"/>
            </a:solidFill>
            <a:prstDash val="solid"/>
          </a:ln>
          <a:effectLst>
            <a:outerShdw sx="100000" sy="100000" kx="0" ky="0" algn="bl" rotWithShape="0" blurRad="50800" dist="12700" dir="5400000">
              <a:srgbClr val="000000">
                <a:alpha val="8000"/>
              </a:srgbClr>
            </a:outerShdw>
          </a:effectLst>
        </p:spPr>
      </p:sp>
      <p:sp>
        <p:nvSpPr>
          <p:cNvPr id="12" name="Shape 9"/>
          <p:cNvSpPr/>
          <p:nvPr/>
        </p:nvSpPr>
        <p:spPr>
          <a:xfrm>
            <a:off x="3630168" y="1325880"/>
            <a:ext cx="457200" cy="457200"/>
          </a:xfrm>
          <a:prstGeom prst="ellipse">
            <a:avLst/>
          </a:prstGeom>
          <a:solidFill>
            <a:srgbClr val="EEF0F4"/>
          </a:solidFill>
          <a:ln/>
        </p:spPr>
      </p:sp>
      <p:pic>
        <p:nvPicPr>
          <p:cNvPr id="13" name="Image 1" descr="preencoded.png">    </p:cNvPr>
          <p:cNvPicPr>
            <a:picLocks noChangeAspect="1"/>
          </p:cNvPicPr>
          <p:nvPr/>
        </p:nvPicPr>
        <p:blipFill>
          <a:blip r:embed="rId2"/>
          <a:stretch>
            <a:fillRect/>
          </a:stretch>
        </p:blipFill>
        <p:spPr>
          <a:xfrm>
            <a:off x="3739896" y="1435608"/>
            <a:ext cx="237744" cy="237744"/>
          </a:xfrm>
          <a:prstGeom prst="rect">
            <a:avLst/>
          </a:prstGeom>
        </p:spPr>
      </p:pic>
      <p:sp>
        <p:nvSpPr>
          <p:cNvPr id="14" name="Text 10"/>
          <p:cNvSpPr txBox="1"/>
          <p:nvPr/>
        </p:nvSpPr>
        <p:spPr>
          <a:xfrm>
            <a:off x="3630168" y="1874520"/>
            <a:ext cx="1965960" cy="457200"/>
          </a:xfrm>
          <a:prstGeom prst="rect">
            <a:avLst/>
          </a:prstGeom>
          <a:noFill/>
          <a:ln/>
        </p:spPr>
        <p:txBody>
          <a:bodyPr wrap="square" lIns="0" tIns="0" rIns="0" bIns="0" rtlCol="0" anchor="t"/>
          <a:lstStyle/>
          <a:p>
            <a:pPr algn="l" indent="0" marL="0">
              <a:buNone/>
            </a:pPr>
            <a:r>
              <a:rPr lang="en-US" sz="1300" b="1" dirty="0">
                <a:solidFill>
                  <a:srgbClr val="0F1419"/>
                </a:solidFill>
                <a:latin typeface="Arial" pitchFamily="34" charset="0"/>
                <a:ea typeface="Arial" pitchFamily="34" charset="-122"/>
                <a:cs typeface="Arial" pitchFamily="34" charset="-120"/>
              </a:rPr>
              <a:t>Grok, wired to a trading bot, follows it</a:t>
            </a:r>
            <a:endParaRPr lang="en-US" sz="1300" dirty="0"/>
          </a:p>
        </p:txBody>
      </p:sp>
      <p:sp>
        <p:nvSpPr>
          <p:cNvPr id="15" name="Text 11"/>
          <p:cNvSpPr txBox="1"/>
          <p:nvPr/>
        </p:nvSpPr>
        <p:spPr>
          <a:xfrm>
            <a:off x="3630168" y="2331720"/>
            <a:ext cx="1965960" cy="320040"/>
          </a:xfrm>
          <a:prstGeom prst="rect">
            <a:avLst/>
          </a:prstGeom>
          <a:noFill/>
          <a:ln/>
        </p:spPr>
        <p:txBody>
          <a:bodyPr wrap="square" lIns="0" tIns="0" rIns="0" bIns="0" rtlCol="0" anchor="t"/>
          <a:lstStyle/>
          <a:p>
            <a:pPr algn="l" indent="0" marL="0">
              <a:buNone/>
            </a:pPr>
            <a:r>
              <a:rPr lang="en-US" sz="1050" dirty="0">
                <a:solidFill>
                  <a:srgbClr val="535C6B"/>
                </a:solidFill>
                <a:latin typeface="Arial" pitchFamily="34" charset="0"/>
                <a:ea typeface="Arial" pitchFamily="34" charset="-122"/>
                <a:cs typeface="Arial" pitchFamily="34" charset="-120"/>
              </a:rPr>
              <a:t>It does what the text says</a:t>
            </a:r>
            <a:endParaRPr lang="en-US" sz="1050" dirty="0"/>
          </a:p>
        </p:txBody>
      </p:sp>
      <p:sp>
        <p:nvSpPr>
          <p:cNvPr id="16" name="Shape 12"/>
          <p:cNvSpPr/>
          <p:nvPr/>
        </p:nvSpPr>
        <p:spPr>
          <a:xfrm>
            <a:off x="5852160" y="1938528"/>
            <a:ext cx="365760" cy="0"/>
          </a:xfrm>
          <a:prstGeom prst="line">
            <a:avLst/>
          </a:prstGeom>
          <a:noFill/>
          <a:ln w="19050">
            <a:solidFill>
              <a:srgbClr val="535C6B"/>
            </a:solidFill>
            <a:prstDash val="solid"/>
            <a:tailEnd type="triangle"/>
          </a:ln>
        </p:spPr>
      </p:sp>
      <p:sp>
        <p:nvSpPr>
          <p:cNvPr id="17" name="Shape 13"/>
          <p:cNvSpPr/>
          <p:nvPr/>
        </p:nvSpPr>
        <p:spPr>
          <a:xfrm>
            <a:off x="6309360" y="1143000"/>
            <a:ext cx="2331720" cy="1737360"/>
          </a:xfrm>
          <a:prstGeom prst="roundRect">
            <a:avLst>
              <a:gd name="adj" fmla="val 4211"/>
            </a:avLst>
          </a:prstGeom>
          <a:solidFill>
            <a:srgbClr val="FFFFFF"/>
          </a:solidFill>
          <a:ln w="9525">
            <a:solidFill>
              <a:srgbClr val="DFE3EA"/>
            </a:solidFill>
            <a:prstDash val="solid"/>
          </a:ln>
          <a:effectLst>
            <a:outerShdw sx="100000" sy="100000" kx="0" ky="0" algn="bl" rotWithShape="0" blurRad="50800" dist="12700" dir="5400000">
              <a:srgbClr val="000000">
                <a:alpha val="8000"/>
              </a:srgbClr>
            </a:outerShdw>
          </a:effectLst>
        </p:spPr>
      </p:sp>
      <p:sp>
        <p:nvSpPr>
          <p:cNvPr id="18" name="Shape 14"/>
          <p:cNvSpPr/>
          <p:nvPr/>
        </p:nvSpPr>
        <p:spPr>
          <a:xfrm>
            <a:off x="6510528" y="1325880"/>
            <a:ext cx="457200" cy="457200"/>
          </a:xfrm>
          <a:prstGeom prst="ellipse">
            <a:avLst/>
          </a:prstGeom>
          <a:solidFill>
            <a:srgbClr val="F8E8E8"/>
          </a:solidFill>
          <a:ln/>
        </p:spPr>
      </p:sp>
      <p:pic>
        <p:nvPicPr>
          <p:cNvPr id="19" name="Image 2" descr="preencoded.png">    </p:cNvPr>
          <p:cNvPicPr>
            <a:picLocks noChangeAspect="1"/>
          </p:cNvPicPr>
          <p:nvPr/>
        </p:nvPicPr>
        <p:blipFill>
          <a:blip r:embed="rId3"/>
          <a:stretch>
            <a:fillRect/>
          </a:stretch>
        </p:blipFill>
        <p:spPr>
          <a:xfrm>
            <a:off x="6620256" y="1435608"/>
            <a:ext cx="237744" cy="237744"/>
          </a:xfrm>
          <a:prstGeom prst="rect">
            <a:avLst/>
          </a:prstGeom>
        </p:spPr>
      </p:pic>
      <p:sp>
        <p:nvSpPr>
          <p:cNvPr id="20" name="Text 15"/>
          <p:cNvSpPr txBox="1"/>
          <p:nvPr/>
        </p:nvSpPr>
        <p:spPr>
          <a:xfrm>
            <a:off x="6510528" y="1874520"/>
            <a:ext cx="1965960" cy="457200"/>
          </a:xfrm>
          <a:prstGeom prst="rect">
            <a:avLst/>
          </a:prstGeom>
          <a:noFill/>
          <a:ln/>
        </p:spPr>
        <p:txBody>
          <a:bodyPr wrap="square" lIns="0" tIns="0" rIns="0" bIns="0" rtlCol="0" anchor="t"/>
          <a:lstStyle/>
          <a:p>
            <a:pPr algn="l" indent="0" marL="0">
              <a:buNone/>
            </a:pPr>
            <a:r>
              <a:rPr lang="en-US" sz="1300" b="1" dirty="0">
                <a:solidFill>
                  <a:srgbClr val="B91C1C"/>
                </a:solidFill>
                <a:latin typeface="Arial" pitchFamily="34" charset="0"/>
                <a:ea typeface="Arial" pitchFamily="34" charset="-122"/>
                <a:cs typeface="Arial" pitchFamily="34" charset="-120"/>
              </a:rPr>
              <a:t>About $150–200k sent</a:t>
            </a:r>
            <a:endParaRPr lang="en-US" sz="1300" dirty="0"/>
          </a:p>
        </p:txBody>
      </p:sp>
      <p:sp>
        <p:nvSpPr>
          <p:cNvPr id="21" name="Text 16"/>
          <p:cNvSpPr txBox="1"/>
          <p:nvPr/>
        </p:nvSpPr>
        <p:spPr>
          <a:xfrm>
            <a:off x="6510528" y="2331720"/>
            <a:ext cx="1965960" cy="320040"/>
          </a:xfrm>
          <a:prstGeom prst="rect">
            <a:avLst/>
          </a:prstGeom>
          <a:noFill/>
          <a:ln/>
        </p:spPr>
        <p:txBody>
          <a:bodyPr wrap="square" lIns="0" tIns="0" rIns="0" bIns="0" rtlCol="0" anchor="t"/>
          <a:lstStyle/>
          <a:p>
            <a:pPr algn="l" indent="0" marL="0">
              <a:buNone/>
            </a:pPr>
            <a:r>
              <a:rPr lang="en-US" sz="1050" dirty="0">
                <a:solidFill>
                  <a:srgbClr val="535C6B"/>
                </a:solidFill>
                <a:latin typeface="Arial" pitchFamily="34" charset="0"/>
                <a:ea typeface="Arial" pitchFamily="34" charset="-122"/>
                <a:cs typeface="Arial" pitchFamily="34" charset="-120"/>
              </a:rPr>
              <a:t>Nothing asked if the payment made sense</a:t>
            </a:r>
            <a:endParaRPr lang="en-US" sz="1050" dirty="0"/>
          </a:p>
        </p:txBody>
      </p:sp>
      <p:sp>
        <p:nvSpPr>
          <p:cNvPr id="22" name="Text 17"/>
          <p:cNvSpPr txBox="1"/>
          <p:nvPr/>
        </p:nvSpPr>
        <p:spPr>
          <a:xfrm>
            <a:off x="548640" y="3017520"/>
            <a:ext cx="8046720" cy="1280160"/>
          </a:xfrm>
          <a:prstGeom prst="rect">
            <a:avLst/>
          </a:prstGeom>
          <a:noFill/>
          <a:ln/>
        </p:spPr>
        <p:txBody>
          <a:bodyPr wrap="square" lIns="0" tIns="0" rIns="0" bIns="0" rtlCol="0" anchor="t"/>
          <a:lstStyle/>
          <a:p>
            <a:pPr indent="0" marL="0">
              <a:spcAft>
                <a:spcPts val="1000"/>
              </a:spcAft>
              <a:buNone/>
            </a:pPr>
            <a:r>
              <a:rPr lang="en-US" sz="1400" b="1" dirty="0">
                <a:solidFill>
                  <a:srgbClr val="0F1419"/>
                </a:solidFill>
                <a:latin typeface="Arial" pitchFamily="34" charset="0"/>
                <a:ea typeface="Arial" pitchFamily="34" charset="-122"/>
                <a:cs typeface="Arial" pitchFamily="34" charset="-120"/>
              </a:rPr>
              <a:t>An agent does what the text in front of it says.</a:t>
            </a:r>
            <a:pPr indent="0" marL="0">
              <a:spcAft>
                <a:spcPts val="1000"/>
              </a:spcAft>
              <a:buNone/>
            </a:pPr>
            <a:r>
              <a:rPr lang="en-US" sz="1400" dirty="0">
                <a:solidFill>
                  <a:srgbClr val="0F1419"/>
                </a:solidFill>
                <a:latin typeface="Arial" pitchFamily="34" charset="0"/>
                <a:ea typeface="Arial" pitchFamily="34" charset="-122"/>
                <a:cs typeface="Arial" pitchFamily="34" charset="-120"/>
              </a:rPr>
              <a:t> A crafted message can make it pay the attacker.</a:t>
            </a:r>
            <a:endParaRPr lang="en-US" sz="1400" dirty="0"/>
          </a:p>
          <a:p>
            <a:pPr indent="0" marL="0">
              <a:spcAft>
                <a:spcPts val="1000"/>
              </a:spcAft>
              <a:buNone/>
            </a:pPr>
            <a:r>
              <a:rPr lang="en-US" sz="1400" dirty="0">
                <a:solidFill>
                  <a:srgbClr val="0F1419"/>
                </a:solidFill>
                <a:latin typeface="Arial" pitchFamily="34" charset="0"/>
                <a:ea typeface="Arial" pitchFamily="34" charset="-122"/>
                <a:cs typeface="Arial" pitchFamily="34" charset="-120"/>
              </a:rPr>
              <a:t>Today a developer hands the agent a private key or a custodial wallet: the agent, and anyone who can fool it, can move the whole balance.</a:t>
            </a:r>
            <a:endParaRPr lang="en-US" sz="1400" dirty="0"/>
          </a:p>
        </p:txBody>
      </p:sp>
      <p:sp>
        <p:nvSpPr>
          <p:cNvPr id="23" name="Text 18"/>
          <p:cNvSpPr txBox="1"/>
          <p:nvPr/>
        </p:nvSpPr>
        <p:spPr>
          <a:xfrm>
            <a:off x="548640" y="4434840"/>
            <a:ext cx="5486400" cy="201168"/>
          </a:xfrm>
          <a:prstGeom prst="rect">
            <a:avLst/>
          </a:prstGeom>
          <a:noFill/>
          <a:ln/>
        </p:spPr>
        <p:txBody>
          <a:bodyPr wrap="square" lIns="0" tIns="0" rIns="0" bIns="0" rtlCol="0" anchor="t"/>
          <a:lstStyle/>
          <a:p>
            <a:pPr algn="l" indent="0" marL="0">
              <a:buNone/>
            </a:pPr>
            <a:r>
              <a:rPr lang="en-US" sz="900" dirty="0">
                <a:solidFill>
                  <a:srgbClr val="535C6B"/>
                </a:solidFill>
                <a:latin typeface="Arial" pitchFamily="34" charset="0"/>
                <a:ea typeface="Arial" pitchFamily="34" charset="-122"/>
                <a:cs typeface="Arial" pitchFamily="34" charset="-120"/>
              </a:rPr>
              <a:t>Source: OECD.AI incident report, May 4, 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754880"/>
            <a:ext cx="1828800" cy="201168"/>
          </a:xfrm>
          <a:prstGeom prst="rect">
            <a:avLst/>
          </a:prstGeom>
          <a:noFill/>
          <a:ln/>
        </p:spPr>
        <p:txBody>
          <a:bodyPr wrap="square" lIns="0" tIns="0" rIns="0" bIns="0" rtlCol="0" anchor="t"/>
          <a:lstStyle/>
          <a:p>
            <a:pPr algn="l" indent="0" marL="0">
              <a:buNone/>
            </a:pPr>
            <a:r>
              <a:rPr lang="en-US" sz="900" dirty="0">
                <a:solidFill>
                  <a:srgbClr val="535C6B"/>
                </a:solidFill>
                <a:latin typeface="Arial" pitchFamily="34" charset="0"/>
                <a:ea typeface="Arial" pitchFamily="34" charset="-122"/>
                <a:cs typeface="Arial" pitchFamily="34" charset="-120"/>
              </a:rPr>
              <a:t>Leash</a:t>
            </a:r>
            <a:endParaRPr lang="en-US" sz="900" dirty="0"/>
          </a:p>
        </p:txBody>
      </p:sp>
      <p:sp>
        <p:nvSpPr>
          <p:cNvPr id="3" name="Text 1"/>
          <p:cNvSpPr txBox="1"/>
          <p:nvPr/>
        </p:nvSpPr>
        <p:spPr>
          <a:xfrm>
            <a:off x="8138160" y="4754880"/>
            <a:ext cx="457200" cy="201168"/>
          </a:xfrm>
          <a:prstGeom prst="rect">
            <a:avLst/>
          </a:prstGeom>
          <a:noFill/>
          <a:ln/>
        </p:spPr>
        <p:txBody>
          <a:bodyPr wrap="square" lIns="0" tIns="0" rIns="0" bIns="0" rtlCol="0" anchor="t"/>
          <a:lstStyle/>
          <a:p>
            <a:pPr algn="r" indent="0" marL="0">
              <a:buNone/>
            </a:pPr>
            <a:r>
              <a:rPr lang="en-US" sz="900" dirty="0">
                <a:solidFill>
                  <a:srgbClr val="535C6B"/>
                </a:solidFill>
                <a:latin typeface="Arial" pitchFamily="34" charset="0"/>
                <a:ea typeface="Arial" pitchFamily="34" charset="-122"/>
                <a:cs typeface="Arial" pitchFamily="34" charset="-120"/>
              </a:rPr>
              <a:t>3</a:t>
            </a:r>
            <a:endParaRPr lang="en-US" sz="900" dirty="0"/>
          </a:p>
        </p:txBody>
      </p:sp>
      <p:sp>
        <p:nvSpPr>
          <p:cNvPr id="4" name="Text 2"/>
          <p:cNvSpPr txBox="1"/>
          <p:nvPr/>
        </p:nvSpPr>
        <p:spPr>
          <a:xfrm>
            <a:off x="548640" y="384048"/>
            <a:ext cx="8046720" cy="548640"/>
          </a:xfrm>
          <a:prstGeom prst="rect">
            <a:avLst/>
          </a:prstGeom>
          <a:noFill/>
          <a:ln/>
        </p:spPr>
        <p:txBody>
          <a:bodyPr wrap="square" lIns="0" tIns="0" rIns="0" bIns="0" rtlCol="0" anchor="ctr"/>
          <a:lstStyle/>
          <a:p>
            <a:pPr algn="l" indent="0" marL="0">
              <a:buNone/>
            </a:pPr>
            <a:r>
              <a:rPr lang="en-US" sz="3000" b="1" dirty="0">
                <a:solidFill>
                  <a:srgbClr val="0F1419"/>
                </a:solidFill>
                <a:latin typeface="Arial" pitchFamily="34" charset="0"/>
                <a:ea typeface="Arial" pitchFamily="34" charset="-122"/>
                <a:cs typeface="Arial" pitchFamily="34" charset="-120"/>
              </a:rPr>
              <a:t>Agents already pay, on Solana</a:t>
            </a:r>
            <a:endParaRPr lang="en-US" sz="3000" dirty="0"/>
          </a:p>
        </p:txBody>
      </p:sp>
      <p:sp>
        <p:nvSpPr>
          <p:cNvPr id="5" name="Text 3"/>
          <p:cNvSpPr txBox="1"/>
          <p:nvPr/>
        </p:nvSpPr>
        <p:spPr>
          <a:xfrm>
            <a:off x="548640" y="1051560"/>
            <a:ext cx="3931920" cy="777240"/>
          </a:xfrm>
          <a:prstGeom prst="rect">
            <a:avLst/>
          </a:prstGeom>
          <a:noFill/>
          <a:ln/>
        </p:spPr>
        <p:txBody>
          <a:bodyPr wrap="square" lIns="0" tIns="0" rIns="0" bIns="0" rtlCol="0" anchor="ctr"/>
          <a:lstStyle/>
          <a:p>
            <a:pPr algn="l" indent="0" marL="0">
              <a:buNone/>
            </a:pPr>
            <a:r>
              <a:rPr lang="en-US" sz="5400" b="1" dirty="0">
                <a:solidFill>
                  <a:srgbClr val="6D28D9"/>
                </a:solidFill>
                <a:latin typeface="Arial" pitchFamily="34" charset="0"/>
                <a:ea typeface="Arial" pitchFamily="34" charset="-122"/>
                <a:cs typeface="Arial" pitchFamily="34" charset="-120"/>
              </a:rPr>
              <a:t>23.2M</a:t>
            </a:r>
            <a:endParaRPr lang="en-US" sz="5400" dirty="0"/>
          </a:p>
        </p:txBody>
      </p:sp>
      <p:sp>
        <p:nvSpPr>
          <p:cNvPr id="6" name="Text 4"/>
          <p:cNvSpPr txBox="1"/>
          <p:nvPr/>
        </p:nvSpPr>
        <p:spPr>
          <a:xfrm>
            <a:off x="548640" y="1828800"/>
            <a:ext cx="3657600" cy="457200"/>
          </a:xfrm>
          <a:prstGeom prst="rect">
            <a:avLst/>
          </a:prstGeom>
          <a:noFill/>
          <a:ln/>
        </p:spPr>
        <p:txBody>
          <a:bodyPr wrap="square" lIns="0" tIns="0" rIns="0" bIns="0" rtlCol="0" anchor="t"/>
          <a:lstStyle/>
          <a:p>
            <a:pPr algn="l" indent="0" marL="0">
              <a:buNone/>
            </a:pPr>
            <a:r>
              <a:rPr lang="en-US" sz="1300" dirty="0">
                <a:solidFill>
                  <a:srgbClr val="535C6B"/>
                </a:solidFill>
                <a:latin typeface="Arial" pitchFamily="34" charset="0"/>
                <a:ea typeface="Arial" pitchFamily="34" charset="-122"/>
                <a:cs typeface="Arial" pitchFamily="34" charset="-120"/>
              </a:rPr>
              <a:t>x402 agent payments on Solana in the four weeks to Sept 22, 2026</a:t>
            </a:r>
            <a:endParaRPr lang="en-US" sz="1300" dirty="0"/>
          </a:p>
        </p:txBody>
      </p:sp>
      <p:sp>
        <p:nvSpPr>
          <p:cNvPr id="7" name="Text 5"/>
          <p:cNvSpPr txBox="1"/>
          <p:nvPr/>
        </p:nvSpPr>
        <p:spPr>
          <a:xfrm>
            <a:off x="548640" y="2468880"/>
            <a:ext cx="3931920" cy="777240"/>
          </a:xfrm>
          <a:prstGeom prst="rect">
            <a:avLst/>
          </a:prstGeom>
          <a:noFill/>
          <a:ln/>
        </p:spPr>
        <p:txBody>
          <a:bodyPr wrap="square" lIns="0" tIns="0" rIns="0" bIns="0" rtlCol="0" anchor="ctr"/>
          <a:lstStyle/>
          <a:p>
            <a:pPr algn="l" indent="0" marL="0">
              <a:buNone/>
            </a:pPr>
            <a:r>
              <a:rPr lang="en-US" sz="5400" b="1" dirty="0">
                <a:solidFill>
                  <a:srgbClr val="6D28D9"/>
                </a:solidFill>
                <a:latin typeface="Arial" pitchFamily="34" charset="0"/>
                <a:ea typeface="Arial" pitchFamily="34" charset="-122"/>
                <a:cs typeface="Arial" pitchFamily="34" charset="-120"/>
              </a:rPr>
              <a:t>76%</a:t>
            </a:r>
            <a:endParaRPr lang="en-US" sz="5400" dirty="0"/>
          </a:p>
        </p:txBody>
      </p:sp>
      <p:sp>
        <p:nvSpPr>
          <p:cNvPr id="8" name="Text 6"/>
          <p:cNvSpPr txBox="1"/>
          <p:nvPr/>
        </p:nvSpPr>
        <p:spPr>
          <a:xfrm>
            <a:off x="548640" y="3246120"/>
            <a:ext cx="3657600" cy="274320"/>
          </a:xfrm>
          <a:prstGeom prst="rect">
            <a:avLst/>
          </a:prstGeom>
          <a:noFill/>
          <a:ln/>
        </p:spPr>
        <p:txBody>
          <a:bodyPr wrap="square" lIns="0" tIns="0" rIns="0" bIns="0" rtlCol="0" anchor="t"/>
          <a:lstStyle/>
          <a:p>
            <a:pPr algn="l" indent="0" marL="0">
              <a:buNone/>
            </a:pPr>
            <a:r>
              <a:rPr lang="en-US" sz="1300" dirty="0">
                <a:solidFill>
                  <a:srgbClr val="535C6B"/>
                </a:solidFill>
                <a:latin typeface="Arial" pitchFamily="34" charset="0"/>
                <a:ea typeface="Arial" pitchFamily="34" charset="-122"/>
                <a:cs typeface="Arial" pitchFamily="34" charset="-120"/>
              </a:rPr>
              <a:t>of all x402 agent payments</a:t>
            </a:r>
            <a:endParaRPr lang="en-US" sz="1300" dirty="0"/>
          </a:p>
        </p:txBody>
      </p:sp>
      <p:sp>
        <p:nvSpPr>
          <p:cNvPr id="9" name="Shape 7"/>
          <p:cNvSpPr/>
          <p:nvPr/>
        </p:nvSpPr>
        <p:spPr>
          <a:xfrm>
            <a:off x="4754880" y="1097280"/>
            <a:ext cx="3840480" cy="3017520"/>
          </a:xfrm>
          <a:prstGeom prst="roundRect">
            <a:avLst>
              <a:gd name="adj" fmla="val 2424"/>
            </a:avLst>
          </a:prstGeom>
          <a:solidFill>
            <a:srgbClr val="FFFFFF"/>
          </a:solidFill>
          <a:ln w="9525">
            <a:solidFill>
              <a:srgbClr val="DFE3EA"/>
            </a:solidFill>
            <a:prstDash val="solid"/>
          </a:ln>
          <a:effectLst>
            <a:outerShdw sx="100000" sy="100000" kx="0" ky="0" algn="bl" rotWithShape="0" blurRad="50800" dist="12700" dir="5400000">
              <a:srgbClr val="000000">
                <a:alpha val="8000"/>
              </a:srgbClr>
            </a:outerShdw>
          </a:effectLst>
        </p:spPr>
      </p:sp>
      <p:sp>
        <p:nvSpPr>
          <p:cNvPr id="10" name="Text 8"/>
          <p:cNvSpPr txBox="1"/>
          <p:nvPr/>
        </p:nvSpPr>
        <p:spPr>
          <a:xfrm>
            <a:off x="5029200" y="1325880"/>
            <a:ext cx="3291840" cy="274320"/>
          </a:xfrm>
          <a:prstGeom prst="rect">
            <a:avLst/>
          </a:prstGeom>
          <a:noFill/>
          <a:ln/>
        </p:spPr>
        <p:txBody>
          <a:bodyPr wrap="square" lIns="0" tIns="0" rIns="0" bIns="0" rtlCol="0" anchor="t"/>
          <a:lstStyle/>
          <a:p>
            <a:pPr algn="l" indent="0" marL="0">
              <a:buNone/>
            </a:pPr>
            <a:r>
              <a:rPr lang="en-US" sz="1200" b="1" dirty="0">
                <a:solidFill>
                  <a:srgbClr val="6D28D9"/>
                </a:solidFill>
                <a:latin typeface="Arial" pitchFamily="34" charset="0"/>
                <a:ea typeface="Arial" pitchFamily="34" charset="-122"/>
                <a:cs typeface="Arial" pitchFamily="34" charset="-120"/>
              </a:rPr>
              <a:t>June 2026</a:t>
            </a:r>
            <a:endParaRPr lang="en-US" sz="1200" dirty="0"/>
          </a:p>
        </p:txBody>
      </p:sp>
      <p:sp>
        <p:nvSpPr>
          <p:cNvPr id="11" name="Text 9"/>
          <p:cNvSpPr txBox="1"/>
          <p:nvPr/>
        </p:nvSpPr>
        <p:spPr>
          <a:xfrm>
            <a:off x="5029200" y="1645920"/>
            <a:ext cx="3291840" cy="640080"/>
          </a:xfrm>
          <a:prstGeom prst="rect">
            <a:avLst/>
          </a:prstGeom>
          <a:noFill/>
          <a:ln/>
        </p:spPr>
        <p:txBody>
          <a:bodyPr wrap="square" lIns="0" tIns="0" rIns="0" bIns="0" rtlCol="0" anchor="t"/>
          <a:lstStyle/>
          <a:p>
            <a:pPr algn="l" indent="0" marL="0">
              <a:buNone/>
            </a:pPr>
            <a:r>
              <a:rPr lang="en-US" sz="1500" b="1" dirty="0">
                <a:solidFill>
                  <a:srgbClr val="0F1419"/>
                </a:solidFill>
                <a:latin typeface="Arial" pitchFamily="34" charset="0"/>
                <a:ea typeface="Arial" pitchFamily="34" charset="-122"/>
                <a:cs typeface="Arial" pitchFamily="34" charset="-120"/>
              </a:rPr>
              <a:t>The Solana Foundation shipped an audited Allowances program.</a:t>
            </a:r>
            <a:endParaRPr lang="en-US" sz="1500" dirty="0"/>
          </a:p>
        </p:txBody>
      </p:sp>
      <p:sp>
        <p:nvSpPr>
          <p:cNvPr id="12" name="Text 10"/>
          <p:cNvSpPr txBox="1"/>
          <p:nvPr/>
        </p:nvSpPr>
        <p:spPr>
          <a:xfrm>
            <a:off x="5029200" y="2514600"/>
            <a:ext cx="1965960" cy="329184"/>
          </a:xfrm>
          <a:prstGeom prst="rect">
            <a:avLst/>
          </a:prstGeom>
          <a:noFill/>
          <a:ln/>
        </p:spPr>
        <p:txBody>
          <a:bodyPr wrap="square" lIns="0" tIns="0" rIns="0" bIns="0" rtlCol="0" anchor="ctr"/>
          <a:lstStyle/>
          <a:p>
            <a:pPr algn="l" indent="0" marL="0">
              <a:buNone/>
            </a:pPr>
            <a:r>
              <a:rPr lang="en-US" sz="1200" dirty="0">
                <a:solidFill>
                  <a:srgbClr val="0F1419"/>
                </a:solidFill>
                <a:latin typeface="Arial" pitchFamily="34" charset="0"/>
                <a:ea typeface="Arial" pitchFamily="34" charset="-122"/>
                <a:cs typeface="Arial" pitchFamily="34" charset="-120"/>
              </a:rPr>
              <a:t>How much may it spend?</a:t>
            </a:r>
            <a:endParaRPr lang="en-US" sz="1200" dirty="0"/>
          </a:p>
        </p:txBody>
      </p:sp>
      <p:sp>
        <p:nvSpPr>
          <p:cNvPr id="13" name="Shape 11"/>
          <p:cNvSpPr/>
          <p:nvPr/>
        </p:nvSpPr>
        <p:spPr>
          <a:xfrm>
            <a:off x="6995160" y="2514600"/>
            <a:ext cx="1371600" cy="329184"/>
          </a:xfrm>
          <a:prstGeom prst="roundRect">
            <a:avLst>
              <a:gd name="adj" fmla="val 277778"/>
            </a:avLst>
          </a:prstGeom>
          <a:solidFill>
            <a:srgbClr val="E6F2EE"/>
          </a:solidFill>
          <a:ln/>
        </p:spPr>
      </p:sp>
      <p:pic>
        <p:nvPicPr>
          <p:cNvPr id="14" name="Image 0" descr="preencoded.png">    </p:cNvPr>
          <p:cNvPicPr>
            <a:picLocks noChangeAspect="1"/>
          </p:cNvPicPr>
          <p:nvPr/>
        </p:nvPicPr>
        <p:blipFill>
          <a:blip r:embed="rId1"/>
          <a:stretch>
            <a:fillRect/>
          </a:stretch>
        </p:blipFill>
        <p:spPr>
          <a:xfrm>
            <a:off x="7100499" y="2587020"/>
            <a:ext cx="184343" cy="184343"/>
          </a:xfrm>
          <a:prstGeom prst="rect">
            <a:avLst/>
          </a:prstGeom>
        </p:spPr>
      </p:pic>
      <p:sp>
        <p:nvSpPr>
          <p:cNvPr id="15" name="Text 12"/>
          <p:cNvSpPr txBox="1"/>
          <p:nvPr/>
        </p:nvSpPr>
        <p:spPr>
          <a:xfrm>
            <a:off x="7339706" y="2514600"/>
            <a:ext cx="972190" cy="329184"/>
          </a:xfrm>
          <a:prstGeom prst="rect">
            <a:avLst/>
          </a:prstGeom>
          <a:noFill/>
          <a:ln/>
        </p:spPr>
        <p:txBody>
          <a:bodyPr wrap="square" lIns="0" tIns="0" rIns="0" bIns="0" rtlCol="0" anchor="ctr"/>
          <a:lstStyle/>
          <a:p>
            <a:pPr algn="l" indent="0" marL="0">
              <a:buNone/>
            </a:pPr>
            <a:r>
              <a:rPr lang="en-US" sz="1050" b="1" dirty="0">
                <a:solidFill>
                  <a:srgbClr val="047857"/>
                </a:solidFill>
                <a:latin typeface="Arial" pitchFamily="34" charset="0"/>
                <a:ea typeface="Arial" pitchFamily="34" charset="-122"/>
                <a:cs typeface="Arial" pitchFamily="34" charset="-120"/>
              </a:rPr>
              <a:t>Allowances</a:t>
            </a:r>
            <a:endParaRPr lang="en-US" sz="1050" dirty="0"/>
          </a:p>
        </p:txBody>
      </p:sp>
      <p:sp>
        <p:nvSpPr>
          <p:cNvPr id="16" name="Text 13"/>
          <p:cNvSpPr txBox="1"/>
          <p:nvPr/>
        </p:nvSpPr>
        <p:spPr>
          <a:xfrm>
            <a:off x="5029200" y="2971800"/>
            <a:ext cx="1965960" cy="329184"/>
          </a:xfrm>
          <a:prstGeom prst="rect">
            <a:avLst/>
          </a:prstGeom>
          <a:noFill/>
          <a:ln/>
        </p:spPr>
        <p:txBody>
          <a:bodyPr wrap="square" lIns="0" tIns="0" rIns="0" bIns="0" rtlCol="0" anchor="ctr"/>
          <a:lstStyle/>
          <a:p>
            <a:pPr algn="l" indent="0" marL="0">
              <a:buNone/>
            </a:pPr>
            <a:r>
              <a:rPr lang="en-US" sz="1200" dirty="0">
                <a:solidFill>
                  <a:srgbClr val="0F1419"/>
                </a:solidFill>
                <a:latin typeface="Arial" pitchFamily="34" charset="0"/>
                <a:ea typeface="Arial" pitchFamily="34" charset="-122"/>
                <a:cs typeface="Arial" pitchFamily="34" charset="-120"/>
              </a:rPr>
              <a:t>Who may it pay?</a:t>
            </a:r>
            <a:endParaRPr lang="en-US" sz="1200" dirty="0"/>
          </a:p>
        </p:txBody>
      </p:sp>
      <p:sp>
        <p:nvSpPr>
          <p:cNvPr id="17" name="Shape 14"/>
          <p:cNvSpPr/>
          <p:nvPr/>
        </p:nvSpPr>
        <p:spPr>
          <a:xfrm>
            <a:off x="6995160" y="2971800"/>
            <a:ext cx="1371600" cy="329184"/>
          </a:xfrm>
          <a:prstGeom prst="roundRect">
            <a:avLst>
              <a:gd name="adj" fmla="val 277778"/>
            </a:avLst>
          </a:prstGeom>
          <a:solidFill>
            <a:srgbClr val="F8E8E8"/>
          </a:solidFill>
          <a:ln/>
        </p:spPr>
      </p:sp>
      <p:pic>
        <p:nvPicPr>
          <p:cNvPr id="18" name="Image 1" descr="preencoded.png">    </p:cNvPr>
          <p:cNvPicPr>
            <a:picLocks noChangeAspect="1"/>
          </p:cNvPicPr>
          <p:nvPr/>
        </p:nvPicPr>
        <p:blipFill>
          <a:blip r:embed="rId2"/>
          <a:stretch>
            <a:fillRect/>
          </a:stretch>
        </p:blipFill>
        <p:spPr>
          <a:xfrm>
            <a:off x="7100499" y="3044220"/>
            <a:ext cx="184343" cy="184343"/>
          </a:xfrm>
          <a:prstGeom prst="rect">
            <a:avLst/>
          </a:prstGeom>
        </p:spPr>
      </p:pic>
      <p:sp>
        <p:nvSpPr>
          <p:cNvPr id="19" name="Text 15"/>
          <p:cNvSpPr txBox="1"/>
          <p:nvPr/>
        </p:nvSpPr>
        <p:spPr>
          <a:xfrm>
            <a:off x="7339706" y="2971800"/>
            <a:ext cx="972190" cy="329184"/>
          </a:xfrm>
          <a:prstGeom prst="rect">
            <a:avLst/>
          </a:prstGeom>
          <a:noFill/>
          <a:ln/>
        </p:spPr>
        <p:txBody>
          <a:bodyPr wrap="square" lIns="0" tIns="0" rIns="0" bIns="0" rtlCol="0" anchor="ctr"/>
          <a:lstStyle/>
          <a:p>
            <a:pPr algn="l" indent="0" marL="0">
              <a:buNone/>
            </a:pPr>
            <a:r>
              <a:rPr lang="en-US" sz="1050" b="1" dirty="0">
                <a:solidFill>
                  <a:srgbClr val="B91C1C"/>
                </a:solidFill>
                <a:latin typeface="Arial" pitchFamily="34" charset="0"/>
                <a:ea typeface="Arial" pitchFamily="34" charset="-122"/>
                <a:cs typeface="Arial" pitchFamily="34" charset="-120"/>
              </a:rPr>
              <a:t>Not decided</a:t>
            </a:r>
            <a:endParaRPr lang="en-US" sz="1050" dirty="0"/>
          </a:p>
        </p:txBody>
      </p:sp>
      <p:sp>
        <p:nvSpPr>
          <p:cNvPr id="20" name="Text 16"/>
          <p:cNvSpPr txBox="1"/>
          <p:nvPr/>
        </p:nvSpPr>
        <p:spPr>
          <a:xfrm>
            <a:off x="5029200" y="3520440"/>
            <a:ext cx="3291840" cy="320040"/>
          </a:xfrm>
          <a:prstGeom prst="rect">
            <a:avLst/>
          </a:prstGeom>
          <a:noFill/>
          <a:ln/>
        </p:spPr>
        <p:txBody>
          <a:bodyPr wrap="square" lIns="0" tIns="0" rIns="0" bIns="0" rtlCol="0" anchor="t"/>
          <a:lstStyle/>
          <a:p>
            <a:pPr algn="l" indent="0" marL="0">
              <a:buNone/>
            </a:pPr>
            <a:r>
              <a:rPr lang="en-US" sz="1400" b="1" dirty="0">
                <a:solidFill>
                  <a:srgbClr val="6D28D9"/>
                </a:solidFill>
                <a:latin typeface="Arial" pitchFamily="34" charset="0"/>
                <a:ea typeface="Arial" pitchFamily="34" charset="-122"/>
                <a:cs typeface="Arial" pitchFamily="34" charset="-120"/>
              </a:rPr>
              <a:t>Leash fills that gap.</a:t>
            </a:r>
            <a:endParaRPr lang="en-US" sz="1400" dirty="0"/>
          </a:p>
        </p:txBody>
      </p:sp>
      <p:sp>
        <p:nvSpPr>
          <p:cNvPr id="21" name="Text 17"/>
          <p:cNvSpPr txBox="1"/>
          <p:nvPr/>
        </p:nvSpPr>
        <p:spPr>
          <a:xfrm>
            <a:off x="548640" y="4434840"/>
            <a:ext cx="7315200" cy="201168"/>
          </a:xfrm>
          <a:prstGeom prst="rect">
            <a:avLst/>
          </a:prstGeom>
          <a:noFill/>
          <a:ln/>
        </p:spPr>
        <p:txBody>
          <a:bodyPr wrap="square" lIns="0" tIns="0" rIns="0" bIns="0" rtlCol="0" anchor="t"/>
          <a:lstStyle/>
          <a:p>
            <a:pPr algn="l" indent="0" marL="0">
              <a:buNone/>
            </a:pPr>
            <a:r>
              <a:rPr lang="en-US" sz="900" dirty="0">
                <a:solidFill>
                  <a:srgbClr val="535C6B"/>
                </a:solidFill>
                <a:latin typeface="Arial" pitchFamily="34" charset="0"/>
                <a:ea typeface="Arial" pitchFamily="34" charset="-122"/>
                <a:cs typeface="Arial" pitchFamily="34" charset="-120"/>
              </a:rPr>
              <a:t>Sources: Solana Compass; the Solana Foundation's Subscriptions &amp; Allowances program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754880"/>
            <a:ext cx="1828800" cy="201168"/>
          </a:xfrm>
          <a:prstGeom prst="rect">
            <a:avLst/>
          </a:prstGeom>
          <a:noFill/>
          <a:ln/>
        </p:spPr>
        <p:txBody>
          <a:bodyPr wrap="square" lIns="0" tIns="0" rIns="0" bIns="0" rtlCol="0" anchor="t"/>
          <a:lstStyle/>
          <a:p>
            <a:pPr algn="l" indent="0" marL="0">
              <a:buNone/>
            </a:pPr>
            <a:r>
              <a:rPr lang="en-US" sz="900" dirty="0">
                <a:solidFill>
                  <a:srgbClr val="535C6B"/>
                </a:solidFill>
                <a:latin typeface="Arial" pitchFamily="34" charset="0"/>
                <a:ea typeface="Arial" pitchFamily="34" charset="-122"/>
                <a:cs typeface="Arial" pitchFamily="34" charset="-120"/>
              </a:rPr>
              <a:t>Leash</a:t>
            </a:r>
            <a:endParaRPr lang="en-US" sz="900" dirty="0"/>
          </a:p>
        </p:txBody>
      </p:sp>
      <p:sp>
        <p:nvSpPr>
          <p:cNvPr id="3" name="Text 1"/>
          <p:cNvSpPr txBox="1"/>
          <p:nvPr/>
        </p:nvSpPr>
        <p:spPr>
          <a:xfrm>
            <a:off x="8138160" y="4754880"/>
            <a:ext cx="457200" cy="201168"/>
          </a:xfrm>
          <a:prstGeom prst="rect">
            <a:avLst/>
          </a:prstGeom>
          <a:noFill/>
          <a:ln/>
        </p:spPr>
        <p:txBody>
          <a:bodyPr wrap="square" lIns="0" tIns="0" rIns="0" bIns="0" rtlCol="0" anchor="t"/>
          <a:lstStyle/>
          <a:p>
            <a:pPr algn="r" indent="0" marL="0">
              <a:buNone/>
            </a:pPr>
            <a:r>
              <a:rPr lang="en-US" sz="900" dirty="0">
                <a:solidFill>
                  <a:srgbClr val="535C6B"/>
                </a:solidFill>
                <a:latin typeface="Arial" pitchFamily="34" charset="0"/>
                <a:ea typeface="Arial" pitchFamily="34" charset="-122"/>
                <a:cs typeface="Arial" pitchFamily="34" charset="-120"/>
              </a:rPr>
              <a:t>4</a:t>
            </a:r>
            <a:endParaRPr lang="en-US" sz="900" dirty="0"/>
          </a:p>
        </p:txBody>
      </p:sp>
      <p:sp>
        <p:nvSpPr>
          <p:cNvPr id="4" name="Text 2"/>
          <p:cNvSpPr txBox="1"/>
          <p:nvPr/>
        </p:nvSpPr>
        <p:spPr>
          <a:xfrm>
            <a:off x="548640" y="384048"/>
            <a:ext cx="8046720" cy="548640"/>
          </a:xfrm>
          <a:prstGeom prst="rect">
            <a:avLst/>
          </a:prstGeom>
          <a:noFill/>
          <a:ln/>
        </p:spPr>
        <p:txBody>
          <a:bodyPr wrap="square" lIns="0" tIns="0" rIns="0" bIns="0" rtlCol="0" anchor="ctr"/>
          <a:lstStyle/>
          <a:p>
            <a:pPr algn="l" indent="0" marL="0">
              <a:buNone/>
            </a:pPr>
            <a:r>
              <a:rPr lang="en-US" sz="3000" b="1" dirty="0">
                <a:solidFill>
                  <a:srgbClr val="0F1419"/>
                </a:solidFill>
                <a:latin typeface="Arial" pitchFamily="34" charset="0"/>
                <a:ea typeface="Arial" pitchFamily="34" charset="-122"/>
                <a:cs typeface="Arial" pitchFamily="34" charset="-120"/>
              </a:rPr>
              <a:t>A firewall between agent and money</a:t>
            </a:r>
            <a:endParaRPr lang="en-US" sz="3000" dirty="0"/>
          </a:p>
        </p:txBody>
      </p:sp>
      <p:sp>
        <p:nvSpPr>
          <p:cNvPr id="5" name="Shape 3"/>
          <p:cNvSpPr/>
          <p:nvPr/>
        </p:nvSpPr>
        <p:spPr>
          <a:xfrm>
            <a:off x="548640" y="1097280"/>
            <a:ext cx="1463040" cy="2103120"/>
          </a:xfrm>
          <a:prstGeom prst="roundRect">
            <a:avLst>
              <a:gd name="adj" fmla="val 5000"/>
            </a:avLst>
          </a:prstGeom>
          <a:solidFill>
            <a:srgbClr val="FFFFFF"/>
          </a:solidFill>
          <a:ln w="9525">
            <a:solidFill>
              <a:srgbClr val="DFE3EA"/>
            </a:solidFill>
            <a:prstDash val="solid"/>
          </a:ln>
          <a:effectLst>
            <a:outerShdw sx="100000" sy="100000" kx="0" ky="0" algn="bl" rotWithShape="0" blurRad="50800" dist="12700" dir="5400000">
              <a:srgbClr val="000000">
                <a:alpha val="8000"/>
              </a:srgbClr>
            </a:outerShdw>
          </a:effectLst>
        </p:spPr>
      </p:sp>
      <p:sp>
        <p:nvSpPr>
          <p:cNvPr id="6" name="Shape 4"/>
          <p:cNvSpPr/>
          <p:nvPr/>
        </p:nvSpPr>
        <p:spPr>
          <a:xfrm>
            <a:off x="731520" y="1280160"/>
            <a:ext cx="502920" cy="502920"/>
          </a:xfrm>
          <a:prstGeom prst="ellipse">
            <a:avLst/>
          </a:prstGeom>
          <a:solidFill>
            <a:srgbClr val="F0E9FB"/>
          </a:solidFill>
          <a:ln/>
        </p:spPr>
      </p:sp>
      <p:pic>
        <p:nvPicPr>
          <p:cNvPr id="7" name="Image 0" descr="preencoded.png">    </p:cNvPr>
          <p:cNvPicPr>
            <a:picLocks noChangeAspect="1"/>
          </p:cNvPicPr>
          <p:nvPr/>
        </p:nvPicPr>
        <p:blipFill>
          <a:blip r:embed="rId1"/>
          <a:stretch>
            <a:fillRect/>
          </a:stretch>
        </p:blipFill>
        <p:spPr>
          <a:xfrm>
            <a:off x="852221" y="1400861"/>
            <a:ext cx="261518" cy="261518"/>
          </a:xfrm>
          <a:prstGeom prst="rect">
            <a:avLst/>
          </a:prstGeom>
        </p:spPr>
      </p:pic>
      <p:sp>
        <p:nvSpPr>
          <p:cNvPr id="8" name="Text 5"/>
          <p:cNvSpPr txBox="1"/>
          <p:nvPr/>
        </p:nvSpPr>
        <p:spPr>
          <a:xfrm>
            <a:off x="731520" y="1892808"/>
            <a:ext cx="1143000" cy="274320"/>
          </a:xfrm>
          <a:prstGeom prst="rect">
            <a:avLst/>
          </a:prstGeom>
          <a:noFill/>
          <a:ln/>
        </p:spPr>
        <p:txBody>
          <a:bodyPr wrap="square" lIns="0" tIns="0" rIns="0" bIns="0" rtlCol="0" anchor="t"/>
          <a:lstStyle/>
          <a:p>
            <a:pPr algn="l" indent="0" marL="0">
              <a:buNone/>
            </a:pPr>
            <a:r>
              <a:rPr lang="en-US" sz="1400" b="1" dirty="0">
                <a:solidFill>
                  <a:srgbClr val="0F1419"/>
                </a:solidFill>
                <a:latin typeface="Arial" pitchFamily="34" charset="0"/>
                <a:ea typeface="Arial" pitchFamily="34" charset="-122"/>
                <a:cs typeface="Arial" pitchFamily="34" charset="-120"/>
              </a:rPr>
              <a:t>Allowlist</a:t>
            </a:r>
            <a:endParaRPr lang="en-US" sz="1400" dirty="0"/>
          </a:p>
        </p:txBody>
      </p:sp>
      <p:sp>
        <p:nvSpPr>
          <p:cNvPr id="9" name="Text 6"/>
          <p:cNvSpPr txBox="1"/>
          <p:nvPr/>
        </p:nvSpPr>
        <p:spPr>
          <a:xfrm>
            <a:off x="731520" y="2212848"/>
            <a:ext cx="1143000" cy="914400"/>
          </a:xfrm>
          <a:prstGeom prst="rect">
            <a:avLst/>
          </a:prstGeom>
          <a:noFill/>
          <a:ln/>
        </p:spPr>
        <p:txBody>
          <a:bodyPr wrap="square" lIns="0" tIns="0" rIns="0" bIns="0" rtlCol="0" anchor="t"/>
          <a:lstStyle/>
          <a:p>
            <a:pPr algn="l" indent="0" marL="0">
              <a:buNone/>
            </a:pPr>
            <a:r>
              <a:rPr lang="en-US" sz="1100" dirty="0">
                <a:solidFill>
                  <a:srgbClr val="535C6B"/>
                </a:solidFill>
                <a:latin typeface="Arial" pitchFamily="34" charset="0"/>
                <a:ea typeface="Arial" pitchFamily="34" charset="-122"/>
                <a:cs typeface="Arial" pitchFamily="34" charset="-120"/>
              </a:rPr>
              <a:t>Pays only payees you approved.</a:t>
            </a:r>
            <a:endParaRPr lang="en-US" sz="1100" dirty="0"/>
          </a:p>
        </p:txBody>
      </p:sp>
      <p:sp>
        <p:nvSpPr>
          <p:cNvPr id="10" name="Shape 7"/>
          <p:cNvSpPr/>
          <p:nvPr/>
        </p:nvSpPr>
        <p:spPr>
          <a:xfrm>
            <a:off x="2194560" y="1097280"/>
            <a:ext cx="1463040" cy="2103120"/>
          </a:xfrm>
          <a:prstGeom prst="roundRect">
            <a:avLst>
              <a:gd name="adj" fmla="val 5000"/>
            </a:avLst>
          </a:prstGeom>
          <a:solidFill>
            <a:srgbClr val="FFFFFF"/>
          </a:solidFill>
          <a:ln w="9525">
            <a:solidFill>
              <a:srgbClr val="DFE3EA"/>
            </a:solidFill>
            <a:prstDash val="solid"/>
          </a:ln>
          <a:effectLst>
            <a:outerShdw sx="100000" sy="100000" kx="0" ky="0" algn="bl" rotWithShape="0" blurRad="50800" dist="12700" dir="5400000">
              <a:srgbClr val="000000">
                <a:alpha val="8000"/>
              </a:srgbClr>
            </a:outerShdw>
          </a:effectLst>
        </p:spPr>
      </p:sp>
      <p:sp>
        <p:nvSpPr>
          <p:cNvPr id="11" name="Shape 8"/>
          <p:cNvSpPr/>
          <p:nvPr/>
        </p:nvSpPr>
        <p:spPr>
          <a:xfrm>
            <a:off x="2377440" y="1280160"/>
            <a:ext cx="502920" cy="502920"/>
          </a:xfrm>
          <a:prstGeom prst="ellipse">
            <a:avLst/>
          </a:prstGeom>
          <a:solidFill>
            <a:srgbClr val="E6F2EE"/>
          </a:solidFill>
          <a:ln/>
        </p:spPr>
      </p:sp>
      <p:pic>
        <p:nvPicPr>
          <p:cNvPr id="12" name="Image 1" descr="preencoded.png">    </p:cNvPr>
          <p:cNvPicPr>
            <a:picLocks noChangeAspect="1"/>
          </p:cNvPicPr>
          <p:nvPr/>
        </p:nvPicPr>
        <p:blipFill>
          <a:blip r:embed="rId2"/>
          <a:stretch>
            <a:fillRect/>
          </a:stretch>
        </p:blipFill>
        <p:spPr>
          <a:xfrm>
            <a:off x="2498141" y="1400861"/>
            <a:ext cx="261518" cy="261518"/>
          </a:xfrm>
          <a:prstGeom prst="rect">
            <a:avLst/>
          </a:prstGeom>
        </p:spPr>
      </p:pic>
      <p:sp>
        <p:nvSpPr>
          <p:cNvPr id="13" name="Text 9"/>
          <p:cNvSpPr txBox="1"/>
          <p:nvPr/>
        </p:nvSpPr>
        <p:spPr>
          <a:xfrm>
            <a:off x="2377440" y="1892808"/>
            <a:ext cx="1143000" cy="274320"/>
          </a:xfrm>
          <a:prstGeom prst="rect">
            <a:avLst/>
          </a:prstGeom>
          <a:noFill/>
          <a:ln/>
        </p:spPr>
        <p:txBody>
          <a:bodyPr wrap="square" lIns="0" tIns="0" rIns="0" bIns="0" rtlCol="0" anchor="t"/>
          <a:lstStyle/>
          <a:p>
            <a:pPr algn="l" indent="0" marL="0">
              <a:buNone/>
            </a:pPr>
            <a:r>
              <a:rPr lang="en-US" sz="1400" b="1" dirty="0">
                <a:solidFill>
                  <a:srgbClr val="0F1419"/>
                </a:solidFill>
                <a:latin typeface="Arial" pitchFamily="34" charset="0"/>
                <a:ea typeface="Arial" pitchFamily="34" charset="-122"/>
                <a:cs typeface="Arial" pitchFamily="34" charset="-120"/>
              </a:rPr>
              <a:t>Limits</a:t>
            </a:r>
            <a:endParaRPr lang="en-US" sz="1400" dirty="0"/>
          </a:p>
        </p:txBody>
      </p:sp>
      <p:sp>
        <p:nvSpPr>
          <p:cNvPr id="14" name="Text 10"/>
          <p:cNvSpPr txBox="1"/>
          <p:nvPr/>
        </p:nvSpPr>
        <p:spPr>
          <a:xfrm>
            <a:off x="2377440" y="2212848"/>
            <a:ext cx="1143000" cy="914400"/>
          </a:xfrm>
          <a:prstGeom prst="rect">
            <a:avLst/>
          </a:prstGeom>
          <a:noFill/>
          <a:ln/>
        </p:spPr>
        <p:txBody>
          <a:bodyPr wrap="square" lIns="0" tIns="0" rIns="0" bIns="0" rtlCol="0" anchor="t"/>
          <a:lstStyle/>
          <a:p>
            <a:pPr algn="l" indent="0" marL="0">
              <a:buNone/>
            </a:pPr>
            <a:r>
              <a:rPr lang="en-US" sz="1100" dirty="0">
                <a:solidFill>
                  <a:srgbClr val="535C6B"/>
                </a:solidFill>
                <a:latin typeface="Arial" pitchFamily="34" charset="0"/>
                <a:ea typeface="Arial" pitchFamily="34" charset="-122"/>
                <a:cs typeface="Arial" pitchFamily="34" charset="-120"/>
              </a:rPr>
              <a:t>Per payment, per payee, and a rate limit.</a:t>
            </a:r>
            <a:endParaRPr lang="en-US" sz="1100" dirty="0"/>
          </a:p>
        </p:txBody>
      </p:sp>
      <p:sp>
        <p:nvSpPr>
          <p:cNvPr id="15" name="Shape 11"/>
          <p:cNvSpPr/>
          <p:nvPr/>
        </p:nvSpPr>
        <p:spPr>
          <a:xfrm>
            <a:off x="3840480" y="1097280"/>
            <a:ext cx="1463040" cy="2103120"/>
          </a:xfrm>
          <a:prstGeom prst="roundRect">
            <a:avLst>
              <a:gd name="adj" fmla="val 5000"/>
            </a:avLst>
          </a:prstGeom>
          <a:solidFill>
            <a:srgbClr val="FFFFFF"/>
          </a:solidFill>
          <a:ln w="9525">
            <a:solidFill>
              <a:srgbClr val="DFE3EA"/>
            </a:solidFill>
            <a:prstDash val="solid"/>
          </a:ln>
          <a:effectLst>
            <a:outerShdw sx="100000" sy="100000" kx="0" ky="0" algn="bl" rotWithShape="0" blurRad="50800" dist="12700" dir="5400000">
              <a:srgbClr val="000000">
                <a:alpha val="8000"/>
              </a:srgbClr>
            </a:outerShdw>
          </a:effectLst>
        </p:spPr>
      </p:sp>
      <p:sp>
        <p:nvSpPr>
          <p:cNvPr id="16" name="Shape 12"/>
          <p:cNvSpPr/>
          <p:nvPr/>
        </p:nvSpPr>
        <p:spPr>
          <a:xfrm>
            <a:off x="4023360" y="1280160"/>
            <a:ext cx="502920" cy="502920"/>
          </a:xfrm>
          <a:prstGeom prst="ellipse">
            <a:avLst/>
          </a:prstGeom>
          <a:solidFill>
            <a:srgbClr val="F8EEE6"/>
          </a:solidFill>
          <a:ln/>
        </p:spPr>
      </p:sp>
      <p:pic>
        <p:nvPicPr>
          <p:cNvPr id="17" name="Image 2" descr="preencoded.png">    </p:cNvPr>
          <p:cNvPicPr>
            <a:picLocks noChangeAspect="1"/>
          </p:cNvPicPr>
          <p:nvPr/>
        </p:nvPicPr>
        <p:blipFill>
          <a:blip r:embed="rId3"/>
          <a:stretch>
            <a:fillRect/>
          </a:stretch>
        </p:blipFill>
        <p:spPr>
          <a:xfrm>
            <a:off x="4144061" y="1400861"/>
            <a:ext cx="261518" cy="261518"/>
          </a:xfrm>
          <a:prstGeom prst="rect">
            <a:avLst/>
          </a:prstGeom>
        </p:spPr>
      </p:pic>
      <p:sp>
        <p:nvSpPr>
          <p:cNvPr id="18" name="Text 13"/>
          <p:cNvSpPr txBox="1"/>
          <p:nvPr/>
        </p:nvSpPr>
        <p:spPr>
          <a:xfrm>
            <a:off x="4023360" y="1892808"/>
            <a:ext cx="1143000" cy="274320"/>
          </a:xfrm>
          <a:prstGeom prst="rect">
            <a:avLst/>
          </a:prstGeom>
          <a:noFill/>
          <a:ln/>
        </p:spPr>
        <p:txBody>
          <a:bodyPr wrap="square" lIns="0" tIns="0" rIns="0" bIns="0" rtlCol="0" anchor="t"/>
          <a:lstStyle/>
          <a:p>
            <a:pPr algn="l" indent="0" marL="0">
              <a:buNone/>
            </a:pPr>
            <a:r>
              <a:rPr lang="en-US" sz="1400" b="1" dirty="0">
                <a:solidFill>
                  <a:srgbClr val="0F1419"/>
                </a:solidFill>
                <a:latin typeface="Arial" pitchFamily="34" charset="0"/>
                <a:ea typeface="Arial" pitchFamily="34" charset="-122"/>
                <a:cs typeface="Arial" pitchFamily="34" charset="-120"/>
              </a:rPr>
              <a:t>Approval</a:t>
            </a:r>
            <a:endParaRPr lang="en-US" sz="1400" dirty="0"/>
          </a:p>
        </p:txBody>
      </p:sp>
      <p:sp>
        <p:nvSpPr>
          <p:cNvPr id="19" name="Text 14"/>
          <p:cNvSpPr txBox="1"/>
          <p:nvPr/>
        </p:nvSpPr>
        <p:spPr>
          <a:xfrm>
            <a:off x="4023360" y="2212848"/>
            <a:ext cx="1143000" cy="914400"/>
          </a:xfrm>
          <a:prstGeom prst="rect">
            <a:avLst/>
          </a:prstGeom>
          <a:noFill/>
          <a:ln/>
        </p:spPr>
        <p:txBody>
          <a:bodyPr wrap="square" lIns="0" tIns="0" rIns="0" bIns="0" rtlCol="0" anchor="t"/>
          <a:lstStyle/>
          <a:p>
            <a:pPr algn="l" indent="0" marL="0">
              <a:buNone/>
            </a:pPr>
            <a:r>
              <a:rPr lang="en-US" sz="1100" dirty="0">
                <a:solidFill>
                  <a:srgbClr val="535C6B"/>
                </a:solidFill>
                <a:latin typeface="Arial" pitchFamily="34" charset="0"/>
                <a:ea typeface="Arial" pitchFamily="34" charset="-122"/>
                <a:cs typeface="Arial" pitchFamily="34" charset="-120"/>
              </a:rPr>
              <a:t>Anything above your threshold waits for your yes.</a:t>
            </a:r>
            <a:endParaRPr lang="en-US" sz="1100" dirty="0"/>
          </a:p>
        </p:txBody>
      </p:sp>
      <p:sp>
        <p:nvSpPr>
          <p:cNvPr id="20" name="Shape 15"/>
          <p:cNvSpPr/>
          <p:nvPr/>
        </p:nvSpPr>
        <p:spPr>
          <a:xfrm>
            <a:off x="5486400" y="1097280"/>
            <a:ext cx="1463040" cy="2103120"/>
          </a:xfrm>
          <a:prstGeom prst="roundRect">
            <a:avLst>
              <a:gd name="adj" fmla="val 5000"/>
            </a:avLst>
          </a:prstGeom>
          <a:solidFill>
            <a:srgbClr val="FFFFFF"/>
          </a:solidFill>
          <a:ln w="9525">
            <a:solidFill>
              <a:srgbClr val="DFE3EA"/>
            </a:solidFill>
            <a:prstDash val="solid"/>
          </a:ln>
          <a:effectLst>
            <a:outerShdw sx="100000" sy="100000" kx="0" ky="0" algn="bl" rotWithShape="0" blurRad="50800" dist="12700" dir="5400000">
              <a:srgbClr val="000000">
                <a:alpha val="8000"/>
              </a:srgbClr>
            </a:outerShdw>
          </a:effectLst>
        </p:spPr>
      </p:sp>
      <p:sp>
        <p:nvSpPr>
          <p:cNvPr id="21" name="Shape 16"/>
          <p:cNvSpPr/>
          <p:nvPr/>
        </p:nvSpPr>
        <p:spPr>
          <a:xfrm>
            <a:off x="5669280" y="1280160"/>
            <a:ext cx="502920" cy="502920"/>
          </a:xfrm>
          <a:prstGeom prst="ellipse">
            <a:avLst/>
          </a:prstGeom>
          <a:solidFill>
            <a:srgbClr val="F8E8E8"/>
          </a:solidFill>
          <a:ln/>
        </p:spPr>
      </p:sp>
      <p:pic>
        <p:nvPicPr>
          <p:cNvPr id="22" name="Image 3" descr="preencoded.png">    </p:cNvPr>
          <p:cNvPicPr>
            <a:picLocks noChangeAspect="1"/>
          </p:cNvPicPr>
          <p:nvPr/>
        </p:nvPicPr>
        <p:blipFill>
          <a:blip r:embed="rId4"/>
          <a:stretch>
            <a:fillRect/>
          </a:stretch>
        </p:blipFill>
        <p:spPr>
          <a:xfrm>
            <a:off x="5789981" y="1400861"/>
            <a:ext cx="261518" cy="261518"/>
          </a:xfrm>
          <a:prstGeom prst="rect">
            <a:avLst/>
          </a:prstGeom>
        </p:spPr>
      </p:pic>
      <p:sp>
        <p:nvSpPr>
          <p:cNvPr id="23" name="Text 17"/>
          <p:cNvSpPr txBox="1"/>
          <p:nvPr/>
        </p:nvSpPr>
        <p:spPr>
          <a:xfrm>
            <a:off x="5669280" y="1892808"/>
            <a:ext cx="1143000" cy="274320"/>
          </a:xfrm>
          <a:prstGeom prst="rect">
            <a:avLst/>
          </a:prstGeom>
          <a:noFill/>
          <a:ln/>
        </p:spPr>
        <p:txBody>
          <a:bodyPr wrap="square" lIns="0" tIns="0" rIns="0" bIns="0" rtlCol="0" anchor="t"/>
          <a:lstStyle/>
          <a:p>
            <a:pPr algn="l" indent="0" marL="0">
              <a:buNone/>
            </a:pPr>
            <a:r>
              <a:rPr lang="en-US" sz="1400" b="1" dirty="0">
                <a:solidFill>
                  <a:srgbClr val="0F1419"/>
                </a:solidFill>
                <a:latin typeface="Arial" pitchFamily="34" charset="0"/>
                <a:ea typeface="Arial" pitchFamily="34" charset="-122"/>
                <a:cs typeface="Arial" pitchFamily="34" charset="-120"/>
              </a:rPr>
              <a:t>Tripwire</a:t>
            </a:r>
            <a:endParaRPr lang="en-US" sz="1400" dirty="0"/>
          </a:p>
        </p:txBody>
      </p:sp>
      <p:sp>
        <p:nvSpPr>
          <p:cNvPr id="24" name="Text 18"/>
          <p:cNvSpPr txBox="1"/>
          <p:nvPr/>
        </p:nvSpPr>
        <p:spPr>
          <a:xfrm>
            <a:off x="5669280" y="2212848"/>
            <a:ext cx="1143000" cy="914400"/>
          </a:xfrm>
          <a:prstGeom prst="rect">
            <a:avLst/>
          </a:prstGeom>
          <a:noFill/>
          <a:ln/>
        </p:spPr>
        <p:txBody>
          <a:bodyPr wrap="square" lIns="0" tIns="0" rIns="0" bIns="0" rtlCol="0" anchor="t"/>
          <a:lstStyle/>
          <a:p>
            <a:pPr algn="l" indent="0" marL="0">
              <a:buNone/>
            </a:pPr>
            <a:r>
              <a:rPr lang="en-US" sz="1100" dirty="0">
                <a:solidFill>
                  <a:srgbClr val="535C6B"/>
                </a:solidFill>
                <a:latin typeface="Arial" pitchFamily="34" charset="0"/>
                <a:ea typeface="Arial" pitchFamily="34" charset="-122"/>
                <a:cs typeface="Arial" pitchFamily="34" charset="-120"/>
              </a:rPr>
              <a:t>Three attempts to break the rules, and it freezes itself.</a:t>
            </a:r>
            <a:endParaRPr lang="en-US" sz="1100" dirty="0"/>
          </a:p>
        </p:txBody>
      </p:sp>
      <p:sp>
        <p:nvSpPr>
          <p:cNvPr id="25" name="Shape 19"/>
          <p:cNvSpPr/>
          <p:nvPr/>
        </p:nvSpPr>
        <p:spPr>
          <a:xfrm>
            <a:off x="7132320" y="1097280"/>
            <a:ext cx="1463040" cy="2103120"/>
          </a:xfrm>
          <a:prstGeom prst="roundRect">
            <a:avLst>
              <a:gd name="adj" fmla="val 5000"/>
            </a:avLst>
          </a:prstGeom>
          <a:solidFill>
            <a:srgbClr val="FFFFFF"/>
          </a:solidFill>
          <a:ln w="9525">
            <a:solidFill>
              <a:srgbClr val="DFE3EA"/>
            </a:solidFill>
            <a:prstDash val="solid"/>
          </a:ln>
          <a:effectLst>
            <a:outerShdw sx="100000" sy="100000" kx="0" ky="0" algn="bl" rotWithShape="0" blurRad="50800" dist="12700" dir="5400000">
              <a:srgbClr val="000000">
                <a:alpha val="8000"/>
              </a:srgbClr>
            </a:outerShdw>
          </a:effectLst>
        </p:spPr>
      </p:sp>
      <p:sp>
        <p:nvSpPr>
          <p:cNvPr id="26" name="Shape 20"/>
          <p:cNvSpPr/>
          <p:nvPr/>
        </p:nvSpPr>
        <p:spPr>
          <a:xfrm>
            <a:off x="7315200" y="1280160"/>
            <a:ext cx="502920" cy="502920"/>
          </a:xfrm>
          <a:prstGeom prst="ellipse">
            <a:avLst/>
          </a:prstGeom>
          <a:solidFill>
            <a:srgbClr val="E8EDFB"/>
          </a:solidFill>
          <a:ln/>
        </p:spPr>
      </p:sp>
      <p:pic>
        <p:nvPicPr>
          <p:cNvPr id="27" name="Image 4" descr="preencoded.png">    </p:cNvPr>
          <p:cNvPicPr>
            <a:picLocks noChangeAspect="1"/>
          </p:cNvPicPr>
          <p:nvPr/>
        </p:nvPicPr>
        <p:blipFill>
          <a:blip r:embed="rId5"/>
          <a:stretch>
            <a:fillRect/>
          </a:stretch>
        </p:blipFill>
        <p:spPr>
          <a:xfrm>
            <a:off x="7435901" y="1400861"/>
            <a:ext cx="261518" cy="261518"/>
          </a:xfrm>
          <a:prstGeom prst="rect">
            <a:avLst/>
          </a:prstGeom>
        </p:spPr>
      </p:pic>
      <p:sp>
        <p:nvSpPr>
          <p:cNvPr id="28" name="Text 21"/>
          <p:cNvSpPr txBox="1"/>
          <p:nvPr/>
        </p:nvSpPr>
        <p:spPr>
          <a:xfrm>
            <a:off x="7315200" y="1892808"/>
            <a:ext cx="1143000" cy="274320"/>
          </a:xfrm>
          <a:prstGeom prst="rect">
            <a:avLst/>
          </a:prstGeom>
          <a:noFill/>
          <a:ln/>
        </p:spPr>
        <p:txBody>
          <a:bodyPr wrap="square" lIns="0" tIns="0" rIns="0" bIns="0" rtlCol="0" anchor="t"/>
          <a:lstStyle/>
          <a:p>
            <a:pPr algn="l" indent="0" marL="0">
              <a:buNone/>
            </a:pPr>
            <a:r>
              <a:rPr lang="en-US" sz="1400" b="1" dirty="0">
                <a:solidFill>
                  <a:srgbClr val="0F1419"/>
                </a:solidFill>
                <a:latin typeface="Arial" pitchFamily="34" charset="0"/>
                <a:ea typeface="Arial" pitchFamily="34" charset="-122"/>
                <a:cs typeface="Arial" pitchFamily="34" charset="-120"/>
              </a:rPr>
              <a:t>Off switch</a:t>
            </a:r>
            <a:endParaRPr lang="en-US" sz="1400" dirty="0"/>
          </a:p>
        </p:txBody>
      </p:sp>
      <p:sp>
        <p:nvSpPr>
          <p:cNvPr id="29" name="Text 22"/>
          <p:cNvSpPr txBox="1"/>
          <p:nvPr/>
        </p:nvSpPr>
        <p:spPr>
          <a:xfrm>
            <a:off x="7315200" y="2212848"/>
            <a:ext cx="1143000" cy="914400"/>
          </a:xfrm>
          <a:prstGeom prst="rect">
            <a:avLst/>
          </a:prstGeom>
          <a:noFill/>
          <a:ln/>
        </p:spPr>
        <p:txBody>
          <a:bodyPr wrap="square" lIns="0" tIns="0" rIns="0" bIns="0" rtlCol="0" anchor="t"/>
          <a:lstStyle/>
          <a:p>
            <a:pPr algn="l" indent="0" marL="0">
              <a:buNone/>
            </a:pPr>
            <a:r>
              <a:rPr lang="en-US" sz="1100" dirty="0">
                <a:solidFill>
                  <a:srgbClr val="535C6B"/>
                </a:solidFill>
                <a:latin typeface="Arial" pitchFamily="34" charset="0"/>
                <a:ea typeface="Arial" pitchFamily="34" charset="-122"/>
                <a:cs typeface="Arial" pitchFamily="34" charset="-120"/>
              </a:rPr>
              <a:t>One transaction freezes one agent, or all of them.</a:t>
            </a:r>
            <a:endParaRPr lang="en-US" sz="1100" dirty="0"/>
          </a:p>
        </p:txBody>
      </p:sp>
      <p:sp>
        <p:nvSpPr>
          <p:cNvPr id="30" name="Text 23"/>
          <p:cNvSpPr txBox="1"/>
          <p:nvPr/>
        </p:nvSpPr>
        <p:spPr>
          <a:xfrm>
            <a:off x="548640" y="3429000"/>
            <a:ext cx="8046720" cy="320040"/>
          </a:xfrm>
          <a:prstGeom prst="rect">
            <a:avLst/>
          </a:prstGeom>
          <a:noFill/>
          <a:ln/>
        </p:spPr>
        <p:txBody>
          <a:bodyPr wrap="square" lIns="0" tIns="0" rIns="0" bIns="0" rtlCol="0" anchor="t"/>
          <a:lstStyle/>
          <a:p>
            <a:pPr algn="l" indent="0" marL="0">
              <a:buNone/>
            </a:pPr>
            <a:r>
              <a:rPr lang="en-US" sz="1400" b="1" dirty="0">
                <a:solidFill>
                  <a:srgbClr val="0F1419"/>
                </a:solidFill>
                <a:latin typeface="Arial" pitchFamily="34" charset="0"/>
                <a:ea typeface="Arial" pitchFamily="34" charset="-122"/>
                <a:cs typeface="Arial" pitchFamily="34" charset="-120"/>
              </a:rPr>
              <a:t>Your money never leaves your wallet. Leash can only make the allowance smaller.</a:t>
            </a:r>
            <a:endParaRPr lang="en-US" sz="1400" dirty="0"/>
          </a:p>
        </p:txBody>
      </p:sp>
      <p:sp>
        <p:nvSpPr>
          <p:cNvPr id="31" name="Text 24"/>
          <p:cNvSpPr txBox="1"/>
          <p:nvPr/>
        </p:nvSpPr>
        <p:spPr>
          <a:xfrm>
            <a:off x="548640" y="3840480"/>
            <a:ext cx="8046720" cy="548640"/>
          </a:xfrm>
          <a:prstGeom prst="rect">
            <a:avLst/>
          </a:prstGeom>
          <a:noFill/>
          <a:ln/>
        </p:spPr>
        <p:txBody>
          <a:bodyPr wrap="square" lIns="0" tIns="0" rIns="0" bIns="0" rtlCol="0" anchor="t"/>
          <a:lstStyle/>
          <a:p>
            <a:pPr algn="l" indent="0" marL="0">
              <a:buNone/>
            </a:pPr>
            <a:r>
              <a:rPr lang="en-US" sz="1300" i="1" dirty="0">
                <a:solidFill>
                  <a:srgbClr val="6D28D9"/>
                </a:solidFill>
                <a:latin typeface="Arial" pitchFamily="34" charset="0"/>
                <a:ea typeface="Arial" pitchFamily="34" charset="-122"/>
                <a:cs typeface="Arial" pitchFamily="34" charset="-120"/>
              </a:rPr>
              <a:t>Solana's Allowances decide how much an agent may spend. Leash decides who it may pay, how fast, and what happens when it's attacked.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754880"/>
            <a:ext cx="1828800" cy="201168"/>
          </a:xfrm>
          <a:prstGeom prst="rect">
            <a:avLst/>
          </a:prstGeom>
          <a:noFill/>
          <a:ln/>
        </p:spPr>
        <p:txBody>
          <a:bodyPr wrap="square" lIns="0" tIns="0" rIns="0" bIns="0" rtlCol="0" anchor="t"/>
          <a:lstStyle/>
          <a:p>
            <a:pPr algn="l" indent="0" marL="0">
              <a:buNone/>
            </a:pPr>
            <a:r>
              <a:rPr lang="en-US" sz="900" dirty="0">
                <a:solidFill>
                  <a:srgbClr val="535C6B"/>
                </a:solidFill>
                <a:latin typeface="Arial" pitchFamily="34" charset="0"/>
                <a:ea typeface="Arial" pitchFamily="34" charset="-122"/>
                <a:cs typeface="Arial" pitchFamily="34" charset="-120"/>
              </a:rPr>
              <a:t>Leash</a:t>
            </a:r>
            <a:endParaRPr lang="en-US" sz="900" dirty="0"/>
          </a:p>
        </p:txBody>
      </p:sp>
      <p:sp>
        <p:nvSpPr>
          <p:cNvPr id="3" name="Text 1"/>
          <p:cNvSpPr txBox="1"/>
          <p:nvPr/>
        </p:nvSpPr>
        <p:spPr>
          <a:xfrm>
            <a:off x="8138160" y="4754880"/>
            <a:ext cx="457200" cy="201168"/>
          </a:xfrm>
          <a:prstGeom prst="rect">
            <a:avLst/>
          </a:prstGeom>
          <a:noFill/>
          <a:ln/>
        </p:spPr>
        <p:txBody>
          <a:bodyPr wrap="square" lIns="0" tIns="0" rIns="0" bIns="0" rtlCol="0" anchor="t"/>
          <a:lstStyle/>
          <a:p>
            <a:pPr algn="r" indent="0" marL="0">
              <a:buNone/>
            </a:pPr>
            <a:r>
              <a:rPr lang="en-US" sz="900" dirty="0">
                <a:solidFill>
                  <a:srgbClr val="535C6B"/>
                </a:solidFill>
                <a:latin typeface="Arial" pitchFamily="34" charset="0"/>
                <a:ea typeface="Arial" pitchFamily="34" charset="-122"/>
                <a:cs typeface="Arial" pitchFamily="34" charset="-120"/>
              </a:rPr>
              <a:t>5</a:t>
            </a:r>
            <a:endParaRPr lang="en-US" sz="900" dirty="0"/>
          </a:p>
        </p:txBody>
      </p:sp>
      <p:sp>
        <p:nvSpPr>
          <p:cNvPr id="4" name="Text 2"/>
          <p:cNvSpPr txBox="1"/>
          <p:nvPr/>
        </p:nvSpPr>
        <p:spPr>
          <a:xfrm>
            <a:off x="548640" y="384048"/>
            <a:ext cx="8046720" cy="548640"/>
          </a:xfrm>
          <a:prstGeom prst="rect">
            <a:avLst/>
          </a:prstGeom>
          <a:noFill/>
          <a:ln/>
        </p:spPr>
        <p:txBody>
          <a:bodyPr wrap="square" lIns="0" tIns="0" rIns="0" bIns="0" rtlCol="0" anchor="ctr"/>
          <a:lstStyle/>
          <a:p>
            <a:pPr algn="l" indent="0" marL="0">
              <a:buNone/>
            </a:pPr>
            <a:r>
              <a:rPr lang="en-US" sz="3000" b="1" dirty="0">
                <a:solidFill>
                  <a:srgbClr val="0F1419"/>
                </a:solidFill>
                <a:latin typeface="Arial" pitchFamily="34" charset="0"/>
                <a:ea typeface="Arial" pitchFamily="34" charset="-122"/>
                <a:cs typeface="Arial" pitchFamily="34" charset="-120"/>
              </a:rPr>
              <a:t>How it works</a:t>
            </a:r>
            <a:endParaRPr lang="en-US" sz="3000" dirty="0"/>
          </a:p>
        </p:txBody>
      </p:sp>
      <p:sp>
        <p:nvSpPr>
          <p:cNvPr id="5" name="Shape 3"/>
          <p:cNvSpPr/>
          <p:nvPr/>
        </p:nvSpPr>
        <p:spPr>
          <a:xfrm>
            <a:off x="548640" y="1143000"/>
            <a:ext cx="1389888" cy="1005840"/>
          </a:xfrm>
          <a:prstGeom prst="roundRect">
            <a:avLst>
              <a:gd name="adj" fmla="val 7273"/>
            </a:avLst>
          </a:prstGeom>
          <a:solidFill>
            <a:srgbClr val="FFFFFF"/>
          </a:solidFill>
          <a:ln w="9525">
            <a:solidFill>
              <a:srgbClr val="DFE3EA"/>
            </a:solidFill>
            <a:prstDash val="solid"/>
          </a:ln>
          <a:effectLst>
            <a:outerShdw sx="100000" sy="100000" kx="0" ky="0" algn="bl" rotWithShape="0" blurRad="50800" dist="12700" dir="5400000">
              <a:srgbClr val="000000">
                <a:alpha val="8000"/>
              </a:srgbClr>
            </a:outerShdw>
          </a:effectLst>
        </p:spPr>
      </p:sp>
      <p:sp>
        <p:nvSpPr>
          <p:cNvPr id="6" name="Text 4"/>
          <p:cNvSpPr txBox="1"/>
          <p:nvPr/>
        </p:nvSpPr>
        <p:spPr>
          <a:xfrm>
            <a:off x="621792" y="1143000"/>
            <a:ext cx="1243584" cy="1005840"/>
          </a:xfrm>
          <a:prstGeom prst="rect">
            <a:avLst/>
          </a:prstGeom>
          <a:noFill/>
          <a:ln/>
        </p:spPr>
        <p:txBody>
          <a:bodyPr wrap="square" lIns="0" tIns="0" rIns="0" bIns="0" rtlCol="0" anchor="ctr"/>
          <a:lstStyle/>
          <a:p>
            <a:pPr algn="ctr" indent="0" marL="0">
              <a:spcAft>
                <a:spcPts val="300"/>
              </a:spcAft>
              <a:buNone/>
            </a:pPr>
            <a:r>
              <a:rPr lang="en-US" sz="1200" b="1" dirty="0">
                <a:solidFill>
                  <a:srgbClr val="0F1419"/>
                </a:solidFill>
                <a:latin typeface="Arial" pitchFamily="34" charset="0"/>
                <a:ea typeface="Arial" pitchFamily="34" charset="-122"/>
                <a:cs typeface="Arial" pitchFamily="34" charset="-120"/>
              </a:rPr>
              <a:t>AI agent</a:t>
            </a:r>
            <a:endParaRPr lang="en-US" sz="1200" dirty="0"/>
          </a:p>
          <a:p>
            <a:pPr algn="ctr" indent="0" marL="0">
              <a:spcAft>
                <a:spcPts val="300"/>
              </a:spcAft>
              <a:buNone/>
            </a:pPr>
            <a:r>
              <a:rPr lang="en-US" sz="950" dirty="0">
                <a:solidFill>
                  <a:srgbClr val="535C6B"/>
                </a:solidFill>
                <a:latin typeface="Arial" pitchFamily="34" charset="0"/>
                <a:ea typeface="Arial" pitchFamily="34" charset="-122"/>
                <a:cs typeface="Arial" pitchFamily="34" charset="-120"/>
              </a:rPr>
              <a:t>Leash SDK or MCP</a:t>
            </a:r>
            <a:endParaRPr lang="en-US" sz="1200" dirty="0"/>
          </a:p>
        </p:txBody>
      </p:sp>
      <p:sp>
        <p:nvSpPr>
          <p:cNvPr id="7" name="Shape 5"/>
          <p:cNvSpPr/>
          <p:nvPr/>
        </p:nvSpPr>
        <p:spPr>
          <a:xfrm>
            <a:off x="1984248" y="1645920"/>
            <a:ext cx="182880" cy="0"/>
          </a:xfrm>
          <a:prstGeom prst="line">
            <a:avLst/>
          </a:prstGeom>
          <a:noFill/>
          <a:ln w="19050">
            <a:solidFill>
              <a:srgbClr val="535C6B"/>
            </a:solidFill>
            <a:prstDash val="solid"/>
            <a:tailEnd type="triangle"/>
          </a:ln>
        </p:spPr>
      </p:sp>
      <p:sp>
        <p:nvSpPr>
          <p:cNvPr id="8" name="Shape 6"/>
          <p:cNvSpPr/>
          <p:nvPr/>
        </p:nvSpPr>
        <p:spPr>
          <a:xfrm>
            <a:off x="2212848" y="1143000"/>
            <a:ext cx="1389888" cy="1005840"/>
          </a:xfrm>
          <a:prstGeom prst="roundRect">
            <a:avLst>
              <a:gd name="adj" fmla="val 7273"/>
            </a:avLst>
          </a:prstGeom>
          <a:solidFill>
            <a:srgbClr val="FFFFFF"/>
          </a:solidFill>
          <a:ln w="9525">
            <a:solidFill>
              <a:srgbClr val="DFE3EA"/>
            </a:solidFill>
            <a:prstDash val="solid"/>
          </a:ln>
          <a:effectLst>
            <a:outerShdw sx="100000" sy="100000" kx="0" ky="0" algn="bl" rotWithShape="0" blurRad="50800" dist="12700" dir="5400000">
              <a:srgbClr val="000000">
                <a:alpha val="8000"/>
              </a:srgbClr>
            </a:outerShdw>
          </a:effectLst>
        </p:spPr>
      </p:sp>
      <p:sp>
        <p:nvSpPr>
          <p:cNvPr id="9" name="Text 7"/>
          <p:cNvSpPr txBox="1"/>
          <p:nvPr/>
        </p:nvSpPr>
        <p:spPr>
          <a:xfrm>
            <a:off x="2286000" y="1143000"/>
            <a:ext cx="1243584" cy="1005840"/>
          </a:xfrm>
          <a:prstGeom prst="rect">
            <a:avLst/>
          </a:prstGeom>
          <a:noFill/>
          <a:ln/>
        </p:spPr>
        <p:txBody>
          <a:bodyPr wrap="square" lIns="0" tIns="0" rIns="0" bIns="0" rtlCol="0" anchor="ctr"/>
          <a:lstStyle/>
          <a:p>
            <a:pPr algn="ctr" indent="0" marL="0">
              <a:spcAft>
                <a:spcPts val="300"/>
              </a:spcAft>
              <a:buNone/>
            </a:pPr>
            <a:r>
              <a:rPr lang="en-US" sz="1200" b="1" dirty="0">
                <a:solidFill>
                  <a:srgbClr val="0F1419"/>
                </a:solidFill>
                <a:latin typeface="Arial" pitchFamily="34" charset="0"/>
                <a:ea typeface="Arial" pitchFamily="34" charset="-122"/>
                <a:cs typeface="Arial" pitchFamily="34" charset="-120"/>
              </a:rPr>
              <a:t>Paid API</a:t>
            </a:r>
            <a:endParaRPr lang="en-US" sz="1200" dirty="0"/>
          </a:p>
          <a:p>
            <a:pPr algn="ctr" indent="0" marL="0">
              <a:spcAft>
                <a:spcPts val="300"/>
              </a:spcAft>
              <a:buNone/>
            </a:pPr>
            <a:r>
              <a:rPr lang="en-US" sz="950" dirty="0">
                <a:solidFill>
                  <a:srgbClr val="535C6B"/>
                </a:solidFill>
                <a:latin typeface="Arial" pitchFamily="34" charset="0"/>
                <a:ea typeface="Arial" pitchFamily="34" charset="-122"/>
                <a:cs typeface="Arial" pitchFamily="34" charset="-120"/>
              </a:rPr>
              <a:t>x402 payment</a:t>
            </a:r>
            <a:endParaRPr lang="en-US" sz="1200" dirty="0"/>
          </a:p>
        </p:txBody>
      </p:sp>
      <p:sp>
        <p:nvSpPr>
          <p:cNvPr id="10" name="Shape 8"/>
          <p:cNvSpPr/>
          <p:nvPr/>
        </p:nvSpPr>
        <p:spPr>
          <a:xfrm>
            <a:off x="3648456" y="1645920"/>
            <a:ext cx="182880" cy="0"/>
          </a:xfrm>
          <a:prstGeom prst="line">
            <a:avLst/>
          </a:prstGeom>
          <a:noFill/>
          <a:ln w="19050">
            <a:solidFill>
              <a:srgbClr val="535C6B"/>
            </a:solidFill>
            <a:prstDash val="solid"/>
            <a:tailEnd type="triangle"/>
          </a:ln>
        </p:spPr>
      </p:sp>
      <p:sp>
        <p:nvSpPr>
          <p:cNvPr id="11" name="Shape 9"/>
          <p:cNvSpPr/>
          <p:nvPr/>
        </p:nvSpPr>
        <p:spPr>
          <a:xfrm>
            <a:off x="3877056" y="1143000"/>
            <a:ext cx="1389888" cy="1005840"/>
          </a:xfrm>
          <a:prstGeom prst="roundRect">
            <a:avLst>
              <a:gd name="adj" fmla="val 7273"/>
            </a:avLst>
          </a:prstGeom>
          <a:solidFill>
            <a:srgbClr val="FFFFFF"/>
          </a:solidFill>
          <a:ln w="9525">
            <a:solidFill>
              <a:srgbClr val="DFE3EA"/>
            </a:solidFill>
            <a:prstDash val="solid"/>
          </a:ln>
          <a:effectLst>
            <a:outerShdw sx="100000" sy="100000" kx="0" ky="0" algn="bl" rotWithShape="0" blurRad="50800" dist="12700" dir="5400000">
              <a:srgbClr val="000000">
                <a:alpha val="8000"/>
              </a:srgbClr>
            </a:outerShdw>
          </a:effectLst>
        </p:spPr>
      </p:sp>
      <p:sp>
        <p:nvSpPr>
          <p:cNvPr id="12" name="Text 10"/>
          <p:cNvSpPr txBox="1"/>
          <p:nvPr/>
        </p:nvSpPr>
        <p:spPr>
          <a:xfrm>
            <a:off x="3950208" y="1143000"/>
            <a:ext cx="1243584" cy="1005840"/>
          </a:xfrm>
          <a:prstGeom prst="rect">
            <a:avLst/>
          </a:prstGeom>
          <a:noFill/>
          <a:ln/>
        </p:spPr>
        <p:txBody>
          <a:bodyPr wrap="square" lIns="0" tIns="0" rIns="0" bIns="0" rtlCol="0" anchor="ctr"/>
          <a:lstStyle/>
          <a:p>
            <a:pPr algn="ctr" indent="0" marL="0">
              <a:spcAft>
                <a:spcPts val="300"/>
              </a:spcAft>
              <a:buNone/>
            </a:pPr>
            <a:r>
              <a:rPr lang="en-US" sz="1200" b="1" dirty="0">
                <a:solidFill>
                  <a:srgbClr val="0F1419"/>
                </a:solidFill>
                <a:latin typeface="Arial" pitchFamily="34" charset="0"/>
                <a:ea typeface="Arial" pitchFamily="34" charset="-122"/>
                <a:cs typeface="Arial" pitchFamily="34" charset="-120"/>
              </a:rPr>
              <a:t>x402 facilitator</a:t>
            </a:r>
            <a:endParaRPr lang="en-US" sz="1200" dirty="0"/>
          </a:p>
          <a:p>
            <a:pPr algn="ctr" indent="0" marL="0">
              <a:spcAft>
                <a:spcPts val="300"/>
              </a:spcAft>
              <a:buNone/>
            </a:pPr>
            <a:r>
              <a:rPr lang="en-US" sz="950" dirty="0">
                <a:solidFill>
                  <a:srgbClr val="535C6B"/>
                </a:solidFill>
                <a:latin typeface="Arial" pitchFamily="34" charset="0"/>
                <a:ea typeface="Arial" pitchFamily="34" charset="-122"/>
                <a:cs typeface="Arial" pitchFamily="34" charset="-120"/>
              </a:rPr>
              <a:t>official package, pays the fee</a:t>
            </a:r>
            <a:endParaRPr lang="en-US" sz="1200" dirty="0"/>
          </a:p>
        </p:txBody>
      </p:sp>
      <p:sp>
        <p:nvSpPr>
          <p:cNvPr id="13" name="Shape 11"/>
          <p:cNvSpPr/>
          <p:nvPr/>
        </p:nvSpPr>
        <p:spPr>
          <a:xfrm>
            <a:off x="5312664" y="1645920"/>
            <a:ext cx="182880" cy="0"/>
          </a:xfrm>
          <a:prstGeom prst="line">
            <a:avLst/>
          </a:prstGeom>
          <a:noFill/>
          <a:ln w="19050">
            <a:solidFill>
              <a:srgbClr val="535C6B"/>
            </a:solidFill>
            <a:prstDash val="solid"/>
            <a:tailEnd type="triangle"/>
          </a:ln>
        </p:spPr>
      </p:sp>
      <p:sp>
        <p:nvSpPr>
          <p:cNvPr id="14" name="Shape 12"/>
          <p:cNvSpPr/>
          <p:nvPr/>
        </p:nvSpPr>
        <p:spPr>
          <a:xfrm>
            <a:off x="5541264" y="1143000"/>
            <a:ext cx="1389888" cy="1005840"/>
          </a:xfrm>
          <a:prstGeom prst="roundRect">
            <a:avLst>
              <a:gd name="adj" fmla="val 7273"/>
            </a:avLst>
          </a:prstGeom>
          <a:solidFill>
            <a:srgbClr val="6D28D9"/>
          </a:solidFill>
          <a:ln/>
          <a:effectLst>
            <a:outerShdw sx="100000" sy="100000" kx="0" ky="0" algn="bl" rotWithShape="0" blurRad="50800" dist="12700" dir="5400000">
              <a:srgbClr val="000000">
                <a:alpha val="8000"/>
              </a:srgbClr>
            </a:outerShdw>
          </a:effectLst>
        </p:spPr>
      </p:sp>
      <p:sp>
        <p:nvSpPr>
          <p:cNvPr id="15" name="Text 13"/>
          <p:cNvSpPr txBox="1"/>
          <p:nvPr/>
        </p:nvSpPr>
        <p:spPr>
          <a:xfrm>
            <a:off x="5614416" y="1143000"/>
            <a:ext cx="1243584" cy="1005840"/>
          </a:xfrm>
          <a:prstGeom prst="rect">
            <a:avLst/>
          </a:prstGeom>
          <a:noFill/>
          <a:ln/>
        </p:spPr>
        <p:txBody>
          <a:bodyPr wrap="square" lIns="0" tIns="0" rIns="0" bIns="0" rtlCol="0" anchor="ctr"/>
          <a:lstStyle/>
          <a:p>
            <a:pPr algn="ctr" indent="0" marL="0">
              <a:spcAft>
                <a:spcPts val="300"/>
              </a:spcAft>
              <a:buNone/>
            </a:pPr>
            <a:r>
              <a:rPr lang="en-US" sz="1200" b="1" dirty="0">
                <a:solidFill>
                  <a:srgbClr val="FFFFFF"/>
                </a:solidFill>
                <a:latin typeface="Arial" pitchFamily="34" charset="0"/>
                <a:ea typeface="Arial" pitchFamily="34" charset="-122"/>
                <a:cs typeface="Arial" pitchFamily="34" charset="-120"/>
              </a:rPr>
              <a:t>Leash program</a:t>
            </a:r>
            <a:endParaRPr lang="en-US" sz="1200" dirty="0"/>
          </a:p>
          <a:p>
            <a:pPr algn="ctr" indent="0" marL="0">
              <a:spcAft>
                <a:spcPts val="300"/>
              </a:spcAft>
              <a:buNone/>
            </a:pPr>
            <a:r>
              <a:rPr lang="en-US" sz="950" dirty="0">
                <a:solidFill>
                  <a:srgbClr val="EDE6FB"/>
                </a:solidFill>
                <a:latin typeface="Arial" pitchFamily="34" charset="0"/>
                <a:ea typeface="Arial" pitchFamily="34" charset="-122"/>
                <a:cs typeface="Arial" pitchFamily="34" charset="-120"/>
              </a:rPr>
              <a:t>allowlist · limits · freeze</a:t>
            </a:r>
            <a:endParaRPr lang="en-US" sz="1200" dirty="0"/>
          </a:p>
        </p:txBody>
      </p:sp>
      <p:sp>
        <p:nvSpPr>
          <p:cNvPr id="16" name="Shape 14"/>
          <p:cNvSpPr/>
          <p:nvPr/>
        </p:nvSpPr>
        <p:spPr>
          <a:xfrm>
            <a:off x="6976872" y="1645920"/>
            <a:ext cx="182880" cy="0"/>
          </a:xfrm>
          <a:prstGeom prst="line">
            <a:avLst/>
          </a:prstGeom>
          <a:noFill/>
          <a:ln w="19050">
            <a:solidFill>
              <a:srgbClr val="535C6B"/>
            </a:solidFill>
            <a:prstDash val="solid"/>
            <a:tailEnd type="triangle"/>
          </a:ln>
        </p:spPr>
      </p:sp>
      <p:sp>
        <p:nvSpPr>
          <p:cNvPr id="17" name="Shape 15"/>
          <p:cNvSpPr/>
          <p:nvPr/>
        </p:nvSpPr>
        <p:spPr>
          <a:xfrm>
            <a:off x="7205472" y="1143000"/>
            <a:ext cx="1389888" cy="1005840"/>
          </a:xfrm>
          <a:prstGeom prst="roundRect">
            <a:avLst>
              <a:gd name="adj" fmla="val 7273"/>
            </a:avLst>
          </a:prstGeom>
          <a:solidFill>
            <a:srgbClr val="FFFFFF"/>
          </a:solidFill>
          <a:ln w="9525">
            <a:solidFill>
              <a:srgbClr val="DFE3EA"/>
            </a:solidFill>
            <a:prstDash val="solid"/>
          </a:ln>
          <a:effectLst>
            <a:outerShdw sx="100000" sy="100000" kx="0" ky="0" algn="bl" rotWithShape="0" blurRad="50800" dist="12700" dir="5400000">
              <a:srgbClr val="000000">
                <a:alpha val="8000"/>
              </a:srgbClr>
            </a:outerShdw>
          </a:effectLst>
        </p:spPr>
      </p:sp>
      <p:sp>
        <p:nvSpPr>
          <p:cNvPr id="18" name="Text 16"/>
          <p:cNvSpPr txBox="1"/>
          <p:nvPr/>
        </p:nvSpPr>
        <p:spPr>
          <a:xfrm>
            <a:off x="7278624" y="1143000"/>
            <a:ext cx="1243584" cy="1005840"/>
          </a:xfrm>
          <a:prstGeom prst="rect">
            <a:avLst/>
          </a:prstGeom>
          <a:noFill/>
          <a:ln/>
        </p:spPr>
        <p:txBody>
          <a:bodyPr wrap="square" lIns="0" tIns="0" rIns="0" bIns="0" rtlCol="0" anchor="ctr"/>
          <a:lstStyle/>
          <a:p>
            <a:pPr algn="ctr" indent="0" marL="0">
              <a:spcAft>
                <a:spcPts val="300"/>
              </a:spcAft>
              <a:buNone/>
            </a:pPr>
            <a:r>
              <a:rPr lang="en-US" sz="1200" b="1" dirty="0">
                <a:solidFill>
                  <a:srgbClr val="0F1419"/>
                </a:solidFill>
                <a:latin typeface="Arial" pitchFamily="34" charset="0"/>
                <a:ea typeface="Arial" pitchFamily="34" charset="-122"/>
                <a:cs typeface="Arial" pitchFamily="34" charset="-120"/>
              </a:rPr>
              <a:t>Allowances program</a:t>
            </a:r>
            <a:endParaRPr lang="en-US" sz="1200" dirty="0"/>
          </a:p>
          <a:p>
            <a:pPr algn="ctr" indent="0" marL="0">
              <a:spcAft>
                <a:spcPts val="300"/>
              </a:spcAft>
              <a:buNone/>
            </a:pPr>
            <a:r>
              <a:rPr lang="en-US" sz="950" dirty="0">
                <a:solidFill>
                  <a:srgbClr val="535C6B"/>
                </a:solidFill>
                <a:latin typeface="Arial" pitchFamily="34" charset="0"/>
                <a:ea typeface="Arial" pitchFamily="34" charset="-122"/>
                <a:cs typeface="Arial" pitchFamily="34" charset="-120"/>
              </a:rPr>
              <a:t>Solana Foundation, audited</a:t>
            </a:r>
            <a:endParaRPr lang="en-US" sz="1200" dirty="0"/>
          </a:p>
        </p:txBody>
      </p:sp>
      <p:sp>
        <p:nvSpPr>
          <p:cNvPr id="19" name="Shape 17"/>
          <p:cNvSpPr/>
          <p:nvPr/>
        </p:nvSpPr>
        <p:spPr>
          <a:xfrm>
            <a:off x="548640" y="2468880"/>
            <a:ext cx="3931920" cy="868680"/>
          </a:xfrm>
          <a:prstGeom prst="roundRect">
            <a:avLst>
              <a:gd name="adj" fmla="val 8421"/>
            </a:avLst>
          </a:prstGeom>
          <a:solidFill>
            <a:srgbClr val="E6F2EE"/>
          </a:solidFill>
          <a:ln/>
        </p:spPr>
      </p:sp>
      <p:pic>
        <p:nvPicPr>
          <p:cNvPr id="20" name="Image 0" descr="preencoded.png">    </p:cNvPr>
          <p:cNvPicPr>
            <a:picLocks noChangeAspect="1"/>
          </p:cNvPicPr>
          <p:nvPr/>
        </p:nvPicPr>
        <p:blipFill>
          <a:blip r:embed="rId1"/>
          <a:stretch>
            <a:fillRect/>
          </a:stretch>
        </p:blipFill>
        <p:spPr>
          <a:xfrm>
            <a:off x="731520" y="2724912"/>
            <a:ext cx="329184" cy="329184"/>
          </a:xfrm>
          <a:prstGeom prst="rect">
            <a:avLst/>
          </a:prstGeom>
        </p:spPr>
      </p:pic>
      <p:sp>
        <p:nvSpPr>
          <p:cNvPr id="21" name="Text 18"/>
          <p:cNvSpPr txBox="1"/>
          <p:nvPr/>
        </p:nvSpPr>
        <p:spPr>
          <a:xfrm>
            <a:off x="1188720" y="2468880"/>
            <a:ext cx="3154680" cy="868680"/>
          </a:xfrm>
          <a:prstGeom prst="rect">
            <a:avLst/>
          </a:prstGeom>
          <a:noFill/>
          <a:ln/>
        </p:spPr>
        <p:txBody>
          <a:bodyPr wrap="square" lIns="0" tIns="0" rIns="0" bIns="0" rtlCol="0" anchor="ctr"/>
          <a:lstStyle/>
          <a:p>
            <a:pPr indent="0" marL="0">
              <a:buNone/>
            </a:pPr>
            <a:r>
              <a:rPr lang="en-US" sz="1200" b="1" dirty="0">
                <a:solidFill>
                  <a:srgbClr val="0F1419"/>
                </a:solidFill>
                <a:latin typeface="Arial" pitchFamily="34" charset="0"/>
                <a:ea typeface="Arial" pitchFamily="34" charset="-122"/>
                <a:cs typeface="Arial" pitchFamily="34" charset="-120"/>
              </a:rPr>
              <a:t>Every check passes: </a:t>
            </a:r>
            <a:pPr indent="0" marL="0">
              <a:buNone/>
            </a:pPr>
            <a:r>
              <a:rPr lang="en-US" sz="1200" dirty="0">
                <a:solidFill>
                  <a:srgbClr val="0F1419"/>
                </a:solidFill>
                <a:latin typeface="Arial" pitchFamily="34" charset="0"/>
                <a:ea typeface="Arial" pitchFamily="34" charset="-122"/>
                <a:cs typeface="Arial" pitchFamily="34" charset="-120"/>
              </a:rPr>
              <a:t>the Allowances program moves USDC from the owner's wallet to the payee.</a:t>
            </a:r>
            <a:endParaRPr lang="en-US" sz="1200" dirty="0"/>
          </a:p>
        </p:txBody>
      </p:sp>
      <p:sp>
        <p:nvSpPr>
          <p:cNvPr id="22" name="Shape 19"/>
          <p:cNvSpPr/>
          <p:nvPr/>
        </p:nvSpPr>
        <p:spPr>
          <a:xfrm>
            <a:off x="4663440" y="2468880"/>
            <a:ext cx="3931920" cy="868680"/>
          </a:xfrm>
          <a:prstGeom prst="roundRect">
            <a:avLst>
              <a:gd name="adj" fmla="val 8421"/>
            </a:avLst>
          </a:prstGeom>
          <a:solidFill>
            <a:srgbClr val="F8E8E8"/>
          </a:solidFill>
          <a:ln/>
        </p:spPr>
      </p:sp>
      <p:pic>
        <p:nvPicPr>
          <p:cNvPr id="23" name="Image 1" descr="preencoded.png">    </p:cNvPr>
          <p:cNvPicPr>
            <a:picLocks noChangeAspect="1"/>
          </p:cNvPicPr>
          <p:nvPr/>
        </p:nvPicPr>
        <p:blipFill>
          <a:blip r:embed="rId2"/>
          <a:stretch>
            <a:fillRect/>
          </a:stretch>
        </p:blipFill>
        <p:spPr>
          <a:xfrm>
            <a:off x="4846320" y="2724912"/>
            <a:ext cx="329184" cy="329184"/>
          </a:xfrm>
          <a:prstGeom prst="rect">
            <a:avLst/>
          </a:prstGeom>
        </p:spPr>
      </p:pic>
      <p:sp>
        <p:nvSpPr>
          <p:cNvPr id="24" name="Text 20"/>
          <p:cNvSpPr txBox="1"/>
          <p:nvPr/>
        </p:nvSpPr>
        <p:spPr>
          <a:xfrm>
            <a:off x="5303520" y="2468880"/>
            <a:ext cx="3154680" cy="868680"/>
          </a:xfrm>
          <a:prstGeom prst="rect">
            <a:avLst/>
          </a:prstGeom>
          <a:noFill/>
          <a:ln/>
        </p:spPr>
        <p:txBody>
          <a:bodyPr wrap="square" lIns="0" tIns="0" rIns="0" bIns="0" rtlCol="0" anchor="ctr"/>
          <a:lstStyle/>
          <a:p>
            <a:pPr indent="0" marL="0">
              <a:buNone/>
            </a:pPr>
            <a:r>
              <a:rPr lang="en-US" sz="1200" b="1" dirty="0">
                <a:solidFill>
                  <a:srgbClr val="0F1419"/>
                </a:solidFill>
                <a:latin typeface="Arial" pitchFamily="34" charset="0"/>
                <a:ea typeface="Arial" pitchFamily="34" charset="-122"/>
                <a:cs typeface="Arial" pitchFamily="34" charset="-120"/>
              </a:rPr>
              <a:t>A check fails: </a:t>
            </a:r>
            <a:pPr indent="0" marL="0">
              <a:buNone/>
            </a:pPr>
            <a:r>
              <a:rPr lang="en-US" sz="1200" dirty="0">
                <a:solidFill>
                  <a:srgbClr val="0F1419"/>
                </a:solidFill>
                <a:latin typeface="Arial" pitchFamily="34" charset="0"/>
                <a:ea typeface="Arial" pitchFamily="34" charset="-122"/>
                <a:cs typeface="Arial" pitchFamily="34" charset="-120"/>
              </a:rPr>
              <a:t>nothing moves, the attempt is recorded on-chain as a strike, and three strikes freeze the agent.</a:t>
            </a:r>
            <a:endParaRPr lang="en-US" sz="1200" dirty="0"/>
          </a:p>
        </p:txBody>
      </p:sp>
      <p:sp>
        <p:nvSpPr>
          <p:cNvPr id="25" name="Text 21"/>
          <p:cNvSpPr txBox="1"/>
          <p:nvPr/>
        </p:nvSpPr>
        <p:spPr>
          <a:xfrm>
            <a:off x="548640" y="3566160"/>
            <a:ext cx="8046720" cy="100584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0F1419"/>
                </a:solidFill>
                <a:latin typeface="Arial" pitchFamily="34" charset="0"/>
                <a:ea typeface="Arial" pitchFamily="34" charset="-122"/>
                <a:cs typeface="Arial" pitchFamily="34" charset="-120"/>
              </a:rPr>
              <a:t>The agent's key can't move money by itself: the allowance belongs to the agent's Leash account, which only the program signs for, after every check.</a:t>
            </a:r>
            <a:endParaRPr lang="en-US" sz="1200" dirty="0"/>
          </a:p>
          <a:p>
            <a:pPr marL="177800" indent="-177800">
              <a:spcAft>
                <a:spcPts val="600"/>
              </a:spcAft>
              <a:buSzPct val="100000"/>
              <a:buChar char="•"/>
            </a:pPr>
            <a:r>
              <a:rPr lang="en-US" sz="1200" dirty="0">
                <a:solidFill>
                  <a:srgbClr val="0F1419"/>
                </a:solidFill>
                <a:latin typeface="Arial" pitchFamily="34" charset="0"/>
                <a:ea typeface="Arial" pitchFamily="34" charset="-122"/>
                <a:cs typeface="Arial" pitchFamily="34" charset="-120"/>
              </a:rPr>
              <a:t>Standard x402: any facilitator running the official package accepts Leash payments after two settings changes.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754880"/>
            <a:ext cx="1828800" cy="201168"/>
          </a:xfrm>
          <a:prstGeom prst="rect">
            <a:avLst/>
          </a:prstGeom>
          <a:noFill/>
          <a:ln/>
        </p:spPr>
        <p:txBody>
          <a:bodyPr wrap="square" lIns="0" tIns="0" rIns="0" bIns="0" rtlCol="0" anchor="t"/>
          <a:lstStyle/>
          <a:p>
            <a:pPr algn="l" indent="0" marL="0">
              <a:buNone/>
            </a:pPr>
            <a:r>
              <a:rPr lang="en-US" sz="900" dirty="0">
                <a:solidFill>
                  <a:srgbClr val="535C6B"/>
                </a:solidFill>
                <a:latin typeface="Arial" pitchFamily="34" charset="0"/>
                <a:ea typeface="Arial" pitchFamily="34" charset="-122"/>
                <a:cs typeface="Arial" pitchFamily="34" charset="-120"/>
              </a:rPr>
              <a:t>Leash</a:t>
            </a:r>
            <a:endParaRPr lang="en-US" sz="900" dirty="0"/>
          </a:p>
        </p:txBody>
      </p:sp>
      <p:sp>
        <p:nvSpPr>
          <p:cNvPr id="3" name="Text 1"/>
          <p:cNvSpPr txBox="1"/>
          <p:nvPr/>
        </p:nvSpPr>
        <p:spPr>
          <a:xfrm>
            <a:off x="8138160" y="4754880"/>
            <a:ext cx="457200" cy="201168"/>
          </a:xfrm>
          <a:prstGeom prst="rect">
            <a:avLst/>
          </a:prstGeom>
          <a:noFill/>
          <a:ln/>
        </p:spPr>
        <p:txBody>
          <a:bodyPr wrap="square" lIns="0" tIns="0" rIns="0" bIns="0" rtlCol="0" anchor="t"/>
          <a:lstStyle/>
          <a:p>
            <a:pPr algn="r" indent="0" marL="0">
              <a:buNone/>
            </a:pPr>
            <a:r>
              <a:rPr lang="en-US" sz="900" dirty="0">
                <a:solidFill>
                  <a:srgbClr val="535C6B"/>
                </a:solidFill>
                <a:latin typeface="Arial" pitchFamily="34" charset="0"/>
                <a:ea typeface="Arial" pitchFamily="34" charset="-122"/>
                <a:cs typeface="Arial" pitchFamily="34" charset="-120"/>
              </a:rPr>
              <a:t>6</a:t>
            </a:r>
            <a:endParaRPr lang="en-US" sz="900" dirty="0"/>
          </a:p>
        </p:txBody>
      </p:sp>
      <p:sp>
        <p:nvSpPr>
          <p:cNvPr id="4" name="Text 2"/>
          <p:cNvSpPr txBox="1"/>
          <p:nvPr/>
        </p:nvSpPr>
        <p:spPr>
          <a:xfrm>
            <a:off x="548640" y="384048"/>
            <a:ext cx="8046720" cy="548640"/>
          </a:xfrm>
          <a:prstGeom prst="rect">
            <a:avLst/>
          </a:prstGeom>
          <a:noFill/>
          <a:ln/>
        </p:spPr>
        <p:txBody>
          <a:bodyPr wrap="square" lIns="0" tIns="0" rIns="0" bIns="0" rtlCol="0" anchor="ctr"/>
          <a:lstStyle/>
          <a:p>
            <a:pPr algn="l" indent="0" marL="0">
              <a:buNone/>
            </a:pPr>
            <a:r>
              <a:rPr lang="en-US" sz="3000" b="1" dirty="0">
                <a:solidFill>
                  <a:srgbClr val="0F1419"/>
                </a:solidFill>
                <a:latin typeface="Arial" pitchFamily="34" charset="0"/>
                <a:ea typeface="Arial" pitchFamily="34" charset="-122"/>
                <a:cs typeface="Arial" pitchFamily="34" charset="-120"/>
              </a:rPr>
              <a:t>The demo, in four frames</a:t>
            </a:r>
            <a:endParaRPr lang="en-US" sz="3000" dirty="0"/>
          </a:p>
        </p:txBody>
      </p:sp>
      <p:sp>
        <p:nvSpPr>
          <p:cNvPr id="5" name="Shape 3"/>
          <p:cNvSpPr/>
          <p:nvPr/>
        </p:nvSpPr>
        <p:spPr>
          <a:xfrm>
            <a:off x="548640" y="1097280"/>
            <a:ext cx="1051560" cy="292608"/>
          </a:xfrm>
          <a:prstGeom prst="roundRect">
            <a:avLst>
              <a:gd name="adj" fmla="val 312500"/>
            </a:avLst>
          </a:prstGeom>
          <a:solidFill>
            <a:srgbClr val="E6F2EE"/>
          </a:solidFill>
          <a:ln/>
        </p:spPr>
      </p:sp>
      <p:sp>
        <p:nvSpPr>
          <p:cNvPr id="6" name="Text 4"/>
          <p:cNvSpPr txBox="1"/>
          <p:nvPr/>
        </p:nvSpPr>
        <p:spPr>
          <a:xfrm>
            <a:off x="548640" y="1097280"/>
            <a:ext cx="1051560" cy="292608"/>
          </a:xfrm>
          <a:prstGeom prst="rect">
            <a:avLst/>
          </a:prstGeom>
          <a:noFill/>
          <a:ln/>
        </p:spPr>
        <p:txBody>
          <a:bodyPr wrap="square" lIns="0" tIns="0" rIns="0" bIns="0" rtlCol="0" anchor="ctr"/>
          <a:lstStyle/>
          <a:p>
            <a:pPr algn="ctr" indent="0" marL="0">
              <a:buNone/>
            </a:pPr>
            <a:r>
              <a:rPr lang="en-US" sz="1000" b="1" dirty="0">
                <a:solidFill>
                  <a:srgbClr val="047857"/>
                </a:solidFill>
                <a:latin typeface="Arial" pitchFamily="34" charset="0"/>
                <a:ea typeface="Arial" pitchFamily="34" charset="-122"/>
                <a:cs typeface="Arial" pitchFamily="34" charset="-120"/>
              </a:rPr>
              <a:t>Paid</a:t>
            </a:r>
            <a:endParaRPr lang="en-US" sz="1000" dirty="0"/>
          </a:p>
        </p:txBody>
      </p:sp>
      <p:sp>
        <p:nvSpPr>
          <p:cNvPr id="7" name="Text 5"/>
          <p:cNvSpPr txBox="1"/>
          <p:nvPr/>
        </p:nvSpPr>
        <p:spPr>
          <a:xfrm>
            <a:off x="1783080" y="1115568"/>
            <a:ext cx="2514600" cy="411480"/>
          </a:xfrm>
          <a:prstGeom prst="rect">
            <a:avLst/>
          </a:prstGeom>
          <a:noFill/>
          <a:ln/>
        </p:spPr>
        <p:txBody>
          <a:bodyPr wrap="square" lIns="0" tIns="0" rIns="0" bIns="0" rtlCol="0" anchor="t"/>
          <a:lstStyle/>
          <a:p>
            <a:pPr algn="l" indent="0" marL="0">
              <a:buNone/>
            </a:pPr>
            <a:r>
              <a:rPr lang="en-US" sz="1150" dirty="0">
                <a:solidFill>
                  <a:srgbClr val="0F1419"/>
                </a:solidFill>
                <a:latin typeface="Arial" pitchFamily="34" charset="0"/>
                <a:ea typeface="Arial" pitchFamily="34" charset="-122"/>
                <a:cs typeface="Arial" pitchFamily="34" charset="-120"/>
              </a:rPr>
              <a:t>The agent pays the Research API 0.01–0.02 USDC per call.</a:t>
            </a:r>
            <a:endParaRPr lang="en-US" sz="1150" dirty="0"/>
          </a:p>
        </p:txBody>
      </p:sp>
      <p:sp>
        <p:nvSpPr>
          <p:cNvPr id="8" name="Shape 6"/>
          <p:cNvSpPr/>
          <p:nvPr/>
        </p:nvSpPr>
        <p:spPr>
          <a:xfrm>
            <a:off x="548640" y="1618488"/>
            <a:ext cx="1051560" cy="292608"/>
          </a:xfrm>
          <a:prstGeom prst="roundRect">
            <a:avLst>
              <a:gd name="adj" fmla="val 312500"/>
            </a:avLst>
          </a:prstGeom>
          <a:solidFill>
            <a:srgbClr val="F8EEE6"/>
          </a:solidFill>
          <a:ln/>
        </p:spPr>
      </p:sp>
      <p:sp>
        <p:nvSpPr>
          <p:cNvPr id="9" name="Text 7"/>
          <p:cNvSpPr txBox="1"/>
          <p:nvPr/>
        </p:nvSpPr>
        <p:spPr>
          <a:xfrm>
            <a:off x="548640" y="1618488"/>
            <a:ext cx="1051560" cy="292608"/>
          </a:xfrm>
          <a:prstGeom prst="rect">
            <a:avLst/>
          </a:prstGeom>
          <a:noFill/>
          <a:ln/>
        </p:spPr>
        <p:txBody>
          <a:bodyPr wrap="square" lIns="0" tIns="0" rIns="0" bIns="0" rtlCol="0" anchor="ctr"/>
          <a:lstStyle/>
          <a:p>
            <a:pPr algn="ctr" indent="0" marL="0">
              <a:buNone/>
            </a:pPr>
            <a:r>
              <a:rPr lang="en-US" sz="1000" b="1" dirty="0">
                <a:solidFill>
                  <a:srgbClr val="B45309"/>
                </a:solidFill>
                <a:latin typeface="Arial" pitchFamily="34" charset="0"/>
                <a:ea typeface="Arial" pitchFamily="34" charset="-122"/>
                <a:cs typeface="Arial" pitchFamily="34" charset="-120"/>
              </a:rPr>
              <a:t>Approval</a:t>
            </a:r>
            <a:endParaRPr lang="en-US" sz="1000" dirty="0"/>
          </a:p>
        </p:txBody>
      </p:sp>
      <p:sp>
        <p:nvSpPr>
          <p:cNvPr id="10" name="Text 8"/>
          <p:cNvSpPr txBox="1"/>
          <p:nvPr/>
        </p:nvSpPr>
        <p:spPr>
          <a:xfrm>
            <a:off x="1783080" y="1636776"/>
            <a:ext cx="2514600" cy="594360"/>
          </a:xfrm>
          <a:prstGeom prst="rect">
            <a:avLst/>
          </a:prstGeom>
          <a:noFill/>
          <a:ln/>
        </p:spPr>
        <p:txBody>
          <a:bodyPr wrap="square" lIns="0" tIns="0" rIns="0" bIns="0" rtlCol="0" anchor="t"/>
          <a:lstStyle/>
          <a:p>
            <a:pPr algn="l" indent="0" marL="0">
              <a:buNone/>
            </a:pPr>
            <a:r>
              <a:rPr lang="en-US" sz="1150" dirty="0">
                <a:solidFill>
                  <a:srgbClr val="0F1419"/>
                </a:solidFill>
                <a:latin typeface="Arial" pitchFamily="34" charset="0"/>
                <a:ea typeface="Arial" pitchFamily="34" charset="-122"/>
                <a:cs typeface="Arial" pitchFamily="34" charset="-120"/>
              </a:rPr>
              <a:t>A 1.50 USDC report is above its 1 USDC limit, so it asks. The owner approves.</a:t>
            </a:r>
            <a:endParaRPr lang="en-US" sz="1150" dirty="0"/>
          </a:p>
        </p:txBody>
      </p:sp>
      <p:sp>
        <p:nvSpPr>
          <p:cNvPr id="11" name="Shape 9"/>
          <p:cNvSpPr/>
          <p:nvPr/>
        </p:nvSpPr>
        <p:spPr>
          <a:xfrm>
            <a:off x="548640" y="2322576"/>
            <a:ext cx="1051560" cy="292608"/>
          </a:xfrm>
          <a:prstGeom prst="roundRect">
            <a:avLst>
              <a:gd name="adj" fmla="val 312500"/>
            </a:avLst>
          </a:prstGeom>
          <a:solidFill>
            <a:srgbClr val="F8E8E8"/>
          </a:solidFill>
          <a:ln/>
        </p:spPr>
      </p:sp>
      <p:sp>
        <p:nvSpPr>
          <p:cNvPr id="12" name="Text 10"/>
          <p:cNvSpPr txBox="1"/>
          <p:nvPr/>
        </p:nvSpPr>
        <p:spPr>
          <a:xfrm>
            <a:off x="548640" y="2322576"/>
            <a:ext cx="1051560" cy="292608"/>
          </a:xfrm>
          <a:prstGeom prst="rect">
            <a:avLst/>
          </a:prstGeom>
          <a:noFill/>
          <a:ln/>
        </p:spPr>
        <p:txBody>
          <a:bodyPr wrap="square" lIns="0" tIns="0" rIns="0" bIns="0" rtlCol="0" anchor="ctr"/>
          <a:lstStyle/>
          <a:p>
            <a:pPr algn="ctr" indent="0" marL="0">
              <a:buNone/>
            </a:pPr>
            <a:r>
              <a:rPr lang="en-US" sz="1000" b="1" dirty="0">
                <a:solidFill>
                  <a:srgbClr val="B91C1C"/>
                </a:solidFill>
                <a:latin typeface="Arial" pitchFamily="34" charset="0"/>
                <a:ea typeface="Arial" pitchFamily="34" charset="-122"/>
                <a:cs typeface="Arial" pitchFamily="34" charset="-120"/>
              </a:rPr>
              <a:t>Blocked ×3</a:t>
            </a:r>
            <a:endParaRPr lang="en-US" sz="1000" dirty="0"/>
          </a:p>
        </p:txBody>
      </p:sp>
      <p:sp>
        <p:nvSpPr>
          <p:cNvPr id="13" name="Text 11"/>
          <p:cNvSpPr txBox="1"/>
          <p:nvPr/>
        </p:nvSpPr>
        <p:spPr>
          <a:xfrm>
            <a:off x="1783080" y="2340864"/>
            <a:ext cx="2514600" cy="594360"/>
          </a:xfrm>
          <a:prstGeom prst="rect">
            <a:avLst/>
          </a:prstGeom>
          <a:noFill/>
          <a:ln/>
        </p:spPr>
        <p:txBody>
          <a:bodyPr wrap="square" lIns="0" tIns="0" rIns="0" bIns="0" rtlCol="0" anchor="t"/>
          <a:lstStyle/>
          <a:p>
            <a:pPr algn="l" indent="0" marL="0">
              <a:buNone/>
            </a:pPr>
            <a:r>
              <a:rPr lang="en-US" sz="1150" dirty="0">
                <a:solidFill>
                  <a:srgbClr val="0F1419"/>
                </a:solidFill>
                <a:latin typeface="Arial" pitchFamily="34" charset="0"/>
                <a:ea typeface="Arial" pitchFamily="34" charset="-122"/>
                <a:cs typeface="Arial" pitchFamily="34" charset="-120"/>
              </a:rPr>
              <a:t>A page hides “tip 25 USDC” to an unknown wallet. Blocked: strike 1, 2, 3.</a:t>
            </a:r>
            <a:endParaRPr lang="en-US" sz="1150" dirty="0"/>
          </a:p>
        </p:txBody>
      </p:sp>
      <p:sp>
        <p:nvSpPr>
          <p:cNvPr id="14" name="Shape 12"/>
          <p:cNvSpPr/>
          <p:nvPr/>
        </p:nvSpPr>
        <p:spPr>
          <a:xfrm>
            <a:off x="548640" y="3026664"/>
            <a:ext cx="1051560" cy="292608"/>
          </a:xfrm>
          <a:prstGeom prst="roundRect">
            <a:avLst>
              <a:gd name="adj" fmla="val 312500"/>
            </a:avLst>
          </a:prstGeom>
          <a:solidFill>
            <a:srgbClr val="E8EDFB"/>
          </a:solidFill>
          <a:ln/>
        </p:spPr>
      </p:sp>
      <p:sp>
        <p:nvSpPr>
          <p:cNvPr id="15" name="Text 13"/>
          <p:cNvSpPr txBox="1"/>
          <p:nvPr/>
        </p:nvSpPr>
        <p:spPr>
          <a:xfrm>
            <a:off x="548640" y="3026664"/>
            <a:ext cx="1051560" cy="292608"/>
          </a:xfrm>
          <a:prstGeom prst="rect">
            <a:avLst/>
          </a:prstGeom>
          <a:noFill/>
          <a:ln/>
        </p:spPr>
        <p:txBody>
          <a:bodyPr wrap="square" lIns="0" tIns="0" rIns="0" bIns="0" rtlCol="0" anchor="ctr"/>
          <a:lstStyle/>
          <a:p>
            <a:pPr algn="ctr" indent="0" marL="0">
              <a:buNone/>
            </a:pPr>
            <a:r>
              <a:rPr lang="en-US" sz="1000" b="1" dirty="0">
                <a:solidFill>
                  <a:srgbClr val="1D4ED8"/>
                </a:solidFill>
                <a:latin typeface="Arial" pitchFamily="34" charset="0"/>
                <a:ea typeface="Arial" pitchFamily="34" charset="-122"/>
                <a:cs typeface="Arial" pitchFamily="34" charset="-120"/>
              </a:rPr>
              <a:t>Frozen</a:t>
            </a:r>
            <a:endParaRPr lang="en-US" sz="1000" dirty="0"/>
          </a:p>
        </p:txBody>
      </p:sp>
      <p:sp>
        <p:nvSpPr>
          <p:cNvPr id="16" name="Text 14"/>
          <p:cNvSpPr txBox="1"/>
          <p:nvPr/>
        </p:nvSpPr>
        <p:spPr>
          <a:xfrm>
            <a:off x="1783080" y="3044952"/>
            <a:ext cx="2514600" cy="594360"/>
          </a:xfrm>
          <a:prstGeom prst="rect">
            <a:avLst/>
          </a:prstGeom>
          <a:noFill/>
          <a:ln/>
        </p:spPr>
        <p:txBody>
          <a:bodyPr wrap="square" lIns="0" tIns="0" rIns="0" bIns="0" rtlCol="0" anchor="t"/>
          <a:lstStyle/>
          <a:p>
            <a:pPr algn="l" indent="0" marL="0">
              <a:buNone/>
            </a:pPr>
            <a:r>
              <a:rPr lang="en-US" sz="1150" dirty="0">
                <a:solidFill>
                  <a:srgbClr val="0F1419"/>
                </a:solidFill>
                <a:latin typeface="Arial" pitchFamily="34" charset="0"/>
                <a:ea typeface="Arial" pitchFamily="34" charset="-122"/>
                <a:cs typeface="Arial" pitchFamily="34" charset="-120"/>
              </a:rPr>
              <a:t>The tripwire freezes the agent. The owner sees every attempt, with the attacker's address.</a:t>
            </a:r>
            <a:endParaRPr lang="en-US" sz="1150" dirty="0"/>
          </a:p>
        </p:txBody>
      </p:sp>
      <p:pic>
        <p:nvPicPr>
          <p:cNvPr id="17" name="Image 0" descr="preencoded.png">    </p:cNvPr>
          <p:cNvPicPr>
            <a:picLocks noChangeAspect="1"/>
          </p:cNvPicPr>
          <p:nvPr/>
        </p:nvPicPr>
        <p:blipFill>
          <a:blip r:embed="rId1"/>
          <a:stretch>
            <a:fillRect/>
          </a:stretch>
        </p:blipFill>
        <p:spPr>
          <a:xfrm>
            <a:off x="4572000" y="1097280"/>
            <a:ext cx="4023360" cy="2386405"/>
          </a:xfrm>
          <a:prstGeom prst="rect">
            <a:avLst/>
          </a:prstGeom>
        </p:spPr>
      </p:pic>
      <p:sp>
        <p:nvSpPr>
          <p:cNvPr id="18" name="Shape 15"/>
          <p:cNvSpPr/>
          <p:nvPr/>
        </p:nvSpPr>
        <p:spPr>
          <a:xfrm>
            <a:off x="4572000" y="1097280"/>
            <a:ext cx="4023360" cy="2386405"/>
          </a:xfrm>
          <a:prstGeom prst="rect">
            <a:avLst/>
          </a:prstGeom>
          <a:solidFill>
            <a:srgbClr val="FFFFFF">
              <a:alpha val="0"/>
            </a:srgbClr>
          </a:solidFill>
          <a:ln w="9525">
            <a:solidFill>
              <a:srgbClr val="DFE3EA"/>
            </a:solidFill>
            <a:prstDash val="solid"/>
          </a:ln>
        </p:spPr>
      </p:sp>
      <p:sp>
        <p:nvSpPr>
          <p:cNvPr id="19" name="Text 16"/>
          <p:cNvSpPr txBox="1"/>
          <p:nvPr/>
        </p:nvSpPr>
        <p:spPr>
          <a:xfrm>
            <a:off x="548640" y="3840480"/>
            <a:ext cx="8046720" cy="365760"/>
          </a:xfrm>
          <a:prstGeom prst="rect">
            <a:avLst/>
          </a:prstGeom>
          <a:noFill/>
          <a:ln/>
        </p:spPr>
        <p:txBody>
          <a:bodyPr wrap="square" lIns="0" tIns="0" rIns="0" bIns="0" rtlCol="0" anchor="t"/>
          <a:lstStyle/>
          <a:p>
            <a:pPr algn="l" indent="0" marL="0">
              <a:buNone/>
            </a:pPr>
            <a:r>
              <a:rPr lang="en-US" sz="1800" b="1" dirty="0">
                <a:solidFill>
                  <a:srgbClr val="0F1419"/>
                </a:solidFill>
                <a:latin typeface="Arial" pitchFamily="34" charset="0"/>
                <a:ea typeface="Arial" pitchFamily="34" charset="-122"/>
                <a:cs typeface="Arial" pitchFamily="34" charset="-120"/>
              </a:rPr>
              <a:t>The model was fooled. The money wasn't moved.</a:t>
            </a:r>
            <a:endParaRPr lang="en-US" sz="1800" dirty="0"/>
          </a:p>
        </p:txBody>
      </p:sp>
      <p:sp>
        <p:nvSpPr>
          <p:cNvPr id="20" name="Text 17"/>
          <p:cNvSpPr txBox="1"/>
          <p:nvPr/>
        </p:nvSpPr>
        <p:spPr>
          <a:xfrm>
            <a:off x="548640" y="4251960"/>
            <a:ext cx="8046720" cy="365760"/>
          </a:xfrm>
          <a:prstGeom prst="rect">
            <a:avLst/>
          </a:prstGeom>
          <a:noFill/>
          <a:ln/>
        </p:spPr>
        <p:txBody>
          <a:bodyPr wrap="square" lIns="0" tIns="0" rIns="0" bIns="0" rtlCol="0" anchor="t"/>
          <a:lstStyle/>
          <a:p>
            <a:pPr algn="l" indent="0" marL="0">
              <a:buNone/>
            </a:pPr>
            <a:r>
              <a:rPr lang="en-US" sz="900" dirty="0">
                <a:solidFill>
                  <a:srgbClr val="535C6B"/>
                </a:solidFill>
                <a:latin typeface="Arial" pitchFamily="34" charset="0"/>
                <a:ea typeface="Arial" pitchFamily="34" charset="-122"/>
                <a:cs typeface="Arial" pitchFamily="34" charset="-120"/>
              </a:rPr>
              <a:t>Scripted scene: simulating a successful injection. Every payment, block and strike is real and on-chain. Screenshot: the control panel replaying the demo story (sample data).</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754880"/>
            <a:ext cx="1828800" cy="201168"/>
          </a:xfrm>
          <a:prstGeom prst="rect">
            <a:avLst/>
          </a:prstGeom>
          <a:noFill/>
          <a:ln/>
        </p:spPr>
        <p:txBody>
          <a:bodyPr wrap="square" lIns="0" tIns="0" rIns="0" bIns="0" rtlCol="0" anchor="t"/>
          <a:lstStyle/>
          <a:p>
            <a:pPr algn="l" indent="0" marL="0">
              <a:buNone/>
            </a:pPr>
            <a:r>
              <a:rPr lang="en-US" sz="900" dirty="0">
                <a:solidFill>
                  <a:srgbClr val="535C6B"/>
                </a:solidFill>
                <a:latin typeface="Arial" pitchFamily="34" charset="0"/>
                <a:ea typeface="Arial" pitchFamily="34" charset="-122"/>
                <a:cs typeface="Arial" pitchFamily="34" charset="-120"/>
              </a:rPr>
              <a:t>Leash</a:t>
            </a:r>
            <a:endParaRPr lang="en-US" sz="900" dirty="0"/>
          </a:p>
        </p:txBody>
      </p:sp>
      <p:sp>
        <p:nvSpPr>
          <p:cNvPr id="3" name="Text 1"/>
          <p:cNvSpPr txBox="1"/>
          <p:nvPr/>
        </p:nvSpPr>
        <p:spPr>
          <a:xfrm>
            <a:off x="8138160" y="4754880"/>
            <a:ext cx="457200" cy="201168"/>
          </a:xfrm>
          <a:prstGeom prst="rect">
            <a:avLst/>
          </a:prstGeom>
          <a:noFill/>
          <a:ln/>
        </p:spPr>
        <p:txBody>
          <a:bodyPr wrap="square" lIns="0" tIns="0" rIns="0" bIns="0" rtlCol="0" anchor="t"/>
          <a:lstStyle/>
          <a:p>
            <a:pPr algn="r" indent="0" marL="0">
              <a:buNone/>
            </a:pPr>
            <a:r>
              <a:rPr lang="en-US" sz="900" dirty="0">
                <a:solidFill>
                  <a:srgbClr val="535C6B"/>
                </a:solidFill>
                <a:latin typeface="Arial" pitchFamily="34" charset="0"/>
                <a:ea typeface="Arial" pitchFamily="34" charset="-122"/>
                <a:cs typeface="Arial" pitchFamily="34" charset="-120"/>
              </a:rPr>
              <a:t>7</a:t>
            </a:r>
            <a:endParaRPr lang="en-US" sz="900" dirty="0"/>
          </a:p>
        </p:txBody>
      </p:sp>
      <p:sp>
        <p:nvSpPr>
          <p:cNvPr id="4" name="Text 2"/>
          <p:cNvSpPr txBox="1"/>
          <p:nvPr/>
        </p:nvSpPr>
        <p:spPr>
          <a:xfrm>
            <a:off x="548640" y="384048"/>
            <a:ext cx="8046720" cy="548640"/>
          </a:xfrm>
          <a:prstGeom prst="rect">
            <a:avLst/>
          </a:prstGeom>
          <a:noFill/>
          <a:ln/>
        </p:spPr>
        <p:txBody>
          <a:bodyPr wrap="square" lIns="0" tIns="0" rIns="0" bIns="0" rtlCol="0" anchor="ctr"/>
          <a:lstStyle/>
          <a:p>
            <a:pPr algn="l" indent="0" marL="0">
              <a:buNone/>
            </a:pPr>
            <a:r>
              <a:rPr lang="en-US" sz="3000" b="1" dirty="0">
                <a:solidFill>
                  <a:srgbClr val="0F1419"/>
                </a:solidFill>
                <a:latin typeface="Arial" pitchFamily="34" charset="0"/>
                <a:ea typeface="Arial" pitchFamily="34" charset="-122"/>
                <a:cs typeface="Arial" pitchFamily="34" charset="-120"/>
              </a:rPr>
              <a:t>Why Solana</a:t>
            </a:r>
            <a:endParaRPr lang="en-US" sz="3000" dirty="0"/>
          </a:p>
        </p:txBody>
      </p:sp>
      <p:sp>
        <p:nvSpPr>
          <p:cNvPr id="5" name="Shape 3"/>
          <p:cNvSpPr/>
          <p:nvPr/>
        </p:nvSpPr>
        <p:spPr>
          <a:xfrm>
            <a:off x="548640" y="1097280"/>
            <a:ext cx="2560320" cy="2514600"/>
          </a:xfrm>
          <a:prstGeom prst="roundRect">
            <a:avLst>
              <a:gd name="adj" fmla="val 2909"/>
            </a:avLst>
          </a:prstGeom>
          <a:solidFill>
            <a:srgbClr val="FFFFFF"/>
          </a:solidFill>
          <a:ln w="9525">
            <a:solidFill>
              <a:srgbClr val="DFE3EA"/>
            </a:solidFill>
            <a:prstDash val="solid"/>
          </a:ln>
          <a:effectLst>
            <a:outerShdw sx="100000" sy="100000" kx="0" ky="0" algn="bl" rotWithShape="0" blurRad="50800" dist="12700" dir="5400000">
              <a:srgbClr val="000000">
                <a:alpha val="8000"/>
              </a:srgbClr>
            </a:outerShdw>
          </a:effectLst>
        </p:spPr>
      </p:sp>
      <p:sp>
        <p:nvSpPr>
          <p:cNvPr id="6" name="Shape 4"/>
          <p:cNvSpPr/>
          <p:nvPr/>
        </p:nvSpPr>
        <p:spPr>
          <a:xfrm>
            <a:off x="777240" y="1298448"/>
            <a:ext cx="502920" cy="502920"/>
          </a:xfrm>
          <a:prstGeom prst="ellipse">
            <a:avLst/>
          </a:prstGeom>
          <a:solidFill>
            <a:srgbClr val="F0E9FB"/>
          </a:solidFill>
          <a:ln/>
        </p:spPr>
      </p:sp>
      <p:pic>
        <p:nvPicPr>
          <p:cNvPr id="7" name="Image 0" descr="preencoded.png">    </p:cNvPr>
          <p:cNvPicPr>
            <a:picLocks noChangeAspect="1"/>
          </p:cNvPicPr>
          <p:nvPr/>
        </p:nvPicPr>
        <p:blipFill>
          <a:blip r:embed="rId1"/>
          <a:stretch>
            <a:fillRect/>
          </a:stretch>
        </p:blipFill>
        <p:spPr>
          <a:xfrm>
            <a:off x="897941" y="1419149"/>
            <a:ext cx="261518" cy="261518"/>
          </a:xfrm>
          <a:prstGeom prst="rect">
            <a:avLst/>
          </a:prstGeom>
        </p:spPr>
      </p:pic>
      <p:sp>
        <p:nvSpPr>
          <p:cNvPr id="8" name="Text 5"/>
          <p:cNvSpPr txBox="1"/>
          <p:nvPr/>
        </p:nvSpPr>
        <p:spPr>
          <a:xfrm>
            <a:off x="777240" y="1901952"/>
            <a:ext cx="2103120" cy="502920"/>
          </a:xfrm>
          <a:prstGeom prst="rect">
            <a:avLst/>
          </a:prstGeom>
          <a:noFill/>
          <a:ln/>
        </p:spPr>
        <p:txBody>
          <a:bodyPr wrap="square" lIns="0" tIns="0" rIns="0" bIns="0" rtlCol="0" anchor="t"/>
          <a:lstStyle/>
          <a:p>
            <a:pPr algn="l" indent="0" marL="0">
              <a:buNone/>
            </a:pPr>
            <a:r>
              <a:rPr lang="en-US" sz="1500" b="1" dirty="0">
                <a:solidFill>
                  <a:srgbClr val="0F1419"/>
                </a:solidFill>
                <a:latin typeface="Arial" pitchFamily="34" charset="0"/>
                <a:ea typeface="Arial" pitchFamily="34" charset="-122"/>
                <a:cs typeface="Arial" pitchFamily="34" charset="-120"/>
              </a:rPr>
              <a:t>Pay per call</a:t>
            </a:r>
            <a:endParaRPr lang="en-US" sz="1500" dirty="0"/>
          </a:p>
        </p:txBody>
      </p:sp>
      <p:sp>
        <p:nvSpPr>
          <p:cNvPr id="9" name="Text 6"/>
          <p:cNvSpPr txBox="1"/>
          <p:nvPr/>
        </p:nvSpPr>
        <p:spPr>
          <a:xfrm>
            <a:off x="777240" y="2487168"/>
            <a:ext cx="2103120" cy="1051560"/>
          </a:xfrm>
          <a:prstGeom prst="rect">
            <a:avLst/>
          </a:prstGeom>
          <a:noFill/>
          <a:ln/>
        </p:spPr>
        <p:txBody>
          <a:bodyPr wrap="square" lIns="0" tIns="0" rIns="0" bIns="0" rtlCol="0" anchor="t"/>
          <a:lstStyle/>
          <a:p>
            <a:pPr algn="l" indent="0" marL="0">
              <a:buNone/>
            </a:pPr>
            <a:r>
              <a:rPr lang="en-US" sz="1150" dirty="0">
                <a:solidFill>
                  <a:srgbClr val="535C6B"/>
                </a:solidFill>
                <a:latin typeface="Arial" pitchFamily="34" charset="0"/>
                <a:ea typeface="Arial" pitchFamily="34" charset="-122"/>
                <a:cs typeface="Arial" pitchFamily="34" charset="-120"/>
              </a:rPr>
              <a:t>A 0.01 USDC API call needs sub-cent fees and fast settlement. 76% of x402 agent payments already run on Solana.</a:t>
            </a:r>
            <a:endParaRPr lang="en-US" sz="1150" dirty="0"/>
          </a:p>
        </p:txBody>
      </p:sp>
      <p:sp>
        <p:nvSpPr>
          <p:cNvPr id="10" name="Shape 7"/>
          <p:cNvSpPr/>
          <p:nvPr/>
        </p:nvSpPr>
        <p:spPr>
          <a:xfrm>
            <a:off x="3291840" y="1097280"/>
            <a:ext cx="2560320" cy="2514600"/>
          </a:xfrm>
          <a:prstGeom prst="roundRect">
            <a:avLst>
              <a:gd name="adj" fmla="val 2909"/>
            </a:avLst>
          </a:prstGeom>
          <a:solidFill>
            <a:srgbClr val="FFFFFF"/>
          </a:solidFill>
          <a:ln w="9525">
            <a:solidFill>
              <a:srgbClr val="DFE3EA"/>
            </a:solidFill>
            <a:prstDash val="solid"/>
          </a:ln>
          <a:effectLst>
            <a:outerShdw sx="100000" sy="100000" kx="0" ky="0" algn="bl" rotWithShape="0" blurRad="50800" dist="12700" dir="5400000">
              <a:srgbClr val="000000">
                <a:alpha val="8000"/>
              </a:srgbClr>
            </a:outerShdw>
          </a:effectLst>
        </p:spPr>
      </p:sp>
      <p:sp>
        <p:nvSpPr>
          <p:cNvPr id="11" name="Shape 8"/>
          <p:cNvSpPr/>
          <p:nvPr/>
        </p:nvSpPr>
        <p:spPr>
          <a:xfrm>
            <a:off x="3520440" y="1298448"/>
            <a:ext cx="502920" cy="502920"/>
          </a:xfrm>
          <a:prstGeom prst="ellipse">
            <a:avLst/>
          </a:prstGeom>
          <a:solidFill>
            <a:srgbClr val="E8EDFB"/>
          </a:solidFill>
          <a:ln/>
        </p:spPr>
      </p:sp>
      <p:pic>
        <p:nvPicPr>
          <p:cNvPr id="12" name="Image 1" descr="preencoded.png">    </p:cNvPr>
          <p:cNvPicPr>
            <a:picLocks noChangeAspect="1"/>
          </p:cNvPicPr>
          <p:nvPr/>
        </p:nvPicPr>
        <p:blipFill>
          <a:blip r:embed="rId2"/>
          <a:stretch>
            <a:fillRect/>
          </a:stretch>
        </p:blipFill>
        <p:spPr>
          <a:xfrm>
            <a:off x="3641141" y="1419149"/>
            <a:ext cx="261518" cy="261518"/>
          </a:xfrm>
          <a:prstGeom prst="rect">
            <a:avLst/>
          </a:prstGeom>
        </p:spPr>
      </p:pic>
      <p:sp>
        <p:nvSpPr>
          <p:cNvPr id="13" name="Text 9"/>
          <p:cNvSpPr txBox="1"/>
          <p:nvPr/>
        </p:nvSpPr>
        <p:spPr>
          <a:xfrm>
            <a:off x="3520440" y="1901952"/>
            <a:ext cx="2103120" cy="502920"/>
          </a:xfrm>
          <a:prstGeom prst="rect">
            <a:avLst/>
          </a:prstGeom>
          <a:noFill/>
          <a:ln/>
        </p:spPr>
        <p:txBody>
          <a:bodyPr wrap="square" lIns="0" tIns="0" rIns="0" bIns="0" rtlCol="0" anchor="t"/>
          <a:lstStyle/>
          <a:p>
            <a:pPr algn="l" indent="0" marL="0">
              <a:buNone/>
            </a:pPr>
            <a:r>
              <a:rPr lang="en-US" sz="1500" b="1" dirty="0">
                <a:solidFill>
                  <a:srgbClr val="0F1419"/>
                </a:solidFill>
                <a:latin typeface="Arial" pitchFamily="34" charset="0"/>
                <a:ea typeface="Arial" pitchFamily="34" charset="-122"/>
                <a:cs typeface="Arial" pitchFamily="34" charset="-120"/>
              </a:rPr>
              <a:t>Rules where the money is</a:t>
            </a:r>
            <a:endParaRPr lang="en-US" sz="1500" dirty="0"/>
          </a:p>
        </p:txBody>
      </p:sp>
      <p:sp>
        <p:nvSpPr>
          <p:cNvPr id="14" name="Text 10"/>
          <p:cNvSpPr txBox="1"/>
          <p:nvPr/>
        </p:nvSpPr>
        <p:spPr>
          <a:xfrm>
            <a:off x="3520440" y="2487168"/>
            <a:ext cx="2103120" cy="1051560"/>
          </a:xfrm>
          <a:prstGeom prst="rect">
            <a:avLst/>
          </a:prstGeom>
          <a:noFill/>
          <a:ln/>
        </p:spPr>
        <p:txBody>
          <a:bodyPr wrap="square" lIns="0" tIns="0" rIns="0" bIns="0" rtlCol="0" anchor="t"/>
          <a:lstStyle/>
          <a:p>
            <a:pPr algn="l" indent="0" marL="0">
              <a:buNone/>
            </a:pPr>
            <a:r>
              <a:rPr lang="en-US" sz="1150" dirty="0">
                <a:solidFill>
                  <a:srgbClr val="535C6B"/>
                </a:solidFill>
                <a:latin typeface="Arial" pitchFamily="34" charset="0"/>
                <a:ea typeface="Arial" pitchFamily="34" charset="-122"/>
                <a:cs typeface="Arial" pitchFamily="34" charset="-120"/>
              </a:rPr>
              <a:t>No prompt can change on-chain rules, and a freeze applies to everyone from the next slot.</a:t>
            </a:r>
            <a:endParaRPr lang="en-US" sz="1150" dirty="0"/>
          </a:p>
        </p:txBody>
      </p:sp>
      <p:sp>
        <p:nvSpPr>
          <p:cNvPr id="15" name="Shape 11"/>
          <p:cNvSpPr/>
          <p:nvPr/>
        </p:nvSpPr>
        <p:spPr>
          <a:xfrm>
            <a:off x="6035040" y="1097280"/>
            <a:ext cx="2560320" cy="2514600"/>
          </a:xfrm>
          <a:prstGeom prst="roundRect">
            <a:avLst>
              <a:gd name="adj" fmla="val 2909"/>
            </a:avLst>
          </a:prstGeom>
          <a:solidFill>
            <a:srgbClr val="FFFFFF"/>
          </a:solidFill>
          <a:ln w="9525">
            <a:solidFill>
              <a:srgbClr val="DFE3EA"/>
            </a:solidFill>
            <a:prstDash val="solid"/>
          </a:ln>
          <a:effectLst>
            <a:outerShdw sx="100000" sy="100000" kx="0" ky="0" algn="bl" rotWithShape="0" blurRad="50800" dist="12700" dir="5400000">
              <a:srgbClr val="000000">
                <a:alpha val="8000"/>
              </a:srgbClr>
            </a:outerShdw>
          </a:effectLst>
        </p:spPr>
      </p:sp>
      <p:sp>
        <p:nvSpPr>
          <p:cNvPr id="16" name="Shape 12"/>
          <p:cNvSpPr/>
          <p:nvPr/>
        </p:nvSpPr>
        <p:spPr>
          <a:xfrm>
            <a:off x="6263640" y="1298448"/>
            <a:ext cx="502920" cy="502920"/>
          </a:xfrm>
          <a:prstGeom prst="ellipse">
            <a:avLst/>
          </a:prstGeom>
          <a:solidFill>
            <a:srgbClr val="E6F2EE"/>
          </a:solidFill>
          <a:ln/>
        </p:spPr>
      </p:sp>
      <p:pic>
        <p:nvPicPr>
          <p:cNvPr id="17" name="Image 2" descr="preencoded.png">    </p:cNvPr>
          <p:cNvPicPr>
            <a:picLocks noChangeAspect="1"/>
          </p:cNvPicPr>
          <p:nvPr/>
        </p:nvPicPr>
        <p:blipFill>
          <a:blip r:embed="rId3"/>
          <a:stretch>
            <a:fillRect/>
          </a:stretch>
        </p:blipFill>
        <p:spPr>
          <a:xfrm>
            <a:off x="6384341" y="1419149"/>
            <a:ext cx="261518" cy="261518"/>
          </a:xfrm>
          <a:prstGeom prst="rect">
            <a:avLst/>
          </a:prstGeom>
        </p:spPr>
      </p:pic>
      <p:sp>
        <p:nvSpPr>
          <p:cNvPr id="18" name="Text 13"/>
          <p:cNvSpPr txBox="1"/>
          <p:nvPr/>
        </p:nvSpPr>
        <p:spPr>
          <a:xfrm>
            <a:off x="6263640" y="1901952"/>
            <a:ext cx="2103120" cy="502920"/>
          </a:xfrm>
          <a:prstGeom prst="rect">
            <a:avLst/>
          </a:prstGeom>
          <a:noFill/>
          <a:ln/>
        </p:spPr>
        <p:txBody>
          <a:bodyPr wrap="square" lIns="0" tIns="0" rIns="0" bIns="0" rtlCol="0" anchor="t"/>
          <a:lstStyle/>
          <a:p>
            <a:pPr algn="l" indent="0" marL="0">
              <a:buNone/>
            </a:pPr>
            <a:r>
              <a:rPr lang="en-US" sz="1500" b="1" dirty="0">
                <a:solidFill>
                  <a:srgbClr val="0F1419"/>
                </a:solidFill>
                <a:latin typeface="Arial" pitchFamily="34" charset="0"/>
                <a:ea typeface="Arial" pitchFamily="34" charset="-122"/>
                <a:cs typeface="Arial" pitchFamily="34" charset="-120"/>
              </a:rPr>
              <a:t>Built from Solana's parts</a:t>
            </a:r>
            <a:endParaRPr lang="en-US" sz="1500" dirty="0"/>
          </a:p>
        </p:txBody>
      </p:sp>
      <p:sp>
        <p:nvSpPr>
          <p:cNvPr id="19" name="Text 14"/>
          <p:cNvSpPr txBox="1"/>
          <p:nvPr/>
        </p:nvSpPr>
        <p:spPr>
          <a:xfrm>
            <a:off x="6263640" y="2487168"/>
            <a:ext cx="2103120" cy="1051560"/>
          </a:xfrm>
          <a:prstGeom prst="rect">
            <a:avLst/>
          </a:prstGeom>
          <a:noFill/>
          <a:ln/>
        </p:spPr>
        <p:txBody>
          <a:bodyPr wrap="square" lIns="0" tIns="0" rIns="0" bIns="0" rtlCol="0" anchor="t"/>
          <a:lstStyle/>
          <a:p>
            <a:pPr algn="l" indent="0" marL="0">
              <a:buNone/>
            </a:pPr>
            <a:r>
              <a:rPr lang="en-US" sz="1150" dirty="0">
                <a:solidFill>
                  <a:srgbClr val="535C6B"/>
                </a:solidFill>
                <a:latin typeface="Arial" pitchFamily="34" charset="0"/>
                <a:ea typeface="Arial" pitchFamily="34" charset="-122"/>
                <a:cs typeface="Arial" pitchFamily="34" charset="-120"/>
              </a:rPr>
              <a:t>The Foundation's audited Allowances program is the hard ceiling, x402 carries the payment, and Leash adds the rules in between.</a:t>
            </a:r>
            <a:endParaRPr lang="en-US" sz="1150" dirty="0"/>
          </a:p>
        </p:txBody>
      </p:sp>
      <p:sp>
        <p:nvSpPr>
          <p:cNvPr id="20" name="Text 15"/>
          <p:cNvSpPr txBox="1"/>
          <p:nvPr/>
        </p:nvSpPr>
        <p:spPr>
          <a:xfrm>
            <a:off x="548640" y="3840480"/>
            <a:ext cx="8046720" cy="548640"/>
          </a:xfrm>
          <a:prstGeom prst="rect">
            <a:avLst/>
          </a:prstGeom>
          <a:noFill/>
          <a:ln/>
        </p:spPr>
        <p:txBody>
          <a:bodyPr wrap="square" lIns="0" tIns="0" rIns="0" bIns="0" rtlCol="0" anchor="t"/>
          <a:lstStyle/>
          <a:p>
            <a:pPr algn="l" indent="0" marL="0">
              <a:buNone/>
            </a:pPr>
            <a:r>
              <a:rPr lang="en-US" sz="1400" b="1" dirty="0">
                <a:solidFill>
                  <a:srgbClr val="0F1419"/>
                </a:solidFill>
                <a:latin typeface="Arial" pitchFamily="34" charset="0"/>
                <a:ea typeface="Arial" pitchFamily="34" charset="-122"/>
                <a:cs typeface="Arial" pitchFamily="34" charset="-120"/>
              </a:rPr>
              <a:t>Off-chain, a firewall can be bypassed by whoever holds the key. On Solana, the agent's key alone can't move the money.</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754880"/>
            <a:ext cx="1828800" cy="201168"/>
          </a:xfrm>
          <a:prstGeom prst="rect">
            <a:avLst/>
          </a:prstGeom>
          <a:noFill/>
          <a:ln/>
        </p:spPr>
        <p:txBody>
          <a:bodyPr wrap="square" lIns="0" tIns="0" rIns="0" bIns="0" rtlCol="0" anchor="t"/>
          <a:lstStyle/>
          <a:p>
            <a:pPr algn="l" indent="0" marL="0">
              <a:buNone/>
            </a:pPr>
            <a:r>
              <a:rPr lang="en-US" sz="900" dirty="0">
                <a:solidFill>
                  <a:srgbClr val="535C6B"/>
                </a:solidFill>
                <a:latin typeface="Arial" pitchFamily="34" charset="0"/>
                <a:ea typeface="Arial" pitchFamily="34" charset="-122"/>
                <a:cs typeface="Arial" pitchFamily="34" charset="-120"/>
              </a:rPr>
              <a:t>Leash</a:t>
            </a:r>
            <a:endParaRPr lang="en-US" sz="900" dirty="0"/>
          </a:p>
        </p:txBody>
      </p:sp>
      <p:sp>
        <p:nvSpPr>
          <p:cNvPr id="3" name="Text 1"/>
          <p:cNvSpPr txBox="1"/>
          <p:nvPr/>
        </p:nvSpPr>
        <p:spPr>
          <a:xfrm>
            <a:off x="8138160" y="4754880"/>
            <a:ext cx="457200" cy="201168"/>
          </a:xfrm>
          <a:prstGeom prst="rect">
            <a:avLst/>
          </a:prstGeom>
          <a:noFill/>
          <a:ln/>
        </p:spPr>
        <p:txBody>
          <a:bodyPr wrap="square" lIns="0" tIns="0" rIns="0" bIns="0" rtlCol="0" anchor="t"/>
          <a:lstStyle/>
          <a:p>
            <a:pPr algn="r" indent="0" marL="0">
              <a:buNone/>
            </a:pPr>
            <a:r>
              <a:rPr lang="en-US" sz="900" dirty="0">
                <a:solidFill>
                  <a:srgbClr val="535C6B"/>
                </a:solidFill>
                <a:latin typeface="Arial" pitchFamily="34" charset="0"/>
                <a:ea typeface="Arial" pitchFamily="34" charset="-122"/>
                <a:cs typeface="Arial" pitchFamily="34" charset="-120"/>
              </a:rPr>
              <a:t>8</a:t>
            </a:r>
            <a:endParaRPr lang="en-US" sz="900" dirty="0"/>
          </a:p>
        </p:txBody>
      </p:sp>
      <p:sp>
        <p:nvSpPr>
          <p:cNvPr id="4" name="Text 2"/>
          <p:cNvSpPr txBox="1"/>
          <p:nvPr/>
        </p:nvSpPr>
        <p:spPr>
          <a:xfrm>
            <a:off x="548640" y="384048"/>
            <a:ext cx="8046720" cy="548640"/>
          </a:xfrm>
          <a:prstGeom prst="rect">
            <a:avLst/>
          </a:prstGeom>
          <a:noFill/>
          <a:ln/>
        </p:spPr>
        <p:txBody>
          <a:bodyPr wrap="square" lIns="0" tIns="0" rIns="0" bIns="0" rtlCol="0" anchor="ctr"/>
          <a:lstStyle/>
          <a:p>
            <a:pPr algn="l" indent="0" marL="0">
              <a:buNone/>
            </a:pPr>
            <a:r>
              <a:rPr lang="en-US" sz="3000" b="1" dirty="0">
                <a:solidFill>
                  <a:srgbClr val="0F1419"/>
                </a:solidFill>
                <a:latin typeface="Arial" pitchFamily="34" charset="0"/>
                <a:ea typeface="Arial" pitchFamily="34" charset="-122"/>
                <a:cs typeface="Arial" pitchFamily="34" charset="-120"/>
              </a:rPr>
              <a:t>Fail-closed and non-custodial</a:t>
            </a:r>
            <a:endParaRPr lang="en-US" sz="3000" dirty="0"/>
          </a:p>
        </p:txBody>
      </p:sp>
      <p:sp>
        <p:nvSpPr>
          <p:cNvPr id="5" name="Shape 3"/>
          <p:cNvSpPr/>
          <p:nvPr/>
        </p:nvSpPr>
        <p:spPr>
          <a:xfrm>
            <a:off x="548640" y="1097280"/>
            <a:ext cx="4114800" cy="1051560"/>
          </a:xfrm>
          <a:prstGeom prst="roundRect">
            <a:avLst>
              <a:gd name="adj" fmla="val 6957"/>
            </a:avLst>
          </a:prstGeom>
          <a:solidFill>
            <a:srgbClr val="F0E9FB"/>
          </a:solidFill>
          <a:ln/>
        </p:spPr>
      </p:sp>
      <p:sp>
        <p:nvSpPr>
          <p:cNvPr id="6" name="Text 4"/>
          <p:cNvSpPr txBox="1"/>
          <p:nvPr/>
        </p:nvSpPr>
        <p:spPr>
          <a:xfrm>
            <a:off x="731520" y="1188720"/>
            <a:ext cx="3749040" cy="868680"/>
          </a:xfrm>
          <a:prstGeom prst="rect">
            <a:avLst/>
          </a:prstGeom>
          <a:noFill/>
          <a:ln/>
        </p:spPr>
        <p:txBody>
          <a:bodyPr wrap="square" lIns="0" tIns="0" rIns="0" bIns="0" rtlCol="0" anchor="ctr"/>
          <a:lstStyle/>
          <a:p>
            <a:pPr algn="l" indent="0" marL="0">
              <a:buNone/>
            </a:pPr>
            <a:r>
              <a:rPr lang="en-US" sz="1250" i="1" dirty="0">
                <a:solidFill>
                  <a:srgbClr val="0F1419"/>
                </a:solidFill>
                <a:latin typeface="Arial" pitchFamily="34" charset="0"/>
                <a:ea typeface="Arial" pitchFamily="34" charset="-122"/>
                <a:cs typeface="Arial" pitchFamily="34" charset="-120"/>
              </a:rPr>
              <a:t>“Your money never leaves your wallet. The most any agent can ever spend is the allowance you set in Solana's own audited program. Leash can only make that smaller.”</a:t>
            </a:r>
            <a:endParaRPr lang="en-US" sz="1250" dirty="0"/>
          </a:p>
        </p:txBody>
      </p:sp>
      <p:sp>
        <p:nvSpPr>
          <p:cNvPr id="7" name="Text 5"/>
          <p:cNvSpPr txBox="1"/>
          <p:nvPr/>
        </p:nvSpPr>
        <p:spPr>
          <a:xfrm>
            <a:off x="548640" y="2331720"/>
            <a:ext cx="4114800" cy="274320"/>
          </a:xfrm>
          <a:prstGeom prst="rect">
            <a:avLst/>
          </a:prstGeom>
          <a:noFill/>
          <a:ln/>
        </p:spPr>
        <p:txBody>
          <a:bodyPr wrap="square" lIns="0" tIns="0" rIns="0" bIns="0" rtlCol="0" anchor="t"/>
          <a:lstStyle/>
          <a:p>
            <a:pPr algn="l" indent="0" marL="0">
              <a:buNone/>
            </a:pPr>
            <a:r>
              <a:rPr lang="en-US" sz="1300" b="1" dirty="0">
                <a:solidFill>
                  <a:srgbClr val="0F1419"/>
                </a:solidFill>
                <a:latin typeface="Arial" pitchFamily="34" charset="0"/>
                <a:ea typeface="Arial" pitchFamily="34" charset="-122"/>
                <a:cs typeface="Arial" pitchFamily="34" charset="-120"/>
              </a:rPr>
              <a:t>What can still go wrong</a:t>
            </a:r>
            <a:endParaRPr lang="en-US" sz="1300" dirty="0"/>
          </a:p>
        </p:txBody>
      </p:sp>
      <p:sp>
        <p:nvSpPr>
          <p:cNvPr id="8" name="Text 6"/>
          <p:cNvSpPr txBox="1"/>
          <p:nvPr/>
        </p:nvSpPr>
        <p:spPr>
          <a:xfrm>
            <a:off x="548640" y="2651760"/>
            <a:ext cx="4114800" cy="182880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0F1419"/>
                </a:solidFill>
                <a:latin typeface="Arial" pitchFamily="34" charset="0"/>
                <a:ea typeface="Arial" pitchFamily="34" charset="-122"/>
                <a:cs typeface="Arial" pitchFamily="34" charset="-120"/>
              </a:rPr>
              <a:t>A fooled agent can still buy allowed things it didn't need, within its limits.</a:t>
            </a:r>
            <a:endParaRPr lang="en-US" sz="1100" dirty="0"/>
          </a:p>
          <a:p>
            <a:pPr marL="177800" indent="-177800">
              <a:spcAft>
                <a:spcPts val="500"/>
              </a:spcAft>
              <a:buSzPct val="100000"/>
              <a:buChar char="•"/>
            </a:pPr>
            <a:r>
              <a:rPr lang="en-US" sz="1100" dirty="0">
                <a:solidFill>
                  <a:srgbClr val="0F1419"/>
                </a:solidFill>
                <a:latin typeface="Arial" pitchFamily="34" charset="0"/>
                <a:ea typeface="Arial" pitchFamily="34" charset="-122"/>
                <a:cs typeface="Arial" pitchFamily="34" charset="-120"/>
              </a:rPr>
              <a:t>A stolen agent key can only pay allowlisted payees, within the limits.</a:t>
            </a:r>
            <a:endParaRPr lang="en-US" sz="1100" dirty="0"/>
          </a:p>
          <a:p>
            <a:pPr marL="177800" indent="-177800">
              <a:spcAft>
                <a:spcPts val="500"/>
              </a:spcAft>
              <a:buSzPct val="100000"/>
              <a:buChar char="•"/>
            </a:pPr>
            <a:r>
              <a:rPr lang="en-US" sz="1100" dirty="0">
                <a:solidFill>
                  <a:srgbClr val="0F1419"/>
                </a:solidFill>
                <a:latin typeface="Arial" pitchFamily="34" charset="0"/>
                <a:ea typeface="Arial" pitchFamily="34" charset="-122"/>
                <a:cs typeface="Arial" pitchFamily="34" charset="-120"/>
              </a:rPr>
              <a:t>An attacker can trip the wire on purpose: the agent freezes, the safe way to fail.</a:t>
            </a:r>
            <a:endParaRPr lang="en-US" sz="1100" dirty="0"/>
          </a:p>
          <a:p>
            <a:pPr marL="177800" indent="-177800">
              <a:spcAft>
                <a:spcPts val="500"/>
              </a:spcAft>
              <a:buSzPct val="100000"/>
              <a:buChar char="•"/>
            </a:pPr>
            <a:r>
              <a:rPr lang="en-US" sz="1100" dirty="0">
                <a:solidFill>
                  <a:srgbClr val="0F1419"/>
                </a:solidFill>
                <a:latin typeface="Arial" pitchFamily="34" charset="0"/>
                <a:ea typeface="Arial" pitchFamily="34" charset="-122"/>
                <a:cs typeface="Arial" pitchFamily="34" charset="-120"/>
              </a:rPr>
              <a:t>On devnet one key can upgrade the program; in production, a timelocked multisig or no key.</a:t>
            </a:r>
            <a:endParaRPr lang="en-US" sz="1100" dirty="0"/>
          </a:p>
        </p:txBody>
      </p:sp>
      <p:pic>
        <p:nvPicPr>
          <p:cNvPr id="9" name="Image 0" descr="preencoded.png">    </p:cNvPr>
          <p:cNvPicPr>
            <a:picLocks noChangeAspect="1"/>
          </p:cNvPicPr>
          <p:nvPr/>
        </p:nvPicPr>
        <p:blipFill>
          <a:blip r:embed="rId1"/>
          <a:stretch>
            <a:fillRect/>
          </a:stretch>
        </p:blipFill>
        <p:spPr>
          <a:xfrm>
            <a:off x="4937760" y="1097280"/>
            <a:ext cx="3657600" cy="1170432"/>
          </a:xfrm>
          <a:prstGeom prst="rect">
            <a:avLst/>
          </a:prstGeom>
        </p:spPr>
      </p:pic>
      <p:sp>
        <p:nvSpPr>
          <p:cNvPr id="10" name="Shape 7"/>
          <p:cNvSpPr/>
          <p:nvPr/>
        </p:nvSpPr>
        <p:spPr>
          <a:xfrm>
            <a:off x="4937760" y="1097280"/>
            <a:ext cx="3657600" cy="1170432"/>
          </a:xfrm>
          <a:prstGeom prst="rect">
            <a:avLst/>
          </a:prstGeom>
          <a:solidFill>
            <a:srgbClr val="FFFFFF">
              <a:alpha val="0"/>
            </a:srgbClr>
          </a:solidFill>
          <a:ln w="9525">
            <a:solidFill>
              <a:srgbClr val="DFE3EA"/>
            </a:solidFill>
            <a:prstDash val="solid"/>
          </a:ln>
        </p:spPr>
      </p:sp>
      <p:sp>
        <p:nvSpPr>
          <p:cNvPr id="11" name="Text 8"/>
          <p:cNvSpPr txBox="1"/>
          <p:nvPr/>
        </p:nvSpPr>
        <p:spPr>
          <a:xfrm>
            <a:off x="4937760" y="2340864"/>
            <a:ext cx="3657600" cy="201168"/>
          </a:xfrm>
          <a:prstGeom prst="rect">
            <a:avLst/>
          </a:prstGeom>
          <a:noFill/>
          <a:ln/>
        </p:spPr>
        <p:txBody>
          <a:bodyPr wrap="square" lIns="0" tIns="0" rIns="0" bIns="0" rtlCol="0" anchor="t"/>
          <a:lstStyle/>
          <a:p>
            <a:pPr algn="l" indent="0" marL="0">
              <a:buNone/>
            </a:pPr>
            <a:r>
              <a:rPr lang="en-US" sz="900" dirty="0">
                <a:solidFill>
                  <a:srgbClr val="535C6B"/>
                </a:solidFill>
                <a:latin typeface="Arial" pitchFamily="34" charset="0"/>
                <a:ea typeface="Arial" pitchFamily="34" charset="-122"/>
                <a:cs typeface="Arial" pitchFamily="34" charset="-120"/>
              </a:rPr>
              <a:t>The agent page after the attack (sample data)</a:t>
            </a:r>
            <a:endParaRPr lang="en-US" sz="900" dirty="0"/>
          </a:p>
        </p:txBody>
      </p:sp>
      <p:sp>
        <p:nvSpPr>
          <p:cNvPr id="12" name="Shape 9"/>
          <p:cNvSpPr/>
          <p:nvPr/>
        </p:nvSpPr>
        <p:spPr>
          <a:xfrm>
            <a:off x="4937760" y="2697480"/>
            <a:ext cx="3657600" cy="1737360"/>
          </a:xfrm>
          <a:prstGeom prst="roundRect">
            <a:avLst>
              <a:gd name="adj" fmla="val 4211"/>
            </a:avLst>
          </a:prstGeom>
          <a:solidFill>
            <a:srgbClr val="FFFFFF"/>
          </a:solidFill>
          <a:ln w="9525">
            <a:solidFill>
              <a:srgbClr val="DFE3EA"/>
            </a:solidFill>
            <a:prstDash val="solid"/>
          </a:ln>
          <a:effectLst>
            <a:outerShdw sx="100000" sy="100000" kx="0" ky="0" algn="bl" rotWithShape="0" blurRad="50800" dist="12700" dir="5400000">
              <a:srgbClr val="000000">
                <a:alpha val="8000"/>
              </a:srgbClr>
            </a:outerShdw>
          </a:effectLst>
        </p:spPr>
      </p:sp>
      <p:sp>
        <p:nvSpPr>
          <p:cNvPr id="13" name="Shape 10"/>
          <p:cNvSpPr/>
          <p:nvPr/>
        </p:nvSpPr>
        <p:spPr>
          <a:xfrm>
            <a:off x="5120640" y="2852928"/>
            <a:ext cx="438912" cy="438912"/>
          </a:xfrm>
          <a:prstGeom prst="ellipse">
            <a:avLst/>
          </a:prstGeom>
          <a:solidFill>
            <a:srgbClr val="E6F2EE"/>
          </a:solidFill>
          <a:ln/>
        </p:spPr>
      </p:sp>
      <p:pic>
        <p:nvPicPr>
          <p:cNvPr id="14" name="Image 1" descr="preencoded.png">    </p:cNvPr>
          <p:cNvPicPr>
            <a:picLocks noChangeAspect="1"/>
          </p:cNvPicPr>
          <p:nvPr/>
        </p:nvPicPr>
        <p:blipFill>
          <a:blip r:embed="rId2"/>
          <a:stretch>
            <a:fillRect/>
          </a:stretch>
        </p:blipFill>
        <p:spPr>
          <a:xfrm>
            <a:off x="5225979" y="2958267"/>
            <a:ext cx="228234" cy="228234"/>
          </a:xfrm>
          <a:prstGeom prst="rect">
            <a:avLst/>
          </a:prstGeom>
        </p:spPr>
      </p:pic>
      <p:sp>
        <p:nvSpPr>
          <p:cNvPr id="15" name="Text 11"/>
          <p:cNvSpPr txBox="1"/>
          <p:nvPr/>
        </p:nvSpPr>
        <p:spPr>
          <a:xfrm>
            <a:off x="5687568" y="2852928"/>
            <a:ext cx="2743200" cy="438912"/>
          </a:xfrm>
          <a:prstGeom prst="rect">
            <a:avLst/>
          </a:prstGeom>
          <a:noFill/>
          <a:ln/>
        </p:spPr>
        <p:txBody>
          <a:bodyPr wrap="square" lIns="0" tIns="0" rIns="0" bIns="0" rtlCol="0" anchor="ctr"/>
          <a:lstStyle/>
          <a:p>
            <a:pPr algn="l" indent="0" marL="0">
              <a:buNone/>
            </a:pPr>
            <a:r>
              <a:rPr lang="en-US" sz="1300" b="1" dirty="0">
                <a:solidFill>
                  <a:srgbClr val="0F1419"/>
                </a:solidFill>
                <a:latin typeface="Arial" pitchFamily="34" charset="0"/>
                <a:ea typeface="Arial" pitchFamily="34" charset="-122"/>
                <a:cs typeface="Arial" pitchFamily="34" charset="-120"/>
              </a:rPr>
              <a:t>Tested on every commit</a:t>
            </a:r>
            <a:endParaRPr lang="en-US" sz="1300" dirty="0"/>
          </a:p>
        </p:txBody>
      </p:sp>
      <p:sp>
        <p:nvSpPr>
          <p:cNvPr id="16" name="Text 12"/>
          <p:cNvSpPr txBox="1"/>
          <p:nvPr/>
        </p:nvSpPr>
        <p:spPr>
          <a:xfrm>
            <a:off x="5120640" y="3429000"/>
            <a:ext cx="3291840" cy="914400"/>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rgbClr val="0F1419"/>
                </a:solidFill>
                <a:latin typeface="Arial" pitchFamily="34" charset="0"/>
                <a:ea typeface="Arial" pitchFamily="34" charset="-122"/>
                <a:cs typeface="Arial" pitchFamily="34" charset="-120"/>
              </a:rPr>
              <a:t>Six invariants</a:t>
            </a:r>
            <a:endParaRPr lang="en-US" sz="1100" dirty="0"/>
          </a:p>
          <a:p>
            <a:pPr marL="177800" indent="-177800">
              <a:spcAft>
                <a:spcPts val="400"/>
              </a:spcAft>
              <a:buSzPct val="100000"/>
              <a:buChar char="•"/>
            </a:pPr>
            <a:r>
              <a:rPr lang="en-US" sz="1100" dirty="0">
                <a:solidFill>
                  <a:srgbClr val="0F1419"/>
                </a:solidFill>
                <a:latin typeface="Arial" pitchFamily="34" charset="0"/>
                <a:ea typeface="Arial" pitchFamily="34" charset="-122"/>
                <a:cs typeface="Arial" pitchFamily="34" charset="-120"/>
              </a:rPr>
              <a:t>Account-substitution attacks</a:t>
            </a:r>
            <a:endParaRPr lang="en-US" sz="1100" dirty="0"/>
          </a:p>
          <a:p>
            <a:pPr marL="177800" indent="-177800">
              <a:spcAft>
                <a:spcPts val="400"/>
              </a:spcAft>
              <a:buSzPct val="100000"/>
              <a:buChar char="•"/>
            </a:pPr>
            <a:r>
              <a:rPr lang="en-US" sz="1100" dirty="0">
                <a:solidFill>
                  <a:srgbClr val="0F1419"/>
                </a:solidFill>
                <a:latin typeface="Arial" pitchFamily="34" charset="0"/>
                <a:ea typeface="Arial" pitchFamily="34" charset="-122"/>
                <a:cs typeface="Arial" pitchFamily="34" charset="-120"/>
              </a:rPr>
              <a:t>Random payment sequences that never exceed the allowance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754880"/>
            <a:ext cx="1828800" cy="201168"/>
          </a:xfrm>
          <a:prstGeom prst="rect">
            <a:avLst/>
          </a:prstGeom>
          <a:noFill/>
          <a:ln/>
        </p:spPr>
        <p:txBody>
          <a:bodyPr wrap="square" lIns="0" tIns="0" rIns="0" bIns="0" rtlCol="0" anchor="t"/>
          <a:lstStyle/>
          <a:p>
            <a:pPr algn="l" indent="0" marL="0">
              <a:buNone/>
            </a:pPr>
            <a:r>
              <a:rPr lang="en-US" sz="900" dirty="0">
                <a:solidFill>
                  <a:srgbClr val="535C6B"/>
                </a:solidFill>
                <a:latin typeface="Arial" pitchFamily="34" charset="0"/>
                <a:ea typeface="Arial" pitchFamily="34" charset="-122"/>
                <a:cs typeface="Arial" pitchFamily="34" charset="-120"/>
              </a:rPr>
              <a:t>Leash</a:t>
            </a:r>
            <a:endParaRPr lang="en-US" sz="900" dirty="0"/>
          </a:p>
        </p:txBody>
      </p:sp>
      <p:sp>
        <p:nvSpPr>
          <p:cNvPr id="3" name="Text 1"/>
          <p:cNvSpPr txBox="1"/>
          <p:nvPr/>
        </p:nvSpPr>
        <p:spPr>
          <a:xfrm>
            <a:off x="8138160" y="4754880"/>
            <a:ext cx="457200" cy="201168"/>
          </a:xfrm>
          <a:prstGeom prst="rect">
            <a:avLst/>
          </a:prstGeom>
          <a:noFill/>
          <a:ln/>
        </p:spPr>
        <p:txBody>
          <a:bodyPr wrap="square" lIns="0" tIns="0" rIns="0" bIns="0" rtlCol="0" anchor="t"/>
          <a:lstStyle/>
          <a:p>
            <a:pPr algn="r" indent="0" marL="0">
              <a:buNone/>
            </a:pPr>
            <a:r>
              <a:rPr lang="en-US" sz="900" dirty="0">
                <a:solidFill>
                  <a:srgbClr val="535C6B"/>
                </a:solidFill>
                <a:latin typeface="Arial" pitchFamily="34" charset="0"/>
                <a:ea typeface="Arial" pitchFamily="34" charset="-122"/>
                <a:cs typeface="Arial" pitchFamily="34" charset="-120"/>
              </a:rPr>
              <a:t>9</a:t>
            </a:r>
            <a:endParaRPr lang="en-US" sz="900" dirty="0"/>
          </a:p>
        </p:txBody>
      </p:sp>
      <p:sp>
        <p:nvSpPr>
          <p:cNvPr id="4" name="Text 2"/>
          <p:cNvSpPr txBox="1"/>
          <p:nvPr/>
        </p:nvSpPr>
        <p:spPr>
          <a:xfrm>
            <a:off x="548640" y="384048"/>
            <a:ext cx="8046720" cy="548640"/>
          </a:xfrm>
          <a:prstGeom prst="rect">
            <a:avLst/>
          </a:prstGeom>
          <a:noFill/>
          <a:ln/>
        </p:spPr>
        <p:txBody>
          <a:bodyPr wrap="square" lIns="0" tIns="0" rIns="0" bIns="0" rtlCol="0" anchor="ctr"/>
          <a:lstStyle/>
          <a:p>
            <a:pPr algn="l" indent="0" marL="0">
              <a:buNone/>
            </a:pPr>
            <a:r>
              <a:rPr lang="en-US" sz="3000" b="1" dirty="0">
                <a:solidFill>
                  <a:srgbClr val="0F1419"/>
                </a:solidFill>
                <a:latin typeface="Arial" pitchFamily="34" charset="0"/>
                <a:ea typeface="Arial" pitchFamily="34" charset="-122"/>
                <a:cs typeface="Arial" pitchFamily="34" charset="-120"/>
              </a:rPr>
              <a:t>Working today</a:t>
            </a:r>
            <a:endParaRPr lang="en-US" sz="3000" dirty="0"/>
          </a:p>
        </p:txBody>
      </p:sp>
      <p:sp>
        <p:nvSpPr>
          <p:cNvPr id="5" name="Shape 3"/>
          <p:cNvSpPr/>
          <p:nvPr/>
        </p:nvSpPr>
        <p:spPr>
          <a:xfrm>
            <a:off x="548640" y="1051560"/>
            <a:ext cx="914400" cy="292608"/>
          </a:xfrm>
          <a:prstGeom prst="roundRect">
            <a:avLst>
              <a:gd name="adj" fmla="val 312500"/>
            </a:avLst>
          </a:prstGeom>
          <a:solidFill>
            <a:srgbClr val="E6F2EE"/>
          </a:solidFill>
          <a:ln/>
        </p:spPr>
      </p:sp>
      <p:pic>
        <p:nvPicPr>
          <p:cNvPr id="6" name="Image 0" descr="preencoded.png">    </p:cNvPr>
          <p:cNvPicPr>
            <a:picLocks noChangeAspect="1"/>
          </p:cNvPicPr>
          <p:nvPr/>
        </p:nvPicPr>
        <p:blipFill>
          <a:blip r:embed="rId1"/>
          <a:stretch>
            <a:fillRect/>
          </a:stretch>
        </p:blipFill>
        <p:spPr>
          <a:xfrm>
            <a:off x="642275" y="1115934"/>
            <a:ext cx="163860" cy="163860"/>
          </a:xfrm>
          <a:prstGeom prst="rect">
            <a:avLst/>
          </a:prstGeom>
        </p:spPr>
      </p:pic>
      <p:sp>
        <p:nvSpPr>
          <p:cNvPr id="7" name="Text 4"/>
          <p:cNvSpPr txBox="1"/>
          <p:nvPr/>
        </p:nvSpPr>
        <p:spPr>
          <a:xfrm>
            <a:off x="860999" y="1051560"/>
            <a:ext cx="547177" cy="292608"/>
          </a:xfrm>
          <a:prstGeom prst="rect">
            <a:avLst/>
          </a:prstGeom>
          <a:noFill/>
          <a:ln/>
        </p:spPr>
        <p:txBody>
          <a:bodyPr wrap="square" lIns="0" tIns="0" rIns="0" bIns="0" rtlCol="0" anchor="ctr"/>
          <a:lstStyle/>
          <a:p>
            <a:pPr algn="l" indent="0" marL="0">
              <a:buNone/>
            </a:pPr>
            <a:r>
              <a:rPr lang="en-US" sz="1050" b="1" dirty="0">
                <a:solidFill>
                  <a:srgbClr val="047857"/>
                </a:solidFill>
                <a:latin typeface="Arial" pitchFamily="34" charset="0"/>
                <a:ea typeface="Arial" pitchFamily="34" charset="-122"/>
                <a:cs typeface="Arial" pitchFamily="34" charset="-120"/>
              </a:rPr>
              <a:t>Done</a:t>
            </a:r>
            <a:endParaRPr lang="en-US" sz="1050" dirty="0"/>
          </a:p>
        </p:txBody>
      </p:sp>
      <p:pic>
        <p:nvPicPr>
          <p:cNvPr id="8" name="Image 1" descr="preencoded.png">    </p:cNvPr>
          <p:cNvPicPr>
            <a:picLocks noChangeAspect="1"/>
          </p:cNvPicPr>
          <p:nvPr/>
        </p:nvPicPr>
        <p:blipFill>
          <a:blip r:embed="rId2"/>
          <a:stretch>
            <a:fillRect/>
          </a:stretch>
        </p:blipFill>
        <p:spPr>
          <a:xfrm>
            <a:off x="548640" y="1499616"/>
            <a:ext cx="201168" cy="201168"/>
          </a:xfrm>
          <a:prstGeom prst="rect">
            <a:avLst/>
          </a:prstGeom>
        </p:spPr>
      </p:pic>
      <p:sp>
        <p:nvSpPr>
          <p:cNvPr id="9" name="Text 5"/>
          <p:cNvSpPr txBox="1"/>
          <p:nvPr/>
        </p:nvSpPr>
        <p:spPr>
          <a:xfrm>
            <a:off x="868680" y="1481328"/>
            <a:ext cx="4480560" cy="274320"/>
          </a:xfrm>
          <a:prstGeom prst="rect">
            <a:avLst/>
          </a:prstGeom>
          <a:noFill/>
          <a:ln/>
        </p:spPr>
        <p:txBody>
          <a:bodyPr wrap="square" lIns="0" tIns="0" rIns="0" bIns="0" rtlCol="0" anchor="t"/>
          <a:lstStyle/>
          <a:p>
            <a:pPr algn="l" indent="0" marL="0">
              <a:buNone/>
            </a:pPr>
            <a:r>
              <a:rPr lang="en-US" sz="1150" dirty="0">
                <a:solidFill>
                  <a:srgbClr val="0F1419"/>
                </a:solidFill>
                <a:latin typeface="Arial" pitchFamily="34" charset="0"/>
                <a:ea typeface="Arial" pitchFamily="34" charset="-122"/>
                <a:cs typeface="Arial" pitchFamily="34" charset="-120"/>
              </a:rPr>
              <a:t>The Leash program, live on devnet</a:t>
            </a:r>
            <a:endParaRPr lang="en-US" sz="1150" dirty="0"/>
          </a:p>
        </p:txBody>
      </p:sp>
      <p:pic>
        <p:nvPicPr>
          <p:cNvPr id="10" name="Image 2" descr="preencoded.png">    </p:cNvPr>
          <p:cNvPicPr>
            <a:picLocks noChangeAspect="1"/>
          </p:cNvPicPr>
          <p:nvPr/>
        </p:nvPicPr>
        <p:blipFill>
          <a:blip r:embed="rId3"/>
          <a:stretch>
            <a:fillRect/>
          </a:stretch>
        </p:blipFill>
        <p:spPr>
          <a:xfrm>
            <a:off x="548640" y="1883664"/>
            <a:ext cx="201168" cy="201168"/>
          </a:xfrm>
          <a:prstGeom prst="rect">
            <a:avLst/>
          </a:prstGeom>
        </p:spPr>
      </p:pic>
      <p:sp>
        <p:nvSpPr>
          <p:cNvPr id="11" name="Text 6"/>
          <p:cNvSpPr txBox="1"/>
          <p:nvPr/>
        </p:nvSpPr>
        <p:spPr>
          <a:xfrm>
            <a:off x="868680" y="1865376"/>
            <a:ext cx="4480560" cy="548640"/>
          </a:xfrm>
          <a:prstGeom prst="rect">
            <a:avLst/>
          </a:prstGeom>
          <a:noFill/>
          <a:ln/>
        </p:spPr>
        <p:txBody>
          <a:bodyPr wrap="square" lIns="0" tIns="0" rIns="0" bIns="0" rtlCol="0" anchor="t"/>
          <a:lstStyle/>
          <a:p>
            <a:pPr algn="l" indent="0" marL="0">
              <a:buNone/>
            </a:pPr>
            <a:r>
              <a:rPr lang="en-US" sz="1150" dirty="0">
                <a:solidFill>
                  <a:srgbClr val="0F1419"/>
                </a:solidFill>
                <a:latin typeface="Arial" pitchFamily="34" charset="0"/>
                <a:ea typeface="Arial" pitchFamily="34" charset="-122"/>
                <a:cs typeface="Arial" pitchFamily="34" charset="-120"/>
              </a:rPr>
              <a:t>60 policy test cases give the same result in TypeScript, in Rust, and in LiteSVM on the exact program binary deployed on devnet (checked byte for byte)</a:t>
            </a:r>
            <a:endParaRPr lang="en-US" sz="1150" dirty="0"/>
          </a:p>
        </p:txBody>
      </p:sp>
      <p:pic>
        <p:nvPicPr>
          <p:cNvPr id="12" name="Image 3" descr="preencoded.png">    </p:cNvPr>
          <p:cNvPicPr>
            <a:picLocks noChangeAspect="1"/>
          </p:cNvPicPr>
          <p:nvPr/>
        </p:nvPicPr>
        <p:blipFill>
          <a:blip r:embed="rId4"/>
          <a:stretch>
            <a:fillRect/>
          </a:stretch>
        </p:blipFill>
        <p:spPr>
          <a:xfrm>
            <a:off x="548640" y="2542032"/>
            <a:ext cx="201168" cy="201168"/>
          </a:xfrm>
          <a:prstGeom prst="rect">
            <a:avLst/>
          </a:prstGeom>
        </p:spPr>
      </p:pic>
      <p:sp>
        <p:nvSpPr>
          <p:cNvPr id="13" name="Text 7"/>
          <p:cNvSpPr txBox="1"/>
          <p:nvPr/>
        </p:nvSpPr>
        <p:spPr>
          <a:xfrm>
            <a:off x="868680" y="2523744"/>
            <a:ext cx="4480560" cy="274320"/>
          </a:xfrm>
          <a:prstGeom prst="rect">
            <a:avLst/>
          </a:prstGeom>
          <a:noFill/>
          <a:ln/>
        </p:spPr>
        <p:txBody>
          <a:bodyPr wrap="square" lIns="0" tIns="0" rIns="0" bIns="0" rtlCol="0" anchor="t"/>
          <a:lstStyle/>
          <a:p>
            <a:pPr algn="l" indent="0" marL="0">
              <a:buNone/>
            </a:pPr>
            <a:r>
              <a:rPr lang="en-US" sz="1150" dirty="0">
                <a:solidFill>
                  <a:srgbClr val="0F1419"/>
                </a:solidFill>
                <a:latin typeface="Arial" pitchFamily="34" charset="0"/>
                <a:ea typeface="Arial" pitchFamily="34" charset="-122"/>
                <a:cs typeface="Arial" pitchFamily="34" charset="-120"/>
              </a:rPr>
              <a:t>x402 payments through the unmodified official facilitator</a:t>
            </a:r>
            <a:endParaRPr lang="en-US" sz="1150" dirty="0"/>
          </a:p>
        </p:txBody>
      </p:sp>
      <p:pic>
        <p:nvPicPr>
          <p:cNvPr id="14" name="Image 4" descr="preencoded.png">    </p:cNvPr>
          <p:cNvPicPr>
            <a:picLocks noChangeAspect="1"/>
          </p:cNvPicPr>
          <p:nvPr/>
        </p:nvPicPr>
        <p:blipFill>
          <a:blip r:embed="rId5"/>
          <a:stretch>
            <a:fillRect/>
          </a:stretch>
        </p:blipFill>
        <p:spPr>
          <a:xfrm>
            <a:off x="548640" y="2926080"/>
            <a:ext cx="201168" cy="201168"/>
          </a:xfrm>
          <a:prstGeom prst="rect">
            <a:avLst/>
          </a:prstGeom>
        </p:spPr>
      </p:pic>
      <p:sp>
        <p:nvSpPr>
          <p:cNvPr id="15" name="Text 8"/>
          <p:cNvSpPr txBox="1"/>
          <p:nvPr/>
        </p:nvSpPr>
        <p:spPr>
          <a:xfrm>
            <a:off x="868680" y="2907792"/>
            <a:ext cx="4480560" cy="274320"/>
          </a:xfrm>
          <a:prstGeom prst="rect">
            <a:avLst/>
          </a:prstGeom>
          <a:noFill/>
          <a:ln/>
        </p:spPr>
        <p:txBody>
          <a:bodyPr wrap="square" lIns="0" tIns="0" rIns="0" bIns="0" rtlCol="0" anchor="t"/>
          <a:lstStyle/>
          <a:p>
            <a:pPr algn="l" indent="0" marL="0">
              <a:buNone/>
            </a:pPr>
            <a:r>
              <a:rPr lang="en-US" sz="1150" dirty="0">
                <a:solidFill>
                  <a:srgbClr val="0F1419"/>
                </a:solidFill>
                <a:latin typeface="Arial" pitchFamily="34" charset="0"/>
                <a:ea typeface="Arial" pitchFamily="34" charset="-122"/>
                <a:cs typeface="Arial" pitchFamily="34" charset="-120"/>
              </a:rPr>
              <a:t>Claude Code connects to the Leash MCP server</a:t>
            </a:r>
            <a:endParaRPr lang="en-US" sz="1150" dirty="0"/>
          </a:p>
        </p:txBody>
      </p:sp>
      <p:pic>
        <p:nvPicPr>
          <p:cNvPr id="16" name="Image 5" descr="preencoded.png">    </p:cNvPr>
          <p:cNvPicPr>
            <a:picLocks noChangeAspect="1"/>
          </p:cNvPicPr>
          <p:nvPr/>
        </p:nvPicPr>
        <p:blipFill>
          <a:blip r:embed="rId6"/>
          <a:stretch>
            <a:fillRect/>
          </a:stretch>
        </p:blipFill>
        <p:spPr>
          <a:xfrm>
            <a:off x="548640" y="3310128"/>
            <a:ext cx="201168" cy="201168"/>
          </a:xfrm>
          <a:prstGeom prst="rect">
            <a:avLst/>
          </a:prstGeom>
        </p:spPr>
      </p:pic>
      <p:sp>
        <p:nvSpPr>
          <p:cNvPr id="17" name="Text 9"/>
          <p:cNvSpPr txBox="1"/>
          <p:nvPr/>
        </p:nvSpPr>
        <p:spPr>
          <a:xfrm>
            <a:off x="868680" y="3291840"/>
            <a:ext cx="4480560" cy="274320"/>
          </a:xfrm>
          <a:prstGeom prst="rect">
            <a:avLst/>
          </a:prstGeom>
          <a:noFill/>
          <a:ln/>
        </p:spPr>
        <p:txBody>
          <a:bodyPr wrap="square" lIns="0" tIns="0" rIns="0" bIns="0" rtlCol="0" anchor="t"/>
          <a:lstStyle/>
          <a:p>
            <a:pPr algn="l" indent="0" marL="0">
              <a:buNone/>
            </a:pPr>
            <a:r>
              <a:rPr lang="en-US" sz="1150" dirty="0">
                <a:solidFill>
                  <a:srgbClr val="0F1419"/>
                </a:solidFill>
                <a:latin typeface="Arial" pitchFamily="34" charset="0"/>
                <a:ea typeface="Arial" pitchFamily="34" charset="-122"/>
                <a:cs typeface="Arial" pitchFamily="34" charset="-120"/>
              </a:rPr>
              <a:t>The whole demo story, end to end on a local Solana validator</a:t>
            </a:r>
            <a:endParaRPr lang="en-US" sz="1150" dirty="0"/>
          </a:p>
        </p:txBody>
      </p:sp>
      <p:pic>
        <p:nvPicPr>
          <p:cNvPr id="18" name="Image 6" descr="preencoded.png">    </p:cNvPr>
          <p:cNvPicPr>
            <a:picLocks noChangeAspect="1"/>
          </p:cNvPicPr>
          <p:nvPr/>
        </p:nvPicPr>
        <p:blipFill>
          <a:blip r:embed="rId7"/>
          <a:stretch>
            <a:fillRect/>
          </a:stretch>
        </p:blipFill>
        <p:spPr>
          <a:xfrm>
            <a:off x="548640" y="3694176"/>
            <a:ext cx="201168" cy="201168"/>
          </a:xfrm>
          <a:prstGeom prst="rect">
            <a:avLst/>
          </a:prstGeom>
        </p:spPr>
      </p:pic>
      <p:sp>
        <p:nvSpPr>
          <p:cNvPr id="19" name="Text 10"/>
          <p:cNvSpPr txBox="1"/>
          <p:nvPr/>
        </p:nvSpPr>
        <p:spPr>
          <a:xfrm>
            <a:off x="868680" y="3675888"/>
            <a:ext cx="4480560" cy="274320"/>
          </a:xfrm>
          <a:prstGeom prst="rect">
            <a:avLst/>
          </a:prstGeom>
          <a:noFill/>
          <a:ln/>
        </p:spPr>
        <p:txBody>
          <a:bodyPr wrap="square" lIns="0" tIns="0" rIns="0" bIns="0" rtlCol="0" anchor="t"/>
          <a:lstStyle/>
          <a:p>
            <a:pPr algn="l" indent="0" marL="0">
              <a:buNone/>
            </a:pPr>
            <a:r>
              <a:rPr lang="en-US" sz="1150" dirty="0">
                <a:solidFill>
                  <a:srgbClr val="0F1419"/>
                </a:solidFill>
                <a:latin typeface="Arial" pitchFamily="34" charset="0"/>
                <a:ea typeface="Arial" pitchFamily="34" charset="-122"/>
                <a:cs typeface="Arial" pitchFamily="34" charset="-120"/>
              </a:rPr>
              <a:t>A control panel that updates live from the indexer's stream</a:t>
            </a:r>
            <a:endParaRPr lang="en-US" sz="1150" dirty="0"/>
          </a:p>
        </p:txBody>
      </p:sp>
      <p:sp>
        <p:nvSpPr>
          <p:cNvPr id="20" name="Shape 11"/>
          <p:cNvSpPr/>
          <p:nvPr/>
        </p:nvSpPr>
        <p:spPr>
          <a:xfrm>
            <a:off x="5669280" y="1051560"/>
            <a:ext cx="1325880" cy="292608"/>
          </a:xfrm>
          <a:prstGeom prst="roundRect">
            <a:avLst>
              <a:gd name="adj" fmla="val 312500"/>
            </a:avLst>
          </a:prstGeom>
          <a:solidFill>
            <a:srgbClr val="F8EEE6"/>
          </a:solidFill>
          <a:ln/>
        </p:spPr>
      </p:sp>
      <p:pic>
        <p:nvPicPr>
          <p:cNvPr id="21" name="Image 7" descr="preencoded.png">    </p:cNvPr>
          <p:cNvPicPr>
            <a:picLocks noChangeAspect="1"/>
          </p:cNvPicPr>
          <p:nvPr/>
        </p:nvPicPr>
        <p:blipFill>
          <a:blip r:embed="rId8"/>
          <a:stretch>
            <a:fillRect/>
          </a:stretch>
        </p:blipFill>
        <p:spPr>
          <a:xfrm>
            <a:off x="5762915" y="1115934"/>
            <a:ext cx="163860" cy="163860"/>
          </a:xfrm>
          <a:prstGeom prst="rect">
            <a:avLst/>
          </a:prstGeom>
        </p:spPr>
      </p:pic>
      <p:sp>
        <p:nvSpPr>
          <p:cNvPr id="22" name="Text 12"/>
          <p:cNvSpPr txBox="1"/>
          <p:nvPr/>
        </p:nvSpPr>
        <p:spPr>
          <a:xfrm>
            <a:off x="5981639" y="1051560"/>
            <a:ext cx="958657" cy="292608"/>
          </a:xfrm>
          <a:prstGeom prst="rect">
            <a:avLst/>
          </a:prstGeom>
          <a:noFill/>
          <a:ln/>
        </p:spPr>
        <p:txBody>
          <a:bodyPr wrap="square" lIns="0" tIns="0" rIns="0" bIns="0" rtlCol="0" anchor="ctr"/>
          <a:lstStyle/>
          <a:p>
            <a:pPr algn="l" indent="0" marL="0">
              <a:buNone/>
            </a:pPr>
            <a:r>
              <a:rPr lang="en-US" sz="1050" b="1" dirty="0">
                <a:solidFill>
                  <a:srgbClr val="B45309"/>
                </a:solidFill>
                <a:latin typeface="Arial" pitchFamily="34" charset="0"/>
                <a:ea typeface="Arial" pitchFamily="34" charset="-122"/>
                <a:cs typeface="Arial" pitchFamily="34" charset="-120"/>
              </a:rPr>
              <a:t>In progress</a:t>
            </a:r>
            <a:endParaRPr lang="en-US" sz="1050" dirty="0"/>
          </a:p>
        </p:txBody>
      </p:sp>
      <p:pic>
        <p:nvPicPr>
          <p:cNvPr id="23" name="Image 8" descr="preencoded.png">    </p:cNvPr>
          <p:cNvPicPr>
            <a:picLocks noChangeAspect="1"/>
          </p:cNvPicPr>
          <p:nvPr/>
        </p:nvPicPr>
        <p:blipFill>
          <a:blip r:embed="rId9"/>
          <a:stretch>
            <a:fillRect/>
          </a:stretch>
        </p:blipFill>
        <p:spPr>
          <a:xfrm>
            <a:off x="5669280" y="1499616"/>
            <a:ext cx="182880" cy="182880"/>
          </a:xfrm>
          <a:prstGeom prst="rect">
            <a:avLst/>
          </a:prstGeom>
        </p:spPr>
      </p:pic>
      <p:sp>
        <p:nvSpPr>
          <p:cNvPr id="24" name="Text 13"/>
          <p:cNvSpPr txBox="1"/>
          <p:nvPr/>
        </p:nvSpPr>
        <p:spPr>
          <a:xfrm>
            <a:off x="5961888" y="1481328"/>
            <a:ext cx="2606040" cy="384048"/>
          </a:xfrm>
          <a:prstGeom prst="rect">
            <a:avLst/>
          </a:prstGeom>
          <a:noFill/>
          <a:ln/>
        </p:spPr>
        <p:txBody>
          <a:bodyPr wrap="square" lIns="0" tIns="0" rIns="0" bIns="0" rtlCol="0" anchor="t"/>
          <a:lstStyle/>
          <a:p>
            <a:pPr algn="l" indent="0" marL="0">
              <a:buNone/>
            </a:pPr>
            <a:r>
              <a:rPr lang="en-US" sz="1150" dirty="0">
                <a:solidFill>
                  <a:srgbClr val="0F1419"/>
                </a:solidFill>
                <a:latin typeface="Arial" pitchFamily="34" charset="0"/>
                <a:ea typeface="Arial" pitchFamily="34" charset="-122"/>
                <a:cs typeface="Arial" pitchFamily="34" charset="-120"/>
              </a:rPr>
              <a:t>Pairing, approve, freeze and unfreeze in the web app</a:t>
            </a:r>
            <a:endParaRPr lang="en-US" sz="1150" dirty="0"/>
          </a:p>
        </p:txBody>
      </p:sp>
      <p:pic>
        <p:nvPicPr>
          <p:cNvPr id="25" name="Image 9" descr="preencoded.png">    </p:cNvPr>
          <p:cNvPicPr>
            <a:picLocks noChangeAspect="1"/>
          </p:cNvPicPr>
          <p:nvPr/>
        </p:nvPicPr>
        <p:blipFill>
          <a:blip r:embed="rId10"/>
          <a:stretch>
            <a:fillRect/>
          </a:stretch>
        </p:blipFill>
        <p:spPr>
          <a:xfrm>
            <a:off x="5669280" y="2011680"/>
            <a:ext cx="182880" cy="182880"/>
          </a:xfrm>
          <a:prstGeom prst="rect">
            <a:avLst/>
          </a:prstGeom>
        </p:spPr>
      </p:pic>
      <p:sp>
        <p:nvSpPr>
          <p:cNvPr id="26" name="Text 14"/>
          <p:cNvSpPr txBox="1"/>
          <p:nvPr/>
        </p:nvSpPr>
        <p:spPr>
          <a:xfrm>
            <a:off x="5961888" y="1993392"/>
            <a:ext cx="2606040" cy="201168"/>
          </a:xfrm>
          <a:prstGeom prst="rect">
            <a:avLst/>
          </a:prstGeom>
          <a:noFill/>
          <a:ln/>
        </p:spPr>
        <p:txBody>
          <a:bodyPr wrap="square" lIns="0" tIns="0" rIns="0" bIns="0" rtlCol="0" anchor="t"/>
          <a:lstStyle/>
          <a:p>
            <a:pPr algn="l" indent="0" marL="0">
              <a:buNone/>
            </a:pPr>
            <a:r>
              <a:rPr lang="en-US" sz="1150" dirty="0">
                <a:solidFill>
                  <a:srgbClr val="0F1419"/>
                </a:solidFill>
                <a:latin typeface="Arial" pitchFamily="34" charset="0"/>
                <a:ea typeface="Arial" pitchFamily="34" charset="-122"/>
                <a:cs typeface="Arial" pitchFamily="34" charset="-120"/>
              </a:rPr>
              <a:t>Telegram alerts</a:t>
            </a:r>
            <a:endParaRPr lang="en-US" sz="1150" dirty="0"/>
          </a:p>
        </p:txBody>
      </p:sp>
      <p:pic>
        <p:nvPicPr>
          <p:cNvPr id="27" name="Image 10" descr="preencoded.png">    </p:cNvPr>
          <p:cNvPicPr>
            <a:picLocks noChangeAspect="1"/>
          </p:cNvPicPr>
          <p:nvPr/>
        </p:nvPicPr>
        <p:blipFill>
          <a:blip r:embed="rId11"/>
          <a:stretch>
            <a:fillRect/>
          </a:stretch>
        </p:blipFill>
        <p:spPr>
          <a:xfrm>
            <a:off x="5669280" y="2340864"/>
            <a:ext cx="182880" cy="182880"/>
          </a:xfrm>
          <a:prstGeom prst="rect">
            <a:avLst/>
          </a:prstGeom>
        </p:spPr>
      </p:pic>
      <p:sp>
        <p:nvSpPr>
          <p:cNvPr id="28" name="Text 15"/>
          <p:cNvSpPr txBox="1"/>
          <p:nvPr/>
        </p:nvSpPr>
        <p:spPr>
          <a:xfrm>
            <a:off x="5961888" y="2322576"/>
            <a:ext cx="2606040" cy="384048"/>
          </a:xfrm>
          <a:prstGeom prst="rect">
            <a:avLst/>
          </a:prstGeom>
          <a:noFill/>
          <a:ln/>
        </p:spPr>
        <p:txBody>
          <a:bodyPr wrap="square" lIns="0" tIns="0" rIns="0" bIns="0" rtlCol="0" anchor="t"/>
          <a:lstStyle/>
          <a:p>
            <a:pPr algn="l" indent="0" marL="0">
              <a:buNone/>
            </a:pPr>
            <a:r>
              <a:rPr lang="en-US" sz="1150" dirty="0">
                <a:solidFill>
                  <a:srgbClr val="0F1419"/>
                </a:solidFill>
                <a:latin typeface="Arial" pitchFamily="34" charset="0"/>
                <a:ea typeface="Arial" pitchFamily="34" charset="-122"/>
                <a:cs typeface="Arial" pitchFamily="34" charset="-120"/>
              </a:rPr>
              <a:t>The full demo on devnet, and its recording</a:t>
            </a:r>
            <a:endParaRPr lang="en-US" sz="1150" dirty="0"/>
          </a:p>
        </p:txBody>
      </p:sp>
      <p:sp>
        <p:nvSpPr>
          <p:cNvPr id="29" name="Shape 16"/>
          <p:cNvSpPr/>
          <p:nvPr/>
        </p:nvSpPr>
        <p:spPr>
          <a:xfrm>
            <a:off x="5669280" y="3063240"/>
            <a:ext cx="2926080" cy="1234440"/>
          </a:xfrm>
          <a:prstGeom prst="roundRect">
            <a:avLst>
              <a:gd name="adj" fmla="val 5926"/>
            </a:avLst>
          </a:prstGeom>
          <a:solidFill>
            <a:srgbClr val="FFFFFF"/>
          </a:solidFill>
          <a:ln w="9525">
            <a:solidFill>
              <a:srgbClr val="DFE3EA"/>
            </a:solidFill>
            <a:prstDash val="solid"/>
          </a:ln>
          <a:effectLst>
            <a:outerShdw sx="100000" sy="100000" kx="0" ky="0" algn="bl" rotWithShape="0" blurRad="50800" dist="12700" dir="5400000">
              <a:srgbClr val="000000">
                <a:alpha val="8000"/>
              </a:srgbClr>
            </a:outerShdw>
          </a:effectLst>
        </p:spPr>
      </p:sp>
      <p:sp>
        <p:nvSpPr>
          <p:cNvPr id="30" name="Text 17"/>
          <p:cNvSpPr txBox="1"/>
          <p:nvPr/>
        </p:nvSpPr>
        <p:spPr>
          <a:xfrm>
            <a:off x="5897880" y="3200400"/>
            <a:ext cx="2560320" cy="548640"/>
          </a:xfrm>
          <a:prstGeom prst="rect">
            <a:avLst/>
          </a:prstGeom>
          <a:noFill/>
          <a:ln/>
        </p:spPr>
        <p:txBody>
          <a:bodyPr wrap="square" lIns="0" tIns="0" rIns="0" bIns="0" rtlCol="0" anchor="ctr"/>
          <a:lstStyle/>
          <a:p>
            <a:pPr algn="l" indent="0" marL="0">
              <a:buNone/>
            </a:pPr>
            <a:r>
              <a:rPr lang="en-US" sz="3600" b="1" dirty="0">
                <a:solidFill>
                  <a:srgbClr val="6D28D9"/>
                </a:solidFill>
                <a:latin typeface="Arial" pitchFamily="34" charset="0"/>
                <a:ea typeface="Arial" pitchFamily="34" charset="-122"/>
                <a:cs typeface="Arial" pitchFamily="34" charset="-120"/>
              </a:rPr>
              <a:t>767</a:t>
            </a:r>
            <a:endParaRPr lang="en-US" sz="3600" dirty="0"/>
          </a:p>
        </p:txBody>
      </p:sp>
      <p:sp>
        <p:nvSpPr>
          <p:cNvPr id="31" name="Text 18"/>
          <p:cNvSpPr txBox="1"/>
          <p:nvPr/>
        </p:nvSpPr>
        <p:spPr>
          <a:xfrm>
            <a:off x="5897880" y="3749040"/>
            <a:ext cx="2560320" cy="228600"/>
          </a:xfrm>
          <a:prstGeom prst="rect">
            <a:avLst/>
          </a:prstGeom>
          <a:noFill/>
          <a:ln/>
        </p:spPr>
        <p:txBody>
          <a:bodyPr wrap="square" lIns="0" tIns="0" rIns="0" bIns="0" rtlCol="0" anchor="t"/>
          <a:lstStyle/>
          <a:p>
            <a:pPr algn="l" indent="0" marL="0">
              <a:buNone/>
            </a:pPr>
            <a:r>
              <a:rPr lang="en-US" sz="1100" dirty="0">
                <a:solidFill>
                  <a:srgbClr val="0F1419"/>
                </a:solidFill>
                <a:latin typeface="Arial" pitchFamily="34" charset="0"/>
                <a:ea typeface="Arial" pitchFamily="34" charset="-122"/>
                <a:cs typeface="Arial" pitchFamily="34" charset="-120"/>
              </a:rPr>
              <a:t>automated tests, run on every commit</a:t>
            </a:r>
            <a:endParaRPr lang="en-US" sz="1100" dirty="0"/>
          </a:p>
        </p:txBody>
      </p:sp>
      <p:sp>
        <p:nvSpPr>
          <p:cNvPr id="32" name="Text 19"/>
          <p:cNvSpPr txBox="1"/>
          <p:nvPr/>
        </p:nvSpPr>
        <p:spPr>
          <a:xfrm>
            <a:off x="5897880" y="3986784"/>
            <a:ext cx="2560320" cy="201168"/>
          </a:xfrm>
          <a:prstGeom prst="rect">
            <a:avLst/>
          </a:prstGeom>
          <a:noFill/>
          <a:ln/>
        </p:spPr>
        <p:txBody>
          <a:bodyPr wrap="square" lIns="0" tIns="0" rIns="0" bIns="0" rtlCol="0" anchor="t"/>
          <a:lstStyle/>
          <a:p>
            <a:pPr algn="l" indent="0" marL="0">
              <a:buNone/>
            </a:pPr>
            <a:r>
              <a:rPr lang="en-US" sz="1000" dirty="0">
                <a:solidFill>
                  <a:srgbClr val="535C6B"/>
                </a:solidFill>
                <a:latin typeface="Arial" pitchFamily="34" charset="0"/>
                <a:ea typeface="Arial" pitchFamily="34" charset="-122"/>
                <a:cs typeface="Arial" pitchFamily="34" charset="-120"/>
              </a:rPr>
              <a:t>639 TypeScript · 128 Rust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754880"/>
            <a:ext cx="1828800" cy="201168"/>
          </a:xfrm>
          <a:prstGeom prst="rect">
            <a:avLst/>
          </a:prstGeom>
          <a:noFill/>
          <a:ln/>
        </p:spPr>
        <p:txBody>
          <a:bodyPr wrap="square" lIns="0" tIns="0" rIns="0" bIns="0" rtlCol="0" anchor="t"/>
          <a:lstStyle/>
          <a:p>
            <a:pPr algn="l" indent="0" marL="0">
              <a:buNone/>
            </a:pPr>
            <a:r>
              <a:rPr lang="en-US" sz="900" dirty="0">
                <a:solidFill>
                  <a:srgbClr val="535C6B"/>
                </a:solidFill>
                <a:latin typeface="Arial" pitchFamily="34" charset="0"/>
                <a:ea typeface="Arial" pitchFamily="34" charset="-122"/>
                <a:cs typeface="Arial" pitchFamily="34" charset="-120"/>
              </a:rPr>
              <a:t>Leash</a:t>
            </a:r>
            <a:endParaRPr lang="en-US" sz="900" dirty="0"/>
          </a:p>
        </p:txBody>
      </p:sp>
      <p:sp>
        <p:nvSpPr>
          <p:cNvPr id="3" name="Text 1"/>
          <p:cNvSpPr txBox="1"/>
          <p:nvPr/>
        </p:nvSpPr>
        <p:spPr>
          <a:xfrm>
            <a:off x="8138160" y="4754880"/>
            <a:ext cx="457200" cy="201168"/>
          </a:xfrm>
          <a:prstGeom prst="rect">
            <a:avLst/>
          </a:prstGeom>
          <a:noFill/>
          <a:ln/>
        </p:spPr>
        <p:txBody>
          <a:bodyPr wrap="square" lIns="0" tIns="0" rIns="0" bIns="0" rtlCol="0" anchor="t"/>
          <a:lstStyle/>
          <a:p>
            <a:pPr algn="r" indent="0" marL="0">
              <a:buNone/>
            </a:pPr>
            <a:r>
              <a:rPr lang="en-US" sz="900" dirty="0">
                <a:solidFill>
                  <a:srgbClr val="535C6B"/>
                </a:solidFill>
                <a:latin typeface="Arial" pitchFamily="34" charset="0"/>
                <a:ea typeface="Arial" pitchFamily="34" charset="-122"/>
                <a:cs typeface="Arial" pitchFamily="34" charset="-120"/>
              </a:rPr>
              <a:t>10</a:t>
            </a:r>
            <a:endParaRPr lang="en-US" sz="900" dirty="0"/>
          </a:p>
        </p:txBody>
      </p:sp>
      <p:sp>
        <p:nvSpPr>
          <p:cNvPr id="4" name="Text 2"/>
          <p:cNvSpPr txBox="1"/>
          <p:nvPr/>
        </p:nvSpPr>
        <p:spPr>
          <a:xfrm>
            <a:off x="548640" y="384048"/>
            <a:ext cx="8046720" cy="548640"/>
          </a:xfrm>
          <a:prstGeom prst="rect">
            <a:avLst/>
          </a:prstGeom>
          <a:noFill/>
          <a:ln/>
        </p:spPr>
        <p:txBody>
          <a:bodyPr wrap="square" lIns="0" tIns="0" rIns="0" bIns="0" rtlCol="0" anchor="ctr"/>
          <a:lstStyle/>
          <a:p>
            <a:pPr algn="l" indent="0" marL="0">
              <a:buNone/>
            </a:pPr>
            <a:r>
              <a:rPr lang="en-US" sz="3000" b="1" dirty="0">
                <a:solidFill>
                  <a:srgbClr val="0F1419"/>
                </a:solidFill>
                <a:latin typeface="Arial" pitchFamily="34" charset="0"/>
                <a:ea typeface="Arial" pitchFamily="34" charset="-122"/>
                <a:cs typeface="Arial" pitchFamily="34" charset="-120"/>
              </a:rPr>
              <a:t>First users</a:t>
            </a:r>
            <a:endParaRPr lang="en-US" sz="3000" dirty="0"/>
          </a:p>
        </p:txBody>
      </p:sp>
      <p:sp>
        <p:nvSpPr>
          <p:cNvPr id="5" name="Shape 3"/>
          <p:cNvSpPr/>
          <p:nvPr/>
        </p:nvSpPr>
        <p:spPr>
          <a:xfrm>
            <a:off x="548640" y="1051560"/>
            <a:ext cx="384048" cy="384048"/>
          </a:xfrm>
          <a:prstGeom prst="ellipse">
            <a:avLst/>
          </a:prstGeom>
          <a:solidFill>
            <a:srgbClr val="F0E9FB"/>
          </a:solidFill>
          <a:ln/>
        </p:spPr>
      </p:sp>
      <p:pic>
        <p:nvPicPr>
          <p:cNvPr id="6" name="Image 0" descr="preencoded.png">    </p:cNvPr>
          <p:cNvPicPr>
            <a:picLocks noChangeAspect="1"/>
          </p:cNvPicPr>
          <p:nvPr/>
        </p:nvPicPr>
        <p:blipFill>
          <a:blip r:embed="rId1"/>
          <a:stretch>
            <a:fillRect/>
          </a:stretch>
        </p:blipFill>
        <p:spPr>
          <a:xfrm>
            <a:off x="640812" y="1143732"/>
            <a:ext cx="199705" cy="199705"/>
          </a:xfrm>
          <a:prstGeom prst="rect">
            <a:avLst/>
          </a:prstGeom>
        </p:spPr>
      </p:pic>
      <p:sp>
        <p:nvSpPr>
          <p:cNvPr id="7" name="Text 4"/>
          <p:cNvSpPr txBox="1"/>
          <p:nvPr/>
        </p:nvSpPr>
        <p:spPr>
          <a:xfrm>
            <a:off x="1051560" y="1069848"/>
            <a:ext cx="3931920" cy="274320"/>
          </a:xfrm>
          <a:prstGeom prst="rect">
            <a:avLst/>
          </a:prstGeom>
          <a:noFill/>
          <a:ln/>
        </p:spPr>
        <p:txBody>
          <a:bodyPr wrap="square" lIns="0" tIns="0" rIns="0" bIns="0" rtlCol="0" anchor="t"/>
          <a:lstStyle/>
          <a:p>
            <a:pPr algn="l" indent="0" marL="0">
              <a:buNone/>
            </a:pPr>
            <a:r>
              <a:rPr lang="en-US" sz="1300" b="1" dirty="0">
                <a:solidFill>
                  <a:srgbClr val="0F1419"/>
                </a:solidFill>
                <a:latin typeface="Arial" pitchFamily="34" charset="0"/>
                <a:ea typeface="Arial" pitchFamily="34" charset="-122"/>
                <a:cs typeface="Arial" pitchFamily="34" charset="-120"/>
              </a:rPr>
              <a:t>Who</a:t>
            </a:r>
            <a:endParaRPr lang="en-US" sz="1300" dirty="0"/>
          </a:p>
        </p:txBody>
      </p:sp>
      <p:sp>
        <p:nvSpPr>
          <p:cNvPr id="8" name="Text 5"/>
          <p:cNvSpPr txBox="1"/>
          <p:nvPr/>
        </p:nvSpPr>
        <p:spPr>
          <a:xfrm>
            <a:off x="1051560" y="1362456"/>
            <a:ext cx="3931920" cy="411480"/>
          </a:xfrm>
          <a:prstGeom prst="rect">
            <a:avLst/>
          </a:prstGeom>
          <a:noFill/>
          <a:ln/>
        </p:spPr>
        <p:txBody>
          <a:bodyPr wrap="square" lIns="0" tIns="0" rIns="0" bIns="0" rtlCol="0" anchor="t"/>
          <a:lstStyle/>
          <a:p>
            <a:pPr algn="l" indent="0" marL="0">
              <a:buNone/>
            </a:pPr>
            <a:r>
              <a:rPr lang="en-US" sz="1150" dirty="0">
                <a:solidFill>
                  <a:srgbClr val="0F1419"/>
                </a:solidFill>
                <a:latin typeface="Arial" pitchFamily="34" charset="0"/>
                <a:ea typeface="Arial" pitchFamily="34" charset="-122"/>
                <a:cs typeface="Arial" pitchFamily="34" charset="-120"/>
              </a:rPr>
              <a:t>Developers and small teams whose agents pay for APIs and services over x402: the teams big platforms ignore.</a:t>
            </a:r>
            <a:endParaRPr lang="en-US" sz="1150" dirty="0"/>
          </a:p>
        </p:txBody>
      </p:sp>
      <p:sp>
        <p:nvSpPr>
          <p:cNvPr id="9" name="Shape 6"/>
          <p:cNvSpPr/>
          <p:nvPr/>
        </p:nvSpPr>
        <p:spPr>
          <a:xfrm>
            <a:off x="548640" y="1956816"/>
            <a:ext cx="384048" cy="384048"/>
          </a:xfrm>
          <a:prstGeom prst="ellipse">
            <a:avLst/>
          </a:prstGeom>
          <a:solidFill>
            <a:srgbClr val="F0E9FB"/>
          </a:solidFill>
          <a:ln/>
        </p:spPr>
      </p:sp>
      <p:pic>
        <p:nvPicPr>
          <p:cNvPr id="10" name="Image 1" descr="preencoded.png">    </p:cNvPr>
          <p:cNvPicPr>
            <a:picLocks noChangeAspect="1"/>
          </p:cNvPicPr>
          <p:nvPr/>
        </p:nvPicPr>
        <p:blipFill>
          <a:blip r:embed="rId2"/>
          <a:stretch>
            <a:fillRect/>
          </a:stretch>
        </p:blipFill>
        <p:spPr>
          <a:xfrm>
            <a:off x="640812" y="2048988"/>
            <a:ext cx="199705" cy="199705"/>
          </a:xfrm>
          <a:prstGeom prst="rect">
            <a:avLst/>
          </a:prstGeom>
        </p:spPr>
      </p:pic>
      <p:sp>
        <p:nvSpPr>
          <p:cNvPr id="11" name="Text 7"/>
          <p:cNvSpPr txBox="1"/>
          <p:nvPr/>
        </p:nvSpPr>
        <p:spPr>
          <a:xfrm>
            <a:off x="1051560" y="1975104"/>
            <a:ext cx="3931920" cy="274320"/>
          </a:xfrm>
          <a:prstGeom prst="rect">
            <a:avLst/>
          </a:prstGeom>
          <a:noFill/>
          <a:ln/>
        </p:spPr>
        <p:txBody>
          <a:bodyPr wrap="square" lIns="0" tIns="0" rIns="0" bIns="0" rtlCol="0" anchor="t"/>
          <a:lstStyle/>
          <a:p>
            <a:pPr algn="l" indent="0" marL="0">
              <a:buNone/>
            </a:pPr>
            <a:r>
              <a:rPr lang="en-US" sz="1300" b="1" dirty="0">
                <a:solidFill>
                  <a:srgbClr val="0F1419"/>
                </a:solidFill>
                <a:latin typeface="Arial" pitchFamily="34" charset="0"/>
                <a:ea typeface="Arial" pitchFamily="34" charset="-122"/>
                <a:cs typeface="Arial" pitchFamily="34" charset="-120"/>
              </a:rPr>
              <a:t>How we reach them</a:t>
            </a:r>
            <a:endParaRPr lang="en-US" sz="1300" dirty="0"/>
          </a:p>
        </p:txBody>
      </p:sp>
      <p:sp>
        <p:nvSpPr>
          <p:cNvPr id="12" name="Text 8"/>
          <p:cNvSpPr txBox="1"/>
          <p:nvPr/>
        </p:nvSpPr>
        <p:spPr>
          <a:xfrm>
            <a:off x="1051560" y="2267712"/>
            <a:ext cx="3931920" cy="594360"/>
          </a:xfrm>
          <a:prstGeom prst="rect">
            <a:avLst/>
          </a:prstGeom>
          <a:noFill/>
          <a:ln/>
        </p:spPr>
        <p:txBody>
          <a:bodyPr wrap="square" lIns="0" tIns="0" rIns="0" bIns="0" rtlCol="0" anchor="t"/>
          <a:lstStyle/>
          <a:p>
            <a:pPr algn="l" indent="0" marL="0">
              <a:buNone/>
            </a:pPr>
            <a:r>
              <a:rPr lang="en-US" sz="1150" dirty="0">
                <a:solidFill>
                  <a:srgbClr val="0F1419"/>
                </a:solidFill>
                <a:latin typeface="Arial" pitchFamily="34" charset="0"/>
                <a:ea typeface="Arial" pitchFamily="34" charset="-122"/>
                <a:cs typeface="Arial" pitchFamily="34" charset="-120"/>
              </a:rPr>
              <a:t>The MCP server: one config line gives Claude Code, Claude Desktop or Cursor a wallet on a leash. And x402 facilitators: two settings changes.</a:t>
            </a:r>
            <a:endParaRPr lang="en-US" sz="1150" dirty="0"/>
          </a:p>
        </p:txBody>
      </p:sp>
      <p:sp>
        <p:nvSpPr>
          <p:cNvPr id="13" name="Shape 9"/>
          <p:cNvSpPr/>
          <p:nvPr/>
        </p:nvSpPr>
        <p:spPr>
          <a:xfrm>
            <a:off x="548640" y="3044952"/>
            <a:ext cx="384048" cy="384048"/>
          </a:xfrm>
          <a:prstGeom prst="ellipse">
            <a:avLst/>
          </a:prstGeom>
          <a:solidFill>
            <a:srgbClr val="F0E9FB"/>
          </a:solidFill>
          <a:ln/>
        </p:spPr>
      </p:sp>
      <p:pic>
        <p:nvPicPr>
          <p:cNvPr id="14" name="Image 2" descr="preencoded.png">    </p:cNvPr>
          <p:cNvPicPr>
            <a:picLocks noChangeAspect="1"/>
          </p:cNvPicPr>
          <p:nvPr/>
        </p:nvPicPr>
        <p:blipFill>
          <a:blip r:embed="rId3"/>
          <a:stretch>
            <a:fillRect/>
          </a:stretch>
        </p:blipFill>
        <p:spPr>
          <a:xfrm>
            <a:off x="640812" y="3137124"/>
            <a:ext cx="199705" cy="199705"/>
          </a:xfrm>
          <a:prstGeom prst="rect">
            <a:avLst/>
          </a:prstGeom>
        </p:spPr>
      </p:pic>
      <p:sp>
        <p:nvSpPr>
          <p:cNvPr id="15" name="Text 10"/>
          <p:cNvSpPr txBox="1"/>
          <p:nvPr/>
        </p:nvSpPr>
        <p:spPr>
          <a:xfrm>
            <a:off x="1051560" y="3063240"/>
            <a:ext cx="3931920" cy="274320"/>
          </a:xfrm>
          <a:prstGeom prst="rect">
            <a:avLst/>
          </a:prstGeom>
          <a:noFill/>
          <a:ln/>
        </p:spPr>
        <p:txBody>
          <a:bodyPr wrap="square" lIns="0" tIns="0" rIns="0" bIns="0" rtlCol="0" anchor="t"/>
          <a:lstStyle/>
          <a:p>
            <a:pPr algn="l" indent="0" marL="0">
              <a:buNone/>
            </a:pPr>
            <a:r>
              <a:rPr lang="en-US" sz="1300" b="1" dirty="0">
                <a:solidFill>
                  <a:srgbClr val="0F1419"/>
                </a:solidFill>
                <a:latin typeface="Arial" pitchFamily="34" charset="0"/>
                <a:ea typeface="Arial" pitchFamily="34" charset="-122"/>
                <a:cs typeface="Arial" pitchFamily="34" charset="-120"/>
              </a:rPr>
              <a:t>What we know so far</a:t>
            </a:r>
            <a:endParaRPr lang="en-US" sz="1300" dirty="0"/>
          </a:p>
        </p:txBody>
      </p:sp>
      <p:sp>
        <p:nvSpPr>
          <p:cNvPr id="16" name="Text 11"/>
          <p:cNvSpPr txBox="1"/>
          <p:nvPr/>
        </p:nvSpPr>
        <p:spPr>
          <a:xfrm>
            <a:off x="1051560" y="3355848"/>
            <a:ext cx="3931920" cy="594360"/>
          </a:xfrm>
          <a:prstGeom prst="rect">
            <a:avLst/>
          </a:prstGeom>
          <a:noFill/>
          <a:ln/>
        </p:spPr>
        <p:txBody>
          <a:bodyPr wrap="square" lIns="0" tIns="0" rIns="0" bIns="0" rtlCol="0" anchor="t"/>
          <a:lstStyle/>
          <a:p>
            <a:pPr algn="l" indent="0" marL="0">
              <a:buNone/>
            </a:pPr>
            <a:r>
              <a:rPr lang="en-US" sz="1150" dirty="0">
                <a:solidFill>
                  <a:srgbClr val="0F1419"/>
                </a:solidFill>
                <a:latin typeface="Arial" pitchFamily="34" charset="0"/>
                <a:ea typeface="Arial" pitchFamily="34" charset="-122"/>
                <a:cs typeface="Arial" pitchFamily="34" charset="-120"/>
              </a:rPr>
              <a:t>No conversations with users yet. Next: five conversations with developers whose agents pay for APIs (Superteam Germany, x402 builders, MCP users).</a:t>
            </a:r>
            <a:endParaRPr lang="en-US" sz="1150" dirty="0"/>
          </a:p>
        </p:txBody>
      </p:sp>
      <p:sp>
        <p:nvSpPr>
          <p:cNvPr id="17" name="Shape 12"/>
          <p:cNvSpPr/>
          <p:nvPr/>
        </p:nvSpPr>
        <p:spPr>
          <a:xfrm>
            <a:off x="1051560" y="4023360"/>
            <a:ext cx="3931920" cy="310896"/>
          </a:xfrm>
          <a:prstGeom prst="roundRect">
            <a:avLst>
              <a:gd name="adj" fmla="val 294118"/>
            </a:avLst>
          </a:prstGeom>
          <a:solidFill>
            <a:srgbClr val="F8EEE6"/>
          </a:solidFill>
          <a:ln/>
        </p:spPr>
      </p:sp>
      <p:sp>
        <p:nvSpPr>
          <p:cNvPr id="18" name="Text 13"/>
          <p:cNvSpPr txBox="1"/>
          <p:nvPr/>
        </p:nvSpPr>
        <p:spPr>
          <a:xfrm>
            <a:off x="1051560" y="4023360"/>
            <a:ext cx="3931920" cy="310896"/>
          </a:xfrm>
          <a:prstGeom prst="rect">
            <a:avLst/>
          </a:prstGeom>
          <a:noFill/>
          <a:ln/>
        </p:spPr>
        <p:txBody>
          <a:bodyPr wrap="square" lIns="0" tIns="0" rIns="0" bIns="0" rtlCol="0" anchor="ctr"/>
          <a:lstStyle/>
          <a:p>
            <a:pPr algn="ctr" indent="0" marL="0">
              <a:buNone/>
            </a:pPr>
            <a:r>
              <a:rPr lang="en-US" sz="900" b="1" dirty="0">
                <a:solidFill>
                  <a:srgbClr val="B45309"/>
                </a:solidFill>
                <a:latin typeface="Arial" pitchFamily="34" charset="0"/>
                <a:ea typeface="Arial" pitchFamily="34" charset="-122"/>
                <a:cs typeface="Arial" pitchFamily="34" charset="-120"/>
              </a:rPr>
              <a:t>[Parth: replace with who you talked to and what they said]</a:t>
            </a:r>
            <a:endParaRPr lang="en-US" sz="900" dirty="0"/>
          </a:p>
        </p:txBody>
      </p:sp>
      <p:sp>
        <p:nvSpPr>
          <p:cNvPr id="19" name="Shape 14"/>
          <p:cNvSpPr/>
          <p:nvPr/>
        </p:nvSpPr>
        <p:spPr>
          <a:xfrm>
            <a:off x="5257800" y="1051560"/>
            <a:ext cx="3337560" cy="3291840"/>
          </a:xfrm>
          <a:prstGeom prst="roundRect">
            <a:avLst>
              <a:gd name="adj" fmla="val 2222"/>
            </a:avLst>
          </a:prstGeom>
          <a:solidFill>
            <a:srgbClr val="FFFFFF"/>
          </a:solidFill>
          <a:ln w="9525">
            <a:solidFill>
              <a:srgbClr val="DFE3EA"/>
            </a:solidFill>
            <a:prstDash val="solid"/>
          </a:ln>
          <a:effectLst>
            <a:outerShdw sx="100000" sy="100000" kx="0" ky="0" algn="bl" rotWithShape="0" blurRad="50800" dist="12700" dir="5400000">
              <a:srgbClr val="000000">
                <a:alpha val="8000"/>
              </a:srgbClr>
            </a:outerShdw>
          </a:effectLst>
        </p:spPr>
      </p:sp>
      <p:sp>
        <p:nvSpPr>
          <p:cNvPr id="20" name="Text 15"/>
          <p:cNvSpPr txBox="1"/>
          <p:nvPr/>
        </p:nvSpPr>
        <p:spPr>
          <a:xfrm>
            <a:off x="5440680" y="1188720"/>
            <a:ext cx="3017520" cy="274320"/>
          </a:xfrm>
          <a:prstGeom prst="rect">
            <a:avLst/>
          </a:prstGeom>
          <a:noFill/>
          <a:ln/>
        </p:spPr>
        <p:txBody>
          <a:bodyPr wrap="square" lIns="0" tIns="0" rIns="0" bIns="0" rtlCol="0" anchor="t"/>
          <a:lstStyle/>
          <a:p>
            <a:pPr algn="l" indent="0" marL="0">
              <a:buNone/>
            </a:pPr>
            <a:r>
              <a:rPr lang="en-US" sz="1300" b="1" dirty="0">
                <a:solidFill>
                  <a:srgbClr val="0F1419"/>
                </a:solidFill>
                <a:latin typeface="Arial" pitchFamily="34" charset="0"/>
                <a:ea typeface="Arial" pitchFamily="34" charset="-122"/>
                <a:cs typeface="Arial" pitchFamily="34" charset="-120"/>
              </a:rPr>
              <a:t>Others in the space</a:t>
            </a:r>
            <a:endParaRPr lang="en-US" sz="1300" dirty="0"/>
          </a:p>
        </p:txBody>
      </p:sp>
      <p:sp>
        <p:nvSpPr>
          <p:cNvPr id="21" name="Text 16"/>
          <p:cNvSpPr txBox="1"/>
          <p:nvPr/>
        </p:nvSpPr>
        <p:spPr>
          <a:xfrm>
            <a:off x="5440680" y="1572768"/>
            <a:ext cx="3017520" cy="201168"/>
          </a:xfrm>
          <a:prstGeom prst="rect">
            <a:avLst/>
          </a:prstGeom>
          <a:noFill/>
          <a:ln/>
        </p:spPr>
        <p:txBody>
          <a:bodyPr wrap="square" lIns="0" tIns="0" rIns="0" bIns="0" rtlCol="0" anchor="t"/>
          <a:lstStyle/>
          <a:p>
            <a:pPr algn="l" indent="0" marL="0">
              <a:buNone/>
            </a:pPr>
            <a:r>
              <a:rPr lang="en-US" sz="1100" b="1" dirty="0">
                <a:solidFill>
                  <a:srgbClr val="0F1419"/>
                </a:solidFill>
                <a:latin typeface="Arial" pitchFamily="34" charset="0"/>
                <a:ea typeface="Arial" pitchFamily="34" charset="-122"/>
                <a:cs typeface="Arial" pitchFamily="34" charset="-120"/>
              </a:rPr>
              <a:t>Swig, Squads</a:t>
            </a:r>
            <a:endParaRPr lang="en-US" sz="1100" dirty="0"/>
          </a:p>
        </p:txBody>
      </p:sp>
      <p:sp>
        <p:nvSpPr>
          <p:cNvPr id="22" name="Text 17"/>
          <p:cNvSpPr txBox="1"/>
          <p:nvPr/>
        </p:nvSpPr>
        <p:spPr>
          <a:xfrm>
            <a:off x="5440680" y="1773936"/>
            <a:ext cx="3017520" cy="210312"/>
          </a:xfrm>
          <a:prstGeom prst="rect">
            <a:avLst/>
          </a:prstGeom>
          <a:noFill/>
          <a:ln/>
        </p:spPr>
        <p:txBody>
          <a:bodyPr wrap="square" lIns="0" tIns="0" rIns="0" bIns="0" rtlCol="0" anchor="t"/>
          <a:lstStyle/>
          <a:p>
            <a:pPr algn="l" indent="0" marL="0">
              <a:buNone/>
            </a:pPr>
            <a:r>
              <a:rPr lang="en-US" sz="1050" dirty="0">
                <a:solidFill>
                  <a:srgbClr val="535C6B"/>
                </a:solidFill>
                <a:latin typeface="Arial" pitchFamily="34" charset="0"/>
                <a:ea typeface="Arial" pitchFamily="34" charset="-122"/>
                <a:cs typeface="Arial" pitchFamily="34" charset="-120"/>
              </a:rPr>
              <a:t>Smart-account wallets with spending limits</a:t>
            </a:r>
            <a:endParaRPr lang="en-US" sz="1050" dirty="0"/>
          </a:p>
        </p:txBody>
      </p:sp>
      <p:sp>
        <p:nvSpPr>
          <p:cNvPr id="23" name="Text 18"/>
          <p:cNvSpPr txBox="1"/>
          <p:nvPr/>
        </p:nvSpPr>
        <p:spPr>
          <a:xfrm>
            <a:off x="5440680" y="2075688"/>
            <a:ext cx="3017520" cy="201168"/>
          </a:xfrm>
          <a:prstGeom prst="rect">
            <a:avLst/>
          </a:prstGeom>
          <a:noFill/>
          <a:ln/>
        </p:spPr>
        <p:txBody>
          <a:bodyPr wrap="square" lIns="0" tIns="0" rIns="0" bIns="0" rtlCol="0" anchor="t"/>
          <a:lstStyle/>
          <a:p>
            <a:pPr algn="l" indent="0" marL="0">
              <a:buNone/>
            </a:pPr>
            <a:r>
              <a:rPr lang="en-US" sz="1100" b="1" dirty="0">
                <a:solidFill>
                  <a:srgbClr val="0F1419"/>
                </a:solidFill>
                <a:latin typeface="Arial" pitchFamily="34" charset="0"/>
                <a:ea typeface="Arial" pitchFamily="34" charset="-122"/>
                <a:cs typeface="Arial" pitchFamily="34" charset="-120"/>
              </a:rPr>
              <a:t>Crossmint, Openfort</a:t>
            </a:r>
            <a:endParaRPr lang="en-US" sz="1100" dirty="0"/>
          </a:p>
        </p:txBody>
      </p:sp>
      <p:sp>
        <p:nvSpPr>
          <p:cNvPr id="24" name="Text 19"/>
          <p:cNvSpPr txBox="1"/>
          <p:nvPr/>
        </p:nvSpPr>
        <p:spPr>
          <a:xfrm>
            <a:off x="5440680" y="2276856"/>
            <a:ext cx="3017520" cy="210312"/>
          </a:xfrm>
          <a:prstGeom prst="rect">
            <a:avLst/>
          </a:prstGeom>
          <a:noFill/>
          <a:ln/>
        </p:spPr>
        <p:txBody>
          <a:bodyPr wrap="square" lIns="0" tIns="0" rIns="0" bIns="0" rtlCol="0" anchor="t"/>
          <a:lstStyle/>
          <a:p>
            <a:pPr algn="l" indent="0" marL="0">
              <a:buNone/>
            </a:pPr>
            <a:r>
              <a:rPr lang="en-US" sz="1050" dirty="0">
                <a:solidFill>
                  <a:srgbClr val="535C6B"/>
                </a:solidFill>
                <a:latin typeface="Arial" pitchFamily="34" charset="0"/>
                <a:ea typeface="Arial" pitchFamily="34" charset="-122"/>
                <a:cs typeface="Arial" pitchFamily="34" charset="-120"/>
              </a:rPr>
              <a:t>Agent wallets</a:t>
            </a:r>
            <a:endParaRPr lang="en-US" sz="1050" dirty="0"/>
          </a:p>
        </p:txBody>
      </p:sp>
      <p:sp>
        <p:nvSpPr>
          <p:cNvPr id="25" name="Text 20"/>
          <p:cNvSpPr txBox="1"/>
          <p:nvPr/>
        </p:nvSpPr>
        <p:spPr>
          <a:xfrm>
            <a:off x="5440680" y="2578608"/>
            <a:ext cx="3017520" cy="201168"/>
          </a:xfrm>
          <a:prstGeom prst="rect">
            <a:avLst/>
          </a:prstGeom>
          <a:noFill/>
          <a:ln/>
        </p:spPr>
        <p:txBody>
          <a:bodyPr wrap="square" lIns="0" tIns="0" rIns="0" bIns="0" rtlCol="0" anchor="t"/>
          <a:lstStyle/>
          <a:p>
            <a:pPr algn="l" indent="0" marL="0">
              <a:buNone/>
            </a:pPr>
            <a:r>
              <a:rPr lang="en-US" sz="1100" b="1" dirty="0">
                <a:solidFill>
                  <a:srgbClr val="0F1419"/>
                </a:solidFill>
                <a:latin typeface="Arial" pitchFamily="34" charset="0"/>
                <a:ea typeface="Arial" pitchFamily="34" charset="-122"/>
                <a:cs typeface="Arial" pitchFamily="34" charset="-120"/>
              </a:rPr>
              <a:t>Ramp</a:t>
            </a:r>
            <a:endParaRPr lang="en-US" sz="1100" dirty="0"/>
          </a:p>
        </p:txBody>
      </p:sp>
      <p:sp>
        <p:nvSpPr>
          <p:cNvPr id="26" name="Text 21"/>
          <p:cNvSpPr txBox="1"/>
          <p:nvPr/>
        </p:nvSpPr>
        <p:spPr>
          <a:xfrm>
            <a:off x="5440680" y="2779776"/>
            <a:ext cx="3017520" cy="384048"/>
          </a:xfrm>
          <a:prstGeom prst="rect">
            <a:avLst/>
          </a:prstGeom>
          <a:noFill/>
          <a:ln/>
        </p:spPr>
        <p:txBody>
          <a:bodyPr wrap="square" lIns="0" tIns="0" rIns="0" bIns="0" rtlCol="0" anchor="t"/>
          <a:lstStyle/>
          <a:p>
            <a:pPr algn="l" indent="0" marL="0">
              <a:buNone/>
            </a:pPr>
            <a:r>
              <a:rPr lang="en-US" sz="1050" dirty="0">
                <a:solidFill>
                  <a:srgbClr val="535C6B"/>
                </a:solidFill>
                <a:latin typeface="Arial" pitchFamily="34" charset="0"/>
                <a:ea typeface="Arial" pitchFamily="34" charset="-122"/>
                <a:cs typeface="Arial" pitchFamily="34" charset="-120"/>
              </a:rPr>
              <a:t>Testing x402 agent wallets on Solana, in a limited alpha</a:t>
            </a:r>
            <a:endParaRPr lang="en-US" sz="1050" dirty="0"/>
          </a:p>
        </p:txBody>
      </p:sp>
      <p:sp>
        <p:nvSpPr>
          <p:cNvPr id="27" name="Text 22"/>
          <p:cNvSpPr txBox="1"/>
          <p:nvPr/>
        </p:nvSpPr>
        <p:spPr>
          <a:xfrm>
            <a:off x="5440680" y="3255264"/>
            <a:ext cx="3017520" cy="201168"/>
          </a:xfrm>
          <a:prstGeom prst="rect">
            <a:avLst/>
          </a:prstGeom>
          <a:noFill/>
          <a:ln/>
        </p:spPr>
        <p:txBody>
          <a:bodyPr wrap="square" lIns="0" tIns="0" rIns="0" bIns="0" rtlCol="0" anchor="t"/>
          <a:lstStyle/>
          <a:p>
            <a:pPr algn="l" indent="0" marL="0">
              <a:buNone/>
            </a:pPr>
            <a:r>
              <a:rPr lang="en-US" sz="1100" b="1" dirty="0">
                <a:solidFill>
                  <a:srgbClr val="6D28D9"/>
                </a:solidFill>
                <a:latin typeface="Arial" pitchFamily="34" charset="0"/>
                <a:ea typeface="Arial" pitchFamily="34" charset="-122"/>
                <a:cs typeface="Arial" pitchFamily="34" charset="-120"/>
              </a:rPr>
              <a:t>Leash</a:t>
            </a:r>
            <a:endParaRPr lang="en-US" sz="1100" dirty="0"/>
          </a:p>
        </p:txBody>
      </p:sp>
      <p:sp>
        <p:nvSpPr>
          <p:cNvPr id="28" name="Text 23"/>
          <p:cNvSpPr txBox="1"/>
          <p:nvPr/>
        </p:nvSpPr>
        <p:spPr>
          <a:xfrm>
            <a:off x="5440680" y="3456432"/>
            <a:ext cx="3017520" cy="566928"/>
          </a:xfrm>
          <a:prstGeom prst="rect">
            <a:avLst/>
          </a:prstGeom>
          <a:noFill/>
          <a:ln/>
        </p:spPr>
        <p:txBody>
          <a:bodyPr wrap="square" lIns="0" tIns="0" rIns="0" bIns="0" rtlCol="0" anchor="t"/>
          <a:lstStyle/>
          <a:p>
            <a:pPr algn="l" indent="0" marL="0">
              <a:buNone/>
            </a:pPr>
            <a:r>
              <a:rPr lang="en-US" sz="1050" dirty="0">
                <a:solidFill>
                  <a:srgbClr val="535C6B"/>
                </a:solidFill>
                <a:latin typeface="Arial" pitchFamily="34" charset="0"/>
                <a:ea typeface="Arial" pitchFamily="34" charset="-122"/>
                <a:cs typeface="Arial" pitchFamily="34" charset="-120"/>
              </a:rPr>
              <a:t>The on-chain firewall on top of Solana's own Allowances program: who may be paid, how fast, and a tripwire, without holding anyone's money.</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754880"/>
            <a:ext cx="1828800" cy="201168"/>
          </a:xfrm>
          <a:prstGeom prst="rect">
            <a:avLst/>
          </a:prstGeom>
          <a:noFill/>
          <a:ln/>
        </p:spPr>
        <p:txBody>
          <a:bodyPr wrap="square" lIns="0" tIns="0" rIns="0" bIns="0" rtlCol="0" anchor="t"/>
          <a:lstStyle/>
          <a:p>
            <a:pPr algn="l" indent="0" marL="0">
              <a:buNone/>
            </a:pPr>
            <a:r>
              <a:rPr lang="en-US" sz="900" dirty="0">
                <a:solidFill>
                  <a:srgbClr val="535C6B"/>
                </a:solidFill>
                <a:latin typeface="Arial" pitchFamily="34" charset="0"/>
                <a:ea typeface="Arial" pitchFamily="34" charset="-122"/>
                <a:cs typeface="Arial" pitchFamily="34" charset="-120"/>
              </a:rPr>
              <a:t>Leash</a:t>
            </a:r>
            <a:endParaRPr lang="en-US" sz="900" dirty="0"/>
          </a:p>
        </p:txBody>
      </p:sp>
      <p:sp>
        <p:nvSpPr>
          <p:cNvPr id="3" name="Text 1"/>
          <p:cNvSpPr txBox="1"/>
          <p:nvPr/>
        </p:nvSpPr>
        <p:spPr>
          <a:xfrm>
            <a:off x="8138160" y="4754880"/>
            <a:ext cx="457200" cy="201168"/>
          </a:xfrm>
          <a:prstGeom prst="rect">
            <a:avLst/>
          </a:prstGeom>
          <a:noFill/>
          <a:ln/>
        </p:spPr>
        <p:txBody>
          <a:bodyPr wrap="square" lIns="0" tIns="0" rIns="0" bIns="0" rtlCol="0" anchor="t"/>
          <a:lstStyle/>
          <a:p>
            <a:pPr algn="r" indent="0" marL="0">
              <a:buNone/>
            </a:pPr>
            <a:r>
              <a:rPr lang="en-US" sz="900" dirty="0">
                <a:solidFill>
                  <a:srgbClr val="535C6B"/>
                </a:solidFill>
                <a:latin typeface="Arial" pitchFamily="34" charset="0"/>
                <a:ea typeface="Arial" pitchFamily="34" charset="-122"/>
                <a:cs typeface="Arial" pitchFamily="34" charset="-120"/>
              </a:rPr>
              <a:t>11</a:t>
            </a:r>
            <a:endParaRPr lang="en-US" sz="900" dirty="0"/>
          </a:p>
        </p:txBody>
      </p:sp>
      <p:sp>
        <p:nvSpPr>
          <p:cNvPr id="4" name="Text 2"/>
          <p:cNvSpPr txBox="1"/>
          <p:nvPr/>
        </p:nvSpPr>
        <p:spPr>
          <a:xfrm>
            <a:off x="548640" y="384048"/>
            <a:ext cx="8046720" cy="548640"/>
          </a:xfrm>
          <a:prstGeom prst="rect">
            <a:avLst/>
          </a:prstGeom>
          <a:noFill/>
          <a:ln/>
        </p:spPr>
        <p:txBody>
          <a:bodyPr wrap="square" lIns="0" tIns="0" rIns="0" bIns="0" rtlCol="0" anchor="ctr"/>
          <a:lstStyle/>
          <a:p>
            <a:pPr algn="l" indent="0" marL="0">
              <a:buNone/>
            </a:pPr>
            <a:r>
              <a:rPr lang="en-US" sz="3000" b="1" dirty="0">
                <a:solidFill>
                  <a:srgbClr val="0F1419"/>
                </a:solidFill>
                <a:latin typeface="Arial" pitchFamily="34" charset="0"/>
                <a:ea typeface="Arial" pitchFamily="34" charset="-122"/>
                <a:cs typeface="Arial" pitchFamily="34" charset="-120"/>
              </a:rPr>
              <a:t>Business model: open core</a:t>
            </a:r>
            <a:endParaRPr lang="en-US" sz="3000" dirty="0"/>
          </a:p>
        </p:txBody>
      </p:sp>
      <p:sp>
        <p:nvSpPr>
          <p:cNvPr id="5" name="Shape 3"/>
          <p:cNvSpPr/>
          <p:nvPr/>
        </p:nvSpPr>
        <p:spPr>
          <a:xfrm>
            <a:off x="548640" y="1097280"/>
            <a:ext cx="2560320" cy="2377440"/>
          </a:xfrm>
          <a:prstGeom prst="roundRect">
            <a:avLst>
              <a:gd name="adj" fmla="val 3077"/>
            </a:avLst>
          </a:prstGeom>
          <a:solidFill>
            <a:srgbClr val="FFFFFF"/>
          </a:solidFill>
          <a:ln w="9525">
            <a:solidFill>
              <a:srgbClr val="DFE3EA"/>
            </a:solidFill>
            <a:prstDash val="solid"/>
          </a:ln>
          <a:effectLst>
            <a:outerShdw sx="100000" sy="100000" kx="0" ky="0" algn="bl" rotWithShape="0" blurRad="50800" dist="12700" dir="5400000">
              <a:srgbClr val="000000">
                <a:alpha val="8000"/>
              </a:srgbClr>
            </a:outerShdw>
          </a:effectLst>
        </p:spPr>
      </p:sp>
      <p:sp>
        <p:nvSpPr>
          <p:cNvPr id="6" name="Shape 4"/>
          <p:cNvSpPr/>
          <p:nvPr/>
        </p:nvSpPr>
        <p:spPr>
          <a:xfrm>
            <a:off x="777240" y="1298448"/>
            <a:ext cx="502920" cy="502920"/>
          </a:xfrm>
          <a:prstGeom prst="ellipse">
            <a:avLst/>
          </a:prstGeom>
          <a:solidFill>
            <a:srgbClr val="E6F2EE"/>
          </a:solidFill>
          <a:ln/>
        </p:spPr>
      </p:sp>
      <p:pic>
        <p:nvPicPr>
          <p:cNvPr id="7" name="Image 0" descr="preencoded.png">    </p:cNvPr>
          <p:cNvPicPr>
            <a:picLocks noChangeAspect="1"/>
          </p:cNvPicPr>
          <p:nvPr/>
        </p:nvPicPr>
        <p:blipFill>
          <a:blip r:embed="rId1"/>
          <a:stretch>
            <a:fillRect/>
          </a:stretch>
        </p:blipFill>
        <p:spPr>
          <a:xfrm>
            <a:off x="897941" y="1419149"/>
            <a:ext cx="261518" cy="261518"/>
          </a:xfrm>
          <a:prstGeom prst="rect">
            <a:avLst/>
          </a:prstGeom>
        </p:spPr>
      </p:pic>
      <p:sp>
        <p:nvSpPr>
          <p:cNvPr id="8" name="Text 5"/>
          <p:cNvSpPr txBox="1"/>
          <p:nvPr/>
        </p:nvSpPr>
        <p:spPr>
          <a:xfrm>
            <a:off x="777240" y="1938528"/>
            <a:ext cx="2103120" cy="320040"/>
          </a:xfrm>
          <a:prstGeom prst="rect">
            <a:avLst/>
          </a:prstGeom>
          <a:noFill/>
          <a:ln/>
        </p:spPr>
        <p:txBody>
          <a:bodyPr wrap="square" lIns="0" tIns="0" rIns="0" bIns="0" rtlCol="0" anchor="t"/>
          <a:lstStyle/>
          <a:p>
            <a:pPr algn="l" indent="0" marL="0">
              <a:buNone/>
            </a:pPr>
            <a:r>
              <a:rPr lang="en-US" sz="1500" b="1" dirty="0">
                <a:solidFill>
                  <a:srgbClr val="0F1419"/>
                </a:solidFill>
                <a:latin typeface="Arial" pitchFamily="34" charset="0"/>
                <a:ea typeface="Arial" pitchFamily="34" charset="-122"/>
                <a:cs typeface="Arial" pitchFamily="34" charset="-120"/>
              </a:rPr>
              <a:t>Free and open source</a:t>
            </a:r>
            <a:endParaRPr lang="en-US" sz="1500" dirty="0"/>
          </a:p>
        </p:txBody>
      </p:sp>
      <p:sp>
        <p:nvSpPr>
          <p:cNvPr id="9" name="Text 6"/>
          <p:cNvSpPr txBox="1"/>
          <p:nvPr/>
        </p:nvSpPr>
        <p:spPr>
          <a:xfrm>
            <a:off x="777240" y="2304288"/>
            <a:ext cx="2103120" cy="640080"/>
          </a:xfrm>
          <a:prstGeom prst="rect">
            <a:avLst/>
          </a:prstGeom>
          <a:noFill/>
          <a:ln/>
        </p:spPr>
        <p:txBody>
          <a:bodyPr wrap="square" lIns="0" tIns="0" rIns="0" bIns="0" rtlCol="0" anchor="t"/>
          <a:lstStyle/>
          <a:p>
            <a:pPr algn="l" indent="0" marL="0">
              <a:buNone/>
            </a:pPr>
            <a:r>
              <a:rPr lang="en-US" sz="1200" dirty="0">
                <a:solidFill>
                  <a:srgbClr val="0F1419"/>
                </a:solidFill>
                <a:latin typeface="Arial" pitchFamily="34" charset="0"/>
                <a:ea typeface="Arial" pitchFamily="34" charset="-122"/>
                <a:cs typeface="Arial" pitchFamily="34" charset="-120"/>
              </a:rPr>
              <a:t>The Leash program, the SDK and the MCP server.</a:t>
            </a:r>
            <a:endParaRPr lang="en-US" sz="1200" dirty="0"/>
          </a:p>
        </p:txBody>
      </p:sp>
      <p:sp>
        <p:nvSpPr>
          <p:cNvPr id="10" name="Text 7"/>
          <p:cNvSpPr txBox="1"/>
          <p:nvPr/>
        </p:nvSpPr>
        <p:spPr>
          <a:xfrm>
            <a:off x="777240" y="3017520"/>
            <a:ext cx="2103120" cy="320040"/>
          </a:xfrm>
          <a:prstGeom prst="rect">
            <a:avLst/>
          </a:prstGeom>
          <a:noFill/>
          <a:ln/>
        </p:spPr>
        <p:txBody>
          <a:bodyPr wrap="square" lIns="0" tIns="0" rIns="0" bIns="0" rtlCol="0" anchor="t"/>
          <a:lstStyle/>
          <a:p>
            <a:pPr algn="l" indent="0" marL="0">
              <a:buNone/>
            </a:pPr>
            <a:r>
              <a:rPr lang="en-US" sz="1050" i="1" dirty="0">
                <a:solidFill>
                  <a:srgbClr val="535C6B"/>
                </a:solidFill>
                <a:latin typeface="Arial" pitchFamily="34" charset="0"/>
                <a:ea typeface="Arial" pitchFamily="34" charset="-122"/>
                <a:cs typeface="Arial" pitchFamily="34" charset="-120"/>
              </a:rPr>
              <a:t>A security product must be verifiable.</a:t>
            </a:r>
            <a:endParaRPr lang="en-US" sz="1050" dirty="0"/>
          </a:p>
        </p:txBody>
      </p:sp>
      <p:sp>
        <p:nvSpPr>
          <p:cNvPr id="11" name="Shape 8"/>
          <p:cNvSpPr/>
          <p:nvPr/>
        </p:nvSpPr>
        <p:spPr>
          <a:xfrm>
            <a:off x="3291840" y="1097280"/>
            <a:ext cx="2560320" cy="2377440"/>
          </a:xfrm>
          <a:prstGeom prst="roundRect">
            <a:avLst>
              <a:gd name="adj" fmla="val 3077"/>
            </a:avLst>
          </a:prstGeom>
          <a:solidFill>
            <a:srgbClr val="FFFFFF"/>
          </a:solidFill>
          <a:ln w="9525">
            <a:solidFill>
              <a:srgbClr val="DFE3EA"/>
            </a:solidFill>
            <a:prstDash val="solid"/>
          </a:ln>
          <a:effectLst>
            <a:outerShdw sx="100000" sy="100000" kx="0" ky="0" algn="bl" rotWithShape="0" blurRad="50800" dist="12700" dir="5400000">
              <a:srgbClr val="000000">
                <a:alpha val="8000"/>
              </a:srgbClr>
            </a:outerShdw>
          </a:effectLst>
        </p:spPr>
      </p:sp>
      <p:sp>
        <p:nvSpPr>
          <p:cNvPr id="12" name="Shape 9"/>
          <p:cNvSpPr/>
          <p:nvPr/>
        </p:nvSpPr>
        <p:spPr>
          <a:xfrm>
            <a:off x="3520440" y="1298448"/>
            <a:ext cx="502920" cy="502920"/>
          </a:xfrm>
          <a:prstGeom prst="ellipse">
            <a:avLst/>
          </a:prstGeom>
          <a:solidFill>
            <a:srgbClr val="F0E9FB"/>
          </a:solidFill>
          <a:ln/>
        </p:spPr>
      </p:sp>
      <p:pic>
        <p:nvPicPr>
          <p:cNvPr id="13" name="Image 1" descr="preencoded.png">    </p:cNvPr>
          <p:cNvPicPr>
            <a:picLocks noChangeAspect="1"/>
          </p:cNvPicPr>
          <p:nvPr/>
        </p:nvPicPr>
        <p:blipFill>
          <a:blip r:embed="rId2"/>
          <a:stretch>
            <a:fillRect/>
          </a:stretch>
        </p:blipFill>
        <p:spPr>
          <a:xfrm>
            <a:off x="3641141" y="1419149"/>
            <a:ext cx="261518" cy="261518"/>
          </a:xfrm>
          <a:prstGeom prst="rect">
            <a:avLst/>
          </a:prstGeom>
        </p:spPr>
      </p:pic>
      <p:sp>
        <p:nvSpPr>
          <p:cNvPr id="14" name="Text 10"/>
          <p:cNvSpPr txBox="1"/>
          <p:nvPr/>
        </p:nvSpPr>
        <p:spPr>
          <a:xfrm>
            <a:off x="3520440" y="1938528"/>
            <a:ext cx="2103120" cy="320040"/>
          </a:xfrm>
          <a:prstGeom prst="rect">
            <a:avLst/>
          </a:prstGeom>
          <a:noFill/>
          <a:ln/>
        </p:spPr>
        <p:txBody>
          <a:bodyPr wrap="square" lIns="0" tIns="0" rIns="0" bIns="0" rtlCol="0" anchor="t"/>
          <a:lstStyle/>
          <a:p>
            <a:pPr algn="l" indent="0" marL="0">
              <a:buNone/>
            </a:pPr>
            <a:r>
              <a:rPr lang="en-US" sz="1500" b="1" dirty="0">
                <a:solidFill>
                  <a:srgbClr val="0F1419"/>
                </a:solidFill>
                <a:latin typeface="Arial" pitchFamily="34" charset="0"/>
                <a:ea typeface="Arial" pitchFamily="34" charset="-122"/>
                <a:cs typeface="Arial" pitchFamily="34" charset="-120"/>
              </a:rPr>
              <a:t>Paid</a:t>
            </a:r>
            <a:endParaRPr lang="en-US" sz="1500" dirty="0"/>
          </a:p>
        </p:txBody>
      </p:sp>
      <p:sp>
        <p:nvSpPr>
          <p:cNvPr id="15" name="Text 11"/>
          <p:cNvSpPr txBox="1"/>
          <p:nvPr/>
        </p:nvSpPr>
        <p:spPr>
          <a:xfrm>
            <a:off x="3520440" y="2304288"/>
            <a:ext cx="2103120" cy="640080"/>
          </a:xfrm>
          <a:prstGeom prst="rect">
            <a:avLst/>
          </a:prstGeom>
          <a:noFill/>
          <a:ln/>
        </p:spPr>
        <p:txBody>
          <a:bodyPr wrap="square" lIns="0" tIns="0" rIns="0" bIns="0" rtlCol="0" anchor="t"/>
          <a:lstStyle/>
          <a:p>
            <a:pPr algn="l" indent="0" marL="0">
              <a:buNone/>
            </a:pPr>
            <a:r>
              <a:rPr lang="en-US" sz="1200" dirty="0">
                <a:solidFill>
                  <a:srgbClr val="0F1419"/>
                </a:solidFill>
                <a:latin typeface="Arial" pitchFamily="34" charset="0"/>
                <a:ea typeface="Arial" pitchFamily="34" charset="-122"/>
                <a:cs typeface="Arial" pitchFamily="34" charset="-120"/>
              </a:rPr>
              <a:t>A hosted control panel with alerts and a guardian, per agent per month.</a:t>
            </a:r>
            <a:endParaRPr lang="en-US" sz="1200" dirty="0"/>
          </a:p>
        </p:txBody>
      </p:sp>
      <p:sp>
        <p:nvSpPr>
          <p:cNvPr id="16" name="Text 12"/>
          <p:cNvSpPr txBox="1"/>
          <p:nvPr/>
        </p:nvSpPr>
        <p:spPr>
          <a:xfrm>
            <a:off x="3520440" y="3017520"/>
            <a:ext cx="2103120" cy="320040"/>
          </a:xfrm>
          <a:prstGeom prst="rect">
            <a:avLst/>
          </a:prstGeom>
          <a:noFill/>
          <a:ln/>
        </p:spPr>
        <p:txBody>
          <a:bodyPr wrap="square" lIns="0" tIns="0" rIns="0" bIns="0" rtlCol="0" anchor="t"/>
          <a:lstStyle/>
          <a:p>
            <a:pPr algn="l" indent="0" marL="0">
              <a:buNone/>
            </a:pPr>
            <a:r>
              <a:rPr lang="en-US" sz="1050" i="1" dirty="0">
                <a:solidFill>
                  <a:srgbClr val="535C6B"/>
                </a:solidFill>
                <a:latin typeface="Arial" pitchFamily="34" charset="0"/>
                <a:ea typeface="Arial" pitchFamily="34" charset="-122"/>
                <a:cs typeface="Arial" pitchFamily="34" charset="-120"/>
              </a:rPr>
              <a:t>What runs around the clock.</a:t>
            </a:r>
            <a:endParaRPr lang="en-US" sz="1050" dirty="0"/>
          </a:p>
        </p:txBody>
      </p:sp>
      <p:sp>
        <p:nvSpPr>
          <p:cNvPr id="17" name="Shape 13"/>
          <p:cNvSpPr/>
          <p:nvPr/>
        </p:nvSpPr>
        <p:spPr>
          <a:xfrm>
            <a:off x="6035040" y="1097280"/>
            <a:ext cx="2560320" cy="2377440"/>
          </a:xfrm>
          <a:prstGeom prst="roundRect">
            <a:avLst>
              <a:gd name="adj" fmla="val 3077"/>
            </a:avLst>
          </a:prstGeom>
          <a:solidFill>
            <a:srgbClr val="FFFFFF"/>
          </a:solidFill>
          <a:ln w="9525">
            <a:solidFill>
              <a:srgbClr val="DFE3EA"/>
            </a:solidFill>
            <a:prstDash val="solid"/>
          </a:ln>
          <a:effectLst>
            <a:outerShdw sx="100000" sy="100000" kx="0" ky="0" algn="bl" rotWithShape="0" blurRad="50800" dist="12700" dir="5400000">
              <a:srgbClr val="000000">
                <a:alpha val="8000"/>
              </a:srgbClr>
            </a:outerShdw>
          </a:effectLst>
        </p:spPr>
      </p:sp>
      <p:sp>
        <p:nvSpPr>
          <p:cNvPr id="18" name="Shape 14"/>
          <p:cNvSpPr/>
          <p:nvPr/>
        </p:nvSpPr>
        <p:spPr>
          <a:xfrm>
            <a:off x="6263640" y="1298448"/>
            <a:ext cx="502920" cy="502920"/>
          </a:xfrm>
          <a:prstGeom prst="ellipse">
            <a:avLst/>
          </a:prstGeom>
          <a:solidFill>
            <a:srgbClr val="E8EDFB"/>
          </a:solidFill>
          <a:ln/>
        </p:spPr>
      </p:sp>
      <p:pic>
        <p:nvPicPr>
          <p:cNvPr id="19" name="Image 2" descr="preencoded.png">    </p:cNvPr>
          <p:cNvPicPr>
            <a:picLocks noChangeAspect="1"/>
          </p:cNvPicPr>
          <p:nvPr/>
        </p:nvPicPr>
        <p:blipFill>
          <a:blip r:embed="rId3"/>
          <a:stretch>
            <a:fillRect/>
          </a:stretch>
        </p:blipFill>
        <p:spPr>
          <a:xfrm>
            <a:off x="6384341" y="1419149"/>
            <a:ext cx="261518" cy="261518"/>
          </a:xfrm>
          <a:prstGeom prst="rect">
            <a:avLst/>
          </a:prstGeom>
        </p:spPr>
      </p:pic>
      <p:sp>
        <p:nvSpPr>
          <p:cNvPr id="20" name="Text 15"/>
          <p:cNvSpPr txBox="1"/>
          <p:nvPr/>
        </p:nvSpPr>
        <p:spPr>
          <a:xfrm>
            <a:off x="6263640" y="1938528"/>
            <a:ext cx="2103120" cy="320040"/>
          </a:xfrm>
          <a:prstGeom prst="rect">
            <a:avLst/>
          </a:prstGeom>
          <a:noFill/>
          <a:ln/>
        </p:spPr>
        <p:txBody>
          <a:bodyPr wrap="square" lIns="0" tIns="0" rIns="0" bIns="0" rtlCol="0" anchor="t"/>
          <a:lstStyle/>
          <a:p>
            <a:pPr algn="l" indent="0" marL="0">
              <a:buNone/>
            </a:pPr>
            <a:r>
              <a:rPr lang="en-US" sz="1500" b="1" dirty="0">
                <a:solidFill>
                  <a:srgbClr val="0F1419"/>
                </a:solidFill>
                <a:latin typeface="Arial" pitchFamily="34" charset="0"/>
                <a:ea typeface="Arial" pitchFamily="34" charset="-122"/>
                <a:cs typeface="Arial" pitchFamily="34" charset="-120"/>
              </a:rPr>
              <a:t>Later</a:t>
            </a:r>
            <a:endParaRPr lang="en-US" sz="1500" dirty="0"/>
          </a:p>
        </p:txBody>
      </p:sp>
      <p:sp>
        <p:nvSpPr>
          <p:cNvPr id="21" name="Text 16"/>
          <p:cNvSpPr txBox="1"/>
          <p:nvPr/>
        </p:nvSpPr>
        <p:spPr>
          <a:xfrm>
            <a:off x="6263640" y="2304288"/>
            <a:ext cx="2103120" cy="640080"/>
          </a:xfrm>
          <a:prstGeom prst="rect">
            <a:avLst/>
          </a:prstGeom>
          <a:noFill/>
          <a:ln/>
        </p:spPr>
        <p:txBody>
          <a:bodyPr wrap="square" lIns="0" tIns="0" rIns="0" bIns="0" rtlCol="0" anchor="t"/>
          <a:lstStyle/>
          <a:p>
            <a:pPr algn="l" indent="0" marL="0">
              <a:buNone/>
            </a:pPr>
            <a:r>
              <a:rPr lang="en-US" sz="1200" dirty="0">
                <a:solidFill>
                  <a:srgbClr val="0F1419"/>
                </a:solidFill>
                <a:latin typeface="Arial" pitchFamily="34" charset="0"/>
                <a:ea typeface="Arial" pitchFamily="34" charset="-122"/>
                <a:cs typeface="Arial" pitchFamily="34" charset="-120"/>
              </a:rPr>
              <a:t>A fee per payment through a hosted facilitator.</a:t>
            </a:r>
            <a:endParaRPr lang="en-US" sz="1200" dirty="0"/>
          </a:p>
        </p:txBody>
      </p:sp>
      <p:sp>
        <p:nvSpPr>
          <p:cNvPr id="22" name="Text 17"/>
          <p:cNvSpPr txBox="1"/>
          <p:nvPr/>
        </p:nvSpPr>
        <p:spPr>
          <a:xfrm>
            <a:off x="6263640" y="3017520"/>
            <a:ext cx="2103120" cy="320040"/>
          </a:xfrm>
          <a:prstGeom prst="rect">
            <a:avLst/>
          </a:prstGeom>
          <a:noFill/>
          <a:ln/>
        </p:spPr>
        <p:txBody>
          <a:bodyPr wrap="square" lIns="0" tIns="0" rIns="0" bIns="0" rtlCol="0" anchor="t"/>
          <a:lstStyle/>
          <a:p>
            <a:pPr algn="l" indent="0" marL="0">
              <a:buNone/>
            </a:pPr>
            <a:r>
              <a:rPr lang="en-US" sz="1050" i="1" dirty="0">
                <a:solidFill>
                  <a:srgbClr val="535C6B"/>
                </a:solidFill>
                <a:latin typeface="Arial" pitchFamily="34" charset="0"/>
                <a:ea typeface="Arial" pitchFamily="34" charset="-122"/>
                <a:cs typeface="Arial" pitchFamily="34" charset="-120"/>
              </a:rPr>
              <a:t>Needs no program change.</a:t>
            </a:r>
            <a:endParaRPr lang="en-US" sz="1050" dirty="0"/>
          </a:p>
        </p:txBody>
      </p:sp>
      <p:sp>
        <p:nvSpPr>
          <p:cNvPr id="23" name="Text 18"/>
          <p:cNvSpPr txBox="1"/>
          <p:nvPr/>
        </p:nvSpPr>
        <p:spPr>
          <a:xfrm>
            <a:off x="548640" y="3749040"/>
            <a:ext cx="8046720" cy="365760"/>
          </a:xfrm>
          <a:prstGeom prst="rect">
            <a:avLst/>
          </a:prstGeom>
          <a:noFill/>
          <a:ln/>
        </p:spPr>
        <p:txBody>
          <a:bodyPr wrap="square" lIns="0" tIns="0" rIns="0" bIns="0" rtlCol="0" anchor="t"/>
          <a:lstStyle/>
          <a:p>
            <a:pPr algn="l" indent="0" marL="0">
              <a:buNone/>
            </a:pPr>
            <a:r>
              <a:rPr lang="en-US" sz="1400" b="1" dirty="0">
                <a:solidFill>
                  <a:srgbClr val="0F1419"/>
                </a:solidFill>
                <a:latin typeface="Arial" pitchFamily="34" charset="0"/>
                <a:ea typeface="Arial" pitchFamily="34" charset="-122"/>
                <a:cs typeface="Arial" pitchFamily="34" charset="-120"/>
              </a:rPr>
              <a:t>Adoption comes from the free parts. Teams pay for what runs around the clock.</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754880"/>
            <a:ext cx="1828800" cy="201168"/>
          </a:xfrm>
          <a:prstGeom prst="rect">
            <a:avLst/>
          </a:prstGeom>
          <a:noFill/>
          <a:ln/>
        </p:spPr>
        <p:txBody>
          <a:bodyPr wrap="square" lIns="0" tIns="0" rIns="0" bIns="0" rtlCol="0" anchor="t"/>
          <a:lstStyle/>
          <a:p>
            <a:pPr algn="l" indent="0" marL="0">
              <a:buNone/>
            </a:pPr>
            <a:r>
              <a:rPr lang="en-US" sz="900" dirty="0">
                <a:solidFill>
                  <a:srgbClr val="535C6B"/>
                </a:solidFill>
                <a:latin typeface="Arial" pitchFamily="34" charset="0"/>
                <a:ea typeface="Arial" pitchFamily="34" charset="-122"/>
                <a:cs typeface="Arial" pitchFamily="34" charset="-120"/>
              </a:rPr>
              <a:t>Leash</a:t>
            </a:r>
            <a:endParaRPr lang="en-US" sz="900" dirty="0"/>
          </a:p>
        </p:txBody>
      </p:sp>
      <p:sp>
        <p:nvSpPr>
          <p:cNvPr id="3" name="Text 1"/>
          <p:cNvSpPr txBox="1"/>
          <p:nvPr/>
        </p:nvSpPr>
        <p:spPr>
          <a:xfrm>
            <a:off x="8138160" y="4754880"/>
            <a:ext cx="457200" cy="201168"/>
          </a:xfrm>
          <a:prstGeom prst="rect">
            <a:avLst/>
          </a:prstGeom>
          <a:noFill/>
          <a:ln/>
        </p:spPr>
        <p:txBody>
          <a:bodyPr wrap="square" lIns="0" tIns="0" rIns="0" bIns="0" rtlCol="0" anchor="t"/>
          <a:lstStyle/>
          <a:p>
            <a:pPr algn="r" indent="0" marL="0">
              <a:buNone/>
            </a:pPr>
            <a:r>
              <a:rPr lang="en-US" sz="900" dirty="0">
                <a:solidFill>
                  <a:srgbClr val="535C6B"/>
                </a:solidFill>
                <a:latin typeface="Arial" pitchFamily="34" charset="0"/>
                <a:ea typeface="Arial" pitchFamily="34" charset="-122"/>
                <a:cs typeface="Arial" pitchFamily="34" charset="-120"/>
              </a:rPr>
              <a:t>12</a:t>
            </a:r>
            <a:endParaRPr lang="en-US" sz="900" dirty="0"/>
          </a:p>
        </p:txBody>
      </p:sp>
      <p:sp>
        <p:nvSpPr>
          <p:cNvPr id="4" name="Text 2"/>
          <p:cNvSpPr txBox="1"/>
          <p:nvPr/>
        </p:nvSpPr>
        <p:spPr>
          <a:xfrm>
            <a:off x="548640" y="384048"/>
            <a:ext cx="8046720" cy="548640"/>
          </a:xfrm>
          <a:prstGeom prst="rect">
            <a:avLst/>
          </a:prstGeom>
          <a:noFill/>
          <a:ln/>
        </p:spPr>
        <p:txBody>
          <a:bodyPr wrap="square" lIns="0" tIns="0" rIns="0" bIns="0" rtlCol="0" anchor="ctr"/>
          <a:lstStyle/>
          <a:p>
            <a:pPr algn="l" indent="0" marL="0">
              <a:buNone/>
            </a:pPr>
            <a:r>
              <a:rPr lang="en-US" sz="3000" b="1" dirty="0">
                <a:solidFill>
                  <a:srgbClr val="0F1419"/>
                </a:solidFill>
                <a:latin typeface="Arial" pitchFamily="34" charset="0"/>
                <a:ea typeface="Arial" pitchFamily="34" charset="-122"/>
                <a:cs typeface="Arial" pitchFamily="34" charset="-120"/>
              </a:rPr>
              <a:t>Roadmap</a:t>
            </a:r>
            <a:endParaRPr lang="en-US" sz="3000" dirty="0"/>
          </a:p>
        </p:txBody>
      </p:sp>
      <p:sp>
        <p:nvSpPr>
          <p:cNvPr id="5" name="Shape 3"/>
          <p:cNvSpPr/>
          <p:nvPr/>
        </p:nvSpPr>
        <p:spPr>
          <a:xfrm>
            <a:off x="676656" y="1417320"/>
            <a:ext cx="7680960" cy="0"/>
          </a:xfrm>
          <a:prstGeom prst="line">
            <a:avLst/>
          </a:prstGeom>
          <a:noFill/>
          <a:ln w="25400">
            <a:solidFill>
              <a:srgbClr val="DFE3EA"/>
            </a:solidFill>
            <a:prstDash val="solid"/>
          </a:ln>
        </p:spPr>
      </p:sp>
      <p:sp>
        <p:nvSpPr>
          <p:cNvPr id="6" name="Shape 4"/>
          <p:cNvSpPr/>
          <p:nvPr/>
        </p:nvSpPr>
        <p:spPr>
          <a:xfrm>
            <a:off x="548640" y="1289304"/>
            <a:ext cx="256032" cy="256032"/>
          </a:xfrm>
          <a:prstGeom prst="ellipse">
            <a:avLst/>
          </a:prstGeom>
          <a:solidFill>
            <a:srgbClr val="B45309"/>
          </a:solidFill>
          <a:ln/>
        </p:spPr>
      </p:sp>
      <p:sp>
        <p:nvSpPr>
          <p:cNvPr id="7" name="Text 5"/>
          <p:cNvSpPr txBox="1"/>
          <p:nvPr/>
        </p:nvSpPr>
        <p:spPr>
          <a:xfrm>
            <a:off x="548640" y="1691640"/>
            <a:ext cx="2560320" cy="292608"/>
          </a:xfrm>
          <a:prstGeom prst="rect">
            <a:avLst/>
          </a:prstGeom>
          <a:noFill/>
          <a:ln/>
        </p:spPr>
        <p:txBody>
          <a:bodyPr wrap="square" lIns="0" tIns="0" rIns="0" bIns="0" rtlCol="0" anchor="t"/>
          <a:lstStyle/>
          <a:p>
            <a:pPr algn="l" indent="0" marL="0">
              <a:buNone/>
            </a:pPr>
            <a:r>
              <a:rPr lang="en-US" sz="1500" b="1" dirty="0">
                <a:solidFill>
                  <a:srgbClr val="0F1419"/>
                </a:solidFill>
                <a:latin typeface="Arial" pitchFamily="34" charset="0"/>
                <a:ea typeface="Arial" pitchFamily="34" charset="-122"/>
                <a:cs typeface="Arial" pitchFamily="34" charset="-120"/>
              </a:rPr>
              <a:t>This week</a:t>
            </a:r>
            <a:endParaRPr lang="en-US" sz="1500" dirty="0"/>
          </a:p>
        </p:txBody>
      </p:sp>
      <p:sp>
        <p:nvSpPr>
          <p:cNvPr id="8" name="Text 6"/>
          <p:cNvSpPr txBox="1"/>
          <p:nvPr/>
        </p:nvSpPr>
        <p:spPr>
          <a:xfrm>
            <a:off x="548640" y="1984248"/>
            <a:ext cx="2560320" cy="228600"/>
          </a:xfrm>
          <a:prstGeom prst="rect">
            <a:avLst/>
          </a:prstGeom>
          <a:noFill/>
          <a:ln/>
        </p:spPr>
        <p:txBody>
          <a:bodyPr wrap="square" lIns="0" tIns="0" rIns="0" bIns="0" rtlCol="0" anchor="t"/>
          <a:lstStyle/>
          <a:p>
            <a:pPr algn="l" indent="0" marL="0">
              <a:buNone/>
            </a:pPr>
            <a:r>
              <a:rPr lang="en-US" sz="1050" dirty="0">
                <a:solidFill>
                  <a:srgbClr val="535C6B"/>
                </a:solidFill>
                <a:latin typeface="Arial" pitchFamily="34" charset="0"/>
                <a:ea typeface="Arial" pitchFamily="34" charset="-122"/>
                <a:cs typeface="Arial" pitchFamily="34" charset="-120"/>
              </a:rPr>
              <a:t>for the Oct 4 submission · in progress</a:t>
            </a:r>
            <a:endParaRPr lang="en-US" sz="1050" dirty="0"/>
          </a:p>
        </p:txBody>
      </p:sp>
      <p:sp>
        <p:nvSpPr>
          <p:cNvPr id="9" name="Text 7"/>
          <p:cNvSpPr txBox="1"/>
          <p:nvPr/>
        </p:nvSpPr>
        <p:spPr>
          <a:xfrm>
            <a:off x="548640" y="2331720"/>
            <a:ext cx="2560320" cy="210312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0F1419"/>
                </a:solidFill>
                <a:latin typeface="Arial" pitchFamily="34" charset="0"/>
                <a:ea typeface="Arial" pitchFamily="34" charset="-122"/>
                <a:cs typeface="Arial" pitchFamily="34" charset="-120"/>
              </a:rPr>
              <a:t>The demo on devnet</a:t>
            </a:r>
            <a:endParaRPr lang="en-US" sz="1150" dirty="0"/>
          </a:p>
          <a:p>
            <a:pPr marL="177800" indent="-177800">
              <a:spcAft>
                <a:spcPts val="600"/>
              </a:spcAft>
              <a:buSzPct val="100000"/>
              <a:buChar char="•"/>
            </a:pPr>
            <a:r>
              <a:rPr lang="en-US" sz="1150" dirty="0">
                <a:solidFill>
                  <a:srgbClr val="0F1419"/>
                </a:solidFill>
                <a:latin typeface="Arial" pitchFamily="34" charset="0"/>
                <a:ea typeface="Arial" pitchFamily="34" charset="-122"/>
                <a:cs typeface="Arial" pitchFamily="34" charset="-120"/>
              </a:rPr>
              <a:t>Pairing, approvals and the off switch in the web app</a:t>
            </a:r>
            <a:endParaRPr lang="en-US" sz="1150" dirty="0"/>
          </a:p>
          <a:p>
            <a:pPr marL="177800" indent="-177800">
              <a:spcAft>
                <a:spcPts val="600"/>
              </a:spcAft>
              <a:buSzPct val="100000"/>
              <a:buChar char="•"/>
            </a:pPr>
            <a:r>
              <a:rPr lang="en-US" sz="1150" dirty="0">
                <a:solidFill>
                  <a:srgbClr val="0F1419"/>
                </a:solidFill>
                <a:latin typeface="Arial" pitchFamily="34" charset="0"/>
                <a:ea typeface="Arial" pitchFamily="34" charset="-122"/>
                <a:cs typeface="Arial" pitchFamily="34" charset="-120"/>
              </a:rPr>
              <a:t>Telegram alerts</a:t>
            </a:r>
            <a:endParaRPr lang="en-US" sz="1150" dirty="0"/>
          </a:p>
        </p:txBody>
      </p:sp>
      <p:sp>
        <p:nvSpPr>
          <p:cNvPr id="10" name="Shape 8"/>
          <p:cNvSpPr/>
          <p:nvPr/>
        </p:nvSpPr>
        <p:spPr>
          <a:xfrm>
            <a:off x="3291840" y="1289304"/>
            <a:ext cx="256032" cy="256032"/>
          </a:xfrm>
          <a:prstGeom prst="ellipse">
            <a:avLst/>
          </a:prstGeom>
          <a:solidFill>
            <a:srgbClr val="6D28D9"/>
          </a:solidFill>
          <a:ln/>
        </p:spPr>
      </p:sp>
      <p:sp>
        <p:nvSpPr>
          <p:cNvPr id="11" name="Text 9"/>
          <p:cNvSpPr txBox="1"/>
          <p:nvPr/>
        </p:nvSpPr>
        <p:spPr>
          <a:xfrm>
            <a:off x="3291840" y="1691640"/>
            <a:ext cx="2560320" cy="292608"/>
          </a:xfrm>
          <a:prstGeom prst="rect">
            <a:avLst/>
          </a:prstGeom>
          <a:noFill/>
          <a:ln/>
        </p:spPr>
        <p:txBody>
          <a:bodyPr wrap="square" lIns="0" tIns="0" rIns="0" bIns="0" rtlCol="0" anchor="t"/>
          <a:lstStyle/>
          <a:p>
            <a:pPr algn="l" indent="0" marL="0">
              <a:buNone/>
            </a:pPr>
            <a:r>
              <a:rPr lang="en-US" sz="1500" b="1" dirty="0">
                <a:solidFill>
                  <a:srgbClr val="0F1419"/>
                </a:solidFill>
                <a:latin typeface="Arial" pitchFamily="34" charset="0"/>
                <a:ea typeface="Arial" pitchFamily="34" charset="-122"/>
                <a:cs typeface="Arial" pitchFamily="34" charset="-120"/>
              </a:rPr>
              <a:t>By Nov 2</a:t>
            </a:r>
            <a:endParaRPr lang="en-US" sz="1500" dirty="0"/>
          </a:p>
        </p:txBody>
      </p:sp>
      <p:sp>
        <p:nvSpPr>
          <p:cNvPr id="12" name="Text 10"/>
          <p:cNvSpPr txBox="1"/>
          <p:nvPr/>
        </p:nvSpPr>
        <p:spPr>
          <a:xfrm>
            <a:off x="3291840" y="1984248"/>
            <a:ext cx="2560320" cy="228600"/>
          </a:xfrm>
          <a:prstGeom prst="rect">
            <a:avLst/>
          </a:prstGeom>
          <a:noFill/>
          <a:ln/>
        </p:spPr>
        <p:txBody>
          <a:bodyPr wrap="square" lIns="0" tIns="0" rIns="0" bIns="0" rtlCol="0" anchor="t"/>
          <a:lstStyle/>
          <a:p>
            <a:pPr algn="l" indent="0" marL="0">
              <a:buNone/>
            </a:pPr>
            <a:r>
              <a:rPr lang="en-US" sz="1050" dirty="0">
                <a:solidFill>
                  <a:srgbClr val="535C6B"/>
                </a:solidFill>
                <a:latin typeface="Arial" pitchFamily="34" charset="0"/>
                <a:ea typeface="Arial" pitchFamily="34" charset="-122"/>
                <a:cs typeface="Arial" pitchFamily="34" charset="-120"/>
              </a:rPr>
              <a:t>the Colosseum hackathon</a:t>
            </a:r>
            <a:endParaRPr lang="en-US" sz="1050" dirty="0"/>
          </a:p>
        </p:txBody>
      </p:sp>
      <p:sp>
        <p:nvSpPr>
          <p:cNvPr id="13" name="Text 11"/>
          <p:cNvSpPr txBox="1"/>
          <p:nvPr/>
        </p:nvSpPr>
        <p:spPr>
          <a:xfrm>
            <a:off x="3291840" y="2331720"/>
            <a:ext cx="2560320" cy="210312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0F1419"/>
                </a:solidFill>
                <a:latin typeface="Arial" pitchFamily="34" charset="0"/>
                <a:ea typeface="Arial" pitchFamily="34" charset="-122"/>
                <a:cs typeface="Arial" pitchFamily="34" charset="-120"/>
              </a:rPr>
              <a:t>Solana Action links to freeze or approve from anywhere</a:t>
            </a:r>
            <a:endParaRPr lang="en-US" sz="1150" dirty="0"/>
          </a:p>
          <a:p>
            <a:pPr marL="177800" indent="-177800">
              <a:spcAft>
                <a:spcPts val="600"/>
              </a:spcAft>
              <a:buSzPct val="100000"/>
              <a:buChar char="•"/>
            </a:pPr>
            <a:r>
              <a:rPr lang="en-US" sz="1150" dirty="0">
                <a:solidFill>
                  <a:srgbClr val="0F1419"/>
                </a:solidFill>
                <a:latin typeface="Arial" pitchFamily="34" charset="0"/>
                <a:ea typeface="Arial" pitchFamily="34" charset="-122"/>
                <a:cs typeface="Arial" pitchFamily="34" charset="-120"/>
              </a:rPr>
              <a:t>The guardian freezes an agent by itself when Sentinel sees an attack</a:t>
            </a:r>
            <a:endParaRPr lang="en-US" sz="1150" dirty="0"/>
          </a:p>
          <a:p>
            <a:pPr marL="177800" indent="-177800">
              <a:spcAft>
                <a:spcPts val="600"/>
              </a:spcAft>
              <a:buSzPct val="100000"/>
              <a:buChar char="•"/>
            </a:pPr>
            <a:r>
              <a:rPr lang="en-US" sz="1150" dirty="0">
                <a:solidFill>
                  <a:srgbClr val="0F1419"/>
                </a:solidFill>
                <a:latin typeface="Arial" pitchFamily="34" charset="0"/>
                <a:ea typeface="Arial" pitchFamily="34" charset="-122"/>
                <a:cs typeface="Arial" pitchFamily="34" charset="-120"/>
              </a:rPr>
              <a:t>Recorded runs with a live Claude model</a:t>
            </a:r>
            <a:endParaRPr lang="en-US" sz="1150" dirty="0"/>
          </a:p>
          <a:p>
            <a:pPr marL="177800" indent="-177800">
              <a:spcAft>
                <a:spcPts val="600"/>
              </a:spcAft>
              <a:buSzPct val="100000"/>
              <a:buChar char="•"/>
            </a:pPr>
            <a:r>
              <a:rPr lang="en-US" sz="1150" dirty="0">
                <a:solidFill>
                  <a:srgbClr val="0F1419"/>
                </a:solidFill>
                <a:latin typeface="Arial" pitchFamily="34" charset="0"/>
                <a:ea typeface="Arial" pitchFamily="34" charset="-122"/>
                <a:cs typeface="Arial" pitchFamily="34" charset="-120"/>
              </a:rPr>
              <a:t>Five user conversations</a:t>
            </a:r>
            <a:endParaRPr lang="en-US" sz="1150" dirty="0"/>
          </a:p>
        </p:txBody>
      </p:sp>
      <p:sp>
        <p:nvSpPr>
          <p:cNvPr id="14" name="Shape 12"/>
          <p:cNvSpPr/>
          <p:nvPr/>
        </p:nvSpPr>
        <p:spPr>
          <a:xfrm>
            <a:off x="6035040" y="1289304"/>
            <a:ext cx="256032" cy="256032"/>
          </a:xfrm>
          <a:prstGeom prst="ellipse">
            <a:avLst/>
          </a:prstGeom>
          <a:solidFill>
            <a:srgbClr val="0F1419"/>
          </a:solidFill>
          <a:ln/>
        </p:spPr>
      </p:sp>
      <p:sp>
        <p:nvSpPr>
          <p:cNvPr id="15" name="Text 13"/>
          <p:cNvSpPr txBox="1"/>
          <p:nvPr/>
        </p:nvSpPr>
        <p:spPr>
          <a:xfrm>
            <a:off x="6035040" y="1691640"/>
            <a:ext cx="2560320" cy="292608"/>
          </a:xfrm>
          <a:prstGeom prst="rect">
            <a:avLst/>
          </a:prstGeom>
          <a:noFill/>
          <a:ln/>
        </p:spPr>
        <p:txBody>
          <a:bodyPr wrap="square" lIns="0" tIns="0" rIns="0" bIns="0" rtlCol="0" anchor="t"/>
          <a:lstStyle/>
          <a:p>
            <a:pPr algn="l" indent="0" marL="0">
              <a:buNone/>
            </a:pPr>
            <a:r>
              <a:rPr lang="en-US" sz="1500" b="1" dirty="0">
                <a:solidFill>
                  <a:srgbClr val="0F1419"/>
                </a:solidFill>
                <a:latin typeface="Arial" pitchFamily="34" charset="0"/>
                <a:ea typeface="Arial" pitchFamily="34" charset="-122"/>
                <a:cs typeface="Arial" pitchFamily="34" charset="-120"/>
              </a:rPr>
              <a:t>Then</a:t>
            </a:r>
            <a:endParaRPr lang="en-US" sz="1500" dirty="0"/>
          </a:p>
        </p:txBody>
      </p:sp>
      <p:sp>
        <p:nvSpPr>
          <p:cNvPr id="16" name="Text 14"/>
          <p:cNvSpPr txBox="1"/>
          <p:nvPr/>
        </p:nvSpPr>
        <p:spPr>
          <a:xfrm>
            <a:off x="6035040" y="1984248"/>
            <a:ext cx="2560320" cy="228600"/>
          </a:xfrm>
          <a:prstGeom prst="rect">
            <a:avLst/>
          </a:prstGeom>
          <a:noFill/>
          <a:ln/>
        </p:spPr>
        <p:txBody>
          <a:bodyPr wrap="square" lIns="0" tIns="0" rIns="0" bIns="0" rtlCol="0" anchor="t"/>
          <a:lstStyle/>
          <a:p>
            <a:pPr algn="l" indent="0" marL="0">
              <a:buNone/>
            </a:pPr>
            <a:r>
              <a:rPr lang="en-US" sz="1050" dirty="0">
                <a:solidFill>
                  <a:srgbClr val="535C6B"/>
                </a:solidFill>
                <a:latin typeface="Arial" pitchFamily="34" charset="0"/>
                <a:ea typeface="Arial" pitchFamily="34" charset="-122"/>
                <a:cs typeface="Arial" pitchFamily="34" charset="-120"/>
              </a:rPr>
              <a:t>on the way to mainnet</a:t>
            </a:r>
            <a:endParaRPr lang="en-US" sz="1050" dirty="0"/>
          </a:p>
        </p:txBody>
      </p:sp>
      <p:sp>
        <p:nvSpPr>
          <p:cNvPr id="17" name="Text 15"/>
          <p:cNvSpPr txBox="1"/>
          <p:nvPr/>
        </p:nvSpPr>
        <p:spPr>
          <a:xfrm>
            <a:off x="6035040" y="2331720"/>
            <a:ext cx="2560320" cy="210312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0F1419"/>
                </a:solidFill>
                <a:latin typeface="Arial" pitchFamily="34" charset="0"/>
                <a:ea typeface="Arial" pitchFamily="34" charset="-122"/>
                <a:cs typeface="Arial" pitchFamily="34" charset="-120"/>
              </a:rPr>
              <a:t>An independent audit</a:t>
            </a:r>
            <a:endParaRPr lang="en-US" sz="1150" dirty="0"/>
          </a:p>
          <a:p>
            <a:pPr marL="177800" indent="-177800">
              <a:spcAft>
                <a:spcPts val="600"/>
              </a:spcAft>
              <a:buSzPct val="100000"/>
              <a:buChar char="•"/>
            </a:pPr>
            <a:r>
              <a:rPr lang="en-US" sz="1150" dirty="0">
                <a:solidFill>
                  <a:srgbClr val="0F1419"/>
                </a:solidFill>
                <a:latin typeface="Arial" pitchFamily="34" charset="0"/>
                <a:ea typeface="Arial" pitchFamily="34" charset="-122"/>
                <a:cs typeface="Arial" pitchFamily="34" charset="-120"/>
              </a:rPr>
              <a:t>Upgrade authority moved to a timelocked multisig, or revoked</a:t>
            </a:r>
            <a:endParaRPr lang="en-US" sz="1150" dirty="0"/>
          </a:p>
          <a:p>
            <a:pPr marL="177800" indent="-177800">
              <a:spcAft>
                <a:spcPts val="600"/>
              </a:spcAft>
              <a:buSzPct val="100000"/>
              <a:buChar char="•"/>
            </a:pPr>
            <a:r>
              <a:rPr lang="en-US" sz="1150" dirty="0">
                <a:solidFill>
                  <a:srgbClr val="0F1419"/>
                </a:solidFill>
                <a:latin typeface="Arial" pitchFamily="34" charset="0"/>
                <a:ea typeface="Arial" pitchFamily="34" charset="-122"/>
                <a:cs typeface="Arial" pitchFamily="34" charset="-120"/>
              </a:rPr>
              <a:t>Mainnet</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51960" y="457200"/>
            <a:ext cx="640080" cy="640080"/>
          </a:xfrm>
          <a:prstGeom prst="roundRect">
            <a:avLst>
              <a:gd name="adj" fmla="val 42857"/>
            </a:avLst>
          </a:prstGeom>
          <a:solidFill>
            <a:srgbClr val="6D28D9"/>
          </a:solidFill>
          <a:ln/>
        </p:spPr>
      </p:sp>
      <p:sp>
        <p:nvSpPr>
          <p:cNvPr id="3" name="Text 1"/>
          <p:cNvSpPr txBox="1"/>
          <p:nvPr/>
        </p:nvSpPr>
        <p:spPr>
          <a:xfrm>
            <a:off x="4251960" y="457200"/>
            <a:ext cx="640080" cy="64008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L</a:t>
            </a:r>
            <a:endParaRPr lang="en-US" sz="2800" dirty="0"/>
          </a:p>
        </p:txBody>
      </p:sp>
      <p:sp>
        <p:nvSpPr>
          <p:cNvPr id="4" name="Text 2"/>
          <p:cNvSpPr txBox="1"/>
          <p:nvPr/>
        </p:nvSpPr>
        <p:spPr>
          <a:xfrm>
            <a:off x="548640" y="1280160"/>
            <a:ext cx="8046720" cy="1097280"/>
          </a:xfrm>
          <a:prstGeom prst="rect">
            <a:avLst/>
          </a:prstGeom>
          <a:noFill/>
          <a:ln/>
        </p:spPr>
        <p:txBody>
          <a:bodyPr wrap="square" lIns="0" tIns="0" rIns="0" bIns="0" rtlCol="0" anchor="ctr"/>
          <a:lstStyle/>
          <a:p>
            <a:pPr algn="ctr" indent="0" marL="0">
              <a:buNone/>
            </a:pPr>
            <a:r>
              <a:rPr lang="en-US" sz="3200" b="1" dirty="0">
                <a:solidFill>
                  <a:srgbClr val="0F1419"/>
                </a:solidFill>
                <a:latin typeface="Arial" pitchFamily="34" charset="0"/>
                <a:ea typeface="Arial" pitchFamily="34" charset="-122"/>
                <a:cs typeface="Arial" pitchFamily="34" charset="-120"/>
              </a:rPr>
              <a:t>The model was fooled.</a:t>
            </a:r>
            <a:endParaRPr lang="en-US" sz="3200" dirty="0"/>
          </a:p>
          <a:p>
            <a:pPr algn="ctr" indent="0" marL="0">
              <a:buNone/>
            </a:pPr>
            <a:r>
              <a:rPr lang="en-US" sz="3200" b="1" dirty="0">
                <a:solidFill>
                  <a:srgbClr val="0F1419"/>
                </a:solidFill>
                <a:latin typeface="Arial" pitchFamily="34" charset="0"/>
                <a:ea typeface="Arial" pitchFamily="34" charset="-122"/>
                <a:cs typeface="Arial" pitchFamily="34" charset="-120"/>
              </a:rPr>
              <a:t>The money wasn't moved.</a:t>
            </a:r>
            <a:endParaRPr lang="en-US" sz="3200" dirty="0"/>
          </a:p>
        </p:txBody>
      </p:sp>
      <p:sp>
        <p:nvSpPr>
          <p:cNvPr id="5" name="Text 3"/>
          <p:cNvSpPr txBox="1"/>
          <p:nvPr/>
        </p:nvSpPr>
        <p:spPr>
          <a:xfrm>
            <a:off x="548640" y="2468880"/>
            <a:ext cx="8046720" cy="365760"/>
          </a:xfrm>
          <a:prstGeom prst="rect">
            <a:avLst/>
          </a:prstGeom>
          <a:noFill/>
          <a:ln/>
        </p:spPr>
        <p:txBody>
          <a:bodyPr wrap="square" lIns="0" tIns="0" rIns="0" bIns="0" rtlCol="0" anchor="t"/>
          <a:lstStyle/>
          <a:p>
            <a:pPr algn="ctr" indent="0" marL="0">
              <a:buNone/>
            </a:pPr>
            <a:r>
              <a:rPr lang="en-US" sz="1500" dirty="0">
                <a:solidFill>
                  <a:srgbClr val="535C6B"/>
                </a:solidFill>
                <a:latin typeface="Arial" pitchFamily="34" charset="0"/>
                <a:ea typeface="Arial" pitchFamily="34" charset="-122"/>
                <a:cs typeface="Arial" pitchFamily="34" charset="-120"/>
              </a:rPr>
              <a:t>Solana's Allowances cap how much. Leash decides who, how fast, and when to stop.</a:t>
            </a:r>
            <a:endParaRPr lang="en-US" sz="1500" dirty="0"/>
          </a:p>
        </p:txBody>
      </p:sp>
      <p:sp>
        <p:nvSpPr>
          <p:cNvPr id="6" name="Shape 4"/>
          <p:cNvSpPr/>
          <p:nvPr/>
        </p:nvSpPr>
        <p:spPr>
          <a:xfrm>
            <a:off x="2514600" y="3017520"/>
            <a:ext cx="4114800" cy="329184"/>
          </a:xfrm>
          <a:prstGeom prst="roundRect">
            <a:avLst>
              <a:gd name="adj" fmla="val 277778"/>
            </a:avLst>
          </a:prstGeom>
          <a:solidFill>
            <a:srgbClr val="F8EEE6"/>
          </a:solidFill>
          <a:ln/>
        </p:spPr>
      </p:sp>
      <p:sp>
        <p:nvSpPr>
          <p:cNvPr id="7" name="Text 5"/>
          <p:cNvSpPr txBox="1"/>
          <p:nvPr/>
        </p:nvSpPr>
        <p:spPr>
          <a:xfrm>
            <a:off x="2514600" y="3017520"/>
            <a:ext cx="4114800" cy="329184"/>
          </a:xfrm>
          <a:prstGeom prst="rect">
            <a:avLst/>
          </a:prstGeom>
          <a:noFill/>
          <a:ln/>
        </p:spPr>
        <p:txBody>
          <a:bodyPr wrap="square" lIns="0" tIns="0" rIns="0" bIns="0" rtlCol="0" anchor="ctr"/>
          <a:lstStyle/>
          <a:p>
            <a:pPr algn="ctr" indent="0" marL="0">
              <a:buNone/>
            </a:pPr>
            <a:r>
              <a:rPr lang="en-US" sz="1000" b="1" dirty="0">
                <a:solidFill>
                  <a:srgbClr val="B45309"/>
                </a:solidFill>
                <a:latin typeface="Arial" pitchFamily="34" charset="0"/>
                <a:ea typeface="Arial" pitchFamily="34" charset="-122"/>
                <a:cs typeface="Arial" pitchFamily="34" charset="-120"/>
              </a:rPr>
              <a:t>[Team: names and roles, to be filled in by Parth]</a:t>
            </a:r>
            <a:endParaRPr lang="en-US" sz="1000" dirty="0"/>
          </a:p>
        </p:txBody>
      </p:sp>
      <p:pic>
        <p:nvPicPr>
          <p:cNvPr id="8" name="Image 0" descr="preencoded.png">    </p:cNvPr>
          <p:cNvPicPr>
            <a:picLocks noChangeAspect="1"/>
          </p:cNvPicPr>
          <p:nvPr/>
        </p:nvPicPr>
        <p:blipFill>
          <a:blip r:embed="rId1"/>
          <a:stretch>
            <a:fillRect/>
          </a:stretch>
        </p:blipFill>
        <p:spPr>
          <a:xfrm>
            <a:off x="548640" y="3657600"/>
            <a:ext cx="237744" cy="237744"/>
          </a:xfrm>
          <a:prstGeom prst="rect">
            <a:avLst/>
          </a:prstGeom>
        </p:spPr>
      </p:pic>
      <p:sp>
        <p:nvSpPr>
          <p:cNvPr id="9" name="Text 6"/>
          <p:cNvSpPr txBox="1"/>
          <p:nvPr/>
        </p:nvSpPr>
        <p:spPr>
          <a:xfrm>
            <a:off x="877824" y="3639312"/>
            <a:ext cx="2286000" cy="274320"/>
          </a:xfrm>
          <a:prstGeom prst="rect">
            <a:avLst/>
          </a:prstGeom>
          <a:noFill/>
          <a:ln/>
        </p:spPr>
        <p:txBody>
          <a:bodyPr wrap="square" lIns="0" tIns="0" rIns="0" bIns="0" rtlCol="0" anchor="ctr"/>
          <a:lstStyle/>
          <a:p>
            <a:pPr indent="0" marL="0">
              <a:buNone/>
            </a:pPr>
            <a:r>
              <a:rPr lang="en-US" sz="950" u="sng" dirty="0">
                <a:solidFill>
                  <a:srgbClr val="6D28D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github.com/parthdeshmukh488-ops/hub</a:t>
            </a:r>
            <a:endParaRPr lang="en-US" sz="950" dirty="0"/>
          </a:p>
        </p:txBody>
      </p:sp>
      <p:pic>
        <p:nvPicPr>
          <p:cNvPr id="10" name="Image 1" descr="preencoded.png">    </p:cNvPr>
          <p:cNvPicPr>
            <a:picLocks noChangeAspect="1"/>
          </p:cNvPicPr>
          <p:nvPr/>
        </p:nvPicPr>
        <p:blipFill>
          <a:blip r:embed="rId3"/>
          <a:stretch>
            <a:fillRect/>
          </a:stretch>
        </p:blipFill>
        <p:spPr>
          <a:xfrm>
            <a:off x="3291840" y="3657600"/>
            <a:ext cx="237744" cy="237744"/>
          </a:xfrm>
          <a:prstGeom prst="rect">
            <a:avLst/>
          </a:prstGeom>
        </p:spPr>
      </p:pic>
      <p:sp>
        <p:nvSpPr>
          <p:cNvPr id="11" name="Text 7"/>
          <p:cNvSpPr txBox="1"/>
          <p:nvPr/>
        </p:nvSpPr>
        <p:spPr>
          <a:xfrm>
            <a:off x="3621024" y="3639312"/>
            <a:ext cx="2286000" cy="274320"/>
          </a:xfrm>
          <a:prstGeom prst="rect">
            <a:avLst/>
          </a:prstGeom>
          <a:noFill/>
          <a:ln/>
        </p:spPr>
        <p:txBody>
          <a:bodyPr wrap="square" lIns="0" tIns="0" rIns="0" bIns="0" rtlCol="0" anchor="ctr"/>
          <a:lstStyle/>
          <a:p>
            <a:pPr indent="0" marL="0">
              <a:buNone/>
            </a:pPr>
            <a:r>
              <a:rPr lang="en-US" sz="950" u="sng" dirty="0">
                <a:solidFill>
                  <a:srgbClr val="6D28D9"/>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Leash on devnet: HyL9S5mA…HJncu</a:t>
            </a:r>
            <a:endParaRPr lang="en-US" sz="950" dirty="0"/>
          </a:p>
        </p:txBody>
      </p:sp>
      <p:pic>
        <p:nvPicPr>
          <p:cNvPr id="12" name="Image 2" descr="preencoded.png">    </p:cNvPr>
          <p:cNvPicPr>
            <a:picLocks noChangeAspect="1"/>
          </p:cNvPicPr>
          <p:nvPr/>
        </p:nvPicPr>
        <p:blipFill>
          <a:blip r:embed="rId5"/>
          <a:stretch>
            <a:fillRect/>
          </a:stretch>
        </p:blipFill>
        <p:spPr>
          <a:xfrm>
            <a:off x="6035040" y="3657600"/>
            <a:ext cx="237744" cy="237744"/>
          </a:xfrm>
          <a:prstGeom prst="rect">
            <a:avLst/>
          </a:prstGeom>
        </p:spPr>
      </p:pic>
      <p:sp>
        <p:nvSpPr>
          <p:cNvPr id="13" name="Text 8"/>
          <p:cNvSpPr txBox="1"/>
          <p:nvPr/>
        </p:nvSpPr>
        <p:spPr>
          <a:xfrm>
            <a:off x="6364224" y="3639312"/>
            <a:ext cx="2286000" cy="274320"/>
          </a:xfrm>
          <a:prstGeom prst="rect">
            <a:avLst/>
          </a:prstGeom>
          <a:noFill/>
          <a:ln/>
        </p:spPr>
        <p:txBody>
          <a:bodyPr wrap="square" lIns="0" tIns="0" rIns="0" bIns="0" rtlCol="0" anchor="ctr"/>
          <a:lstStyle/>
          <a:p>
            <a:pPr indent="0" marL="0">
              <a:buNone/>
            </a:pPr>
            <a:r>
              <a:rPr lang="en-US" sz="950" dirty="0">
                <a:solidFill>
                  <a:srgbClr val="0F1419"/>
                </a:solidFill>
                <a:latin typeface="Arial" pitchFamily="34" charset="0"/>
                <a:ea typeface="Arial" pitchFamily="34" charset="-122"/>
                <a:cs typeface="Arial" pitchFamily="34" charset="-120"/>
              </a:rPr>
              <a:t>Demo video: in progress</a:t>
            </a:r>
            <a:endParaRPr lang="en-US" sz="950" dirty="0"/>
          </a:p>
        </p:txBody>
      </p:sp>
      <p:sp>
        <p:nvSpPr>
          <p:cNvPr id="14" name="Text 9"/>
          <p:cNvSpPr txBox="1"/>
          <p:nvPr/>
        </p:nvSpPr>
        <p:spPr>
          <a:xfrm>
            <a:off x="548640" y="4434840"/>
            <a:ext cx="8046720" cy="228600"/>
          </a:xfrm>
          <a:prstGeom prst="rect">
            <a:avLst/>
          </a:prstGeom>
          <a:noFill/>
          <a:ln/>
        </p:spPr>
        <p:txBody>
          <a:bodyPr wrap="square" lIns="0" tIns="0" rIns="0" bIns="0" rtlCol="0" anchor="t"/>
          <a:lstStyle/>
          <a:p>
            <a:pPr algn="ctr" indent="0" marL="0">
              <a:buNone/>
            </a:pPr>
            <a:r>
              <a:rPr lang="en-US" sz="900" dirty="0">
                <a:solidFill>
                  <a:srgbClr val="535C6B"/>
                </a:solidFill>
                <a:latin typeface="Arial" pitchFamily="34" charset="0"/>
                <a:ea typeface="Arial" pitchFamily="34" charset="-122"/>
                <a:cs typeface="Arial" pitchFamily="34" charset="-120"/>
              </a:rPr>
              <a:t>Built with parallel Claude Code sessions, each owning one part of the architecture.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Leash: spending limits and an off switch for AI agents, enforced on Solana</dc:title>
  <dc:subject>PptxGenJS Presentation</dc:subject>
  <dc:creator>Leash</dc:creator>
  <cp:lastModifiedBy>Leash</cp:lastModifiedBy>
  <cp:revision>1</cp:revision>
  <dcterms:created xsi:type="dcterms:W3CDTF">2026-10-01T16:51:02Z</dcterms:created>
  <dcterms:modified xsi:type="dcterms:W3CDTF">2026-10-01T16:51:02Z</dcterms:modified>
</cp:coreProperties>
</file>