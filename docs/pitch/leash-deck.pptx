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6" Type="http://schemas.openxmlformats.org/officeDocument/2006/relationships/hyperlink" Target="https://github.com/parthdeshmukh488-ops/hub/blob/main/docs/pitch/leash-demo-devnet.mp4"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Text 5"/>
          <p:cNvSpPr txBox="1"/>
          <p:nvPr/>
        </p:nvSpPr>
        <p:spPr>
          <a:xfrm>
            <a:off x="548640" y="4160520"/>
            <a:ext cx="4114800" cy="274320"/>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Parth Deshmukh · solo builder</a:t>
            </a:r>
            <a:endParaRPr lang="en-US" sz="1100" dirty="0"/>
          </a:p>
        </p:txBody>
      </p:sp>
      <p:pic>
        <p:nvPicPr>
          <p:cNvPr id="8"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9" name="Shape 6"/>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0" name="Text 7"/>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An agent's wallet is all or nothing</a:t>
            </a:r>
            <a:endParaRPr lang="en-US" sz="3000" dirty="0"/>
          </a:p>
        </p:txBody>
      </p:sp>
      <p:sp>
        <p:nvSpPr>
          <p:cNvPr id="5" name="Shape 3"/>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49808" y="1325880"/>
            <a:ext cx="457200" cy="457200"/>
          </a:xfrm>
          <a:prstGeom prst="ellipse">
            <a:avLst/>
          </a:prstGeom>
          <a:solidFill>
            <a:srgbClr val="EEF0F4"/>
          </a:solidFill>
          <a:ln/>
        </p:spPr>
      </p:sp>
      <p:pic>
        <p:nvPicPr>
          <p:cNvPr id="7"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8" name="Text 5"/>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9" name="Text 6"/>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0" name="Shape 7"/>
          <p:cNvSpPr/>
          <p:nvPr/>
        </p:nvSpPr>
        <p:spPr>
          <a:xfrm>
            <a:off x="2971800" y="1938528"/>
            <a:ext cx="365760" cy="0"/>
          </a:xfrm>
          <a:prstGeom prst="line">
            <a:avLst/>
          </a:prstGeom>
          <a:noFill/>
          <a:ln w="19050">
            <a:solidFill>
              <a:srgbClr val="535C6B"/>
            </a:solidFill>
            <a:prstDash val="solid"/>
            <a:tailEnd type="triangle"/>
          </a:ln>
        </p:spPr>
      </p:sp>
      <p:sp>
        <p:nvSpPr>
          <p:cNvPr id="11" name="Shape 8"/>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630168" y="1325880"/>
            <a:ext cx="457200" cy="457200"/>
          </a:xfrm>
          <a:prstGeom prst="ellipse">
            <a:avLst/>
          </a:prstGeom>
          <a:solidFill>
            <a:srgbClr val="EEF0F4"/>
          </a:solidFill>
          <a:ln/>
        </p:spPr>
      </p:sp>
      <p:pic>
        <p:nvPicPr>
          <p:cNvPr id="13"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4" name="Text 10"/>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5" name="Text 11"/>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6" name="Shape 12"/>
          <p:cNvSpPr/>
          <p:nvPr/>
        </p:nvSpPr>
        <p:spPr>
          <a:xfrm>
            <a:off x="5852160" y="1938528"/>
            <a:ext cx="365760" cy="0"/>
          </a:xfrm>
          <a:prstGeom prst="line">
            <a:avLst/>
          </a:prstGeom>
          <a:noFill/>
          <a:ln w="19050">
            <a:solidFill>
              <a:srgbClr val="535C6B"/>
            </a:solidFill>
            <a:prstDash val="solid"/>
            <a:tailEnd type="triangle"/>
          </a:ln>
        </p:spPr>
      </p:sp>
      <p:sp>
        <p:nvSpPr>
          <p:cNvPr id="17" name="Shape 13"/>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510528" y="1325880"/>
            <a:ext cx="457200" cy="457200"/>
          </a:xfrm>
          <a:prstGeom prst="ellipse">
            <a:avLst/>
          </a:prstGeom>
          <a:solidFill>
            <a:srgbClr val="F8E8E8"/>
          </a:solidFill>
          <a:ln/>
        </p:spPr>
      </p:sp>
      <p:pic>
        <p:nvPicPr>
          <p:cNvPr id="19"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0" name="Text 15"/>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1" name="Text 16"/>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2" name="Text 17"/>
          <p:cNvSpPr txBox="1"/>
          <p:nvPr/>
        </p:nvSpPr>
        <p:spPr>
          <a:xfrm>
            <a:off x="548640" y="3017520"/>
            <a:ext cx="8046720" cy="1280160"/>
          </a:xfrm>
          <a:prstGeom prst="rect">
            <a:avLst/>
          </a:prstGeom>
          <a:noFill/>
          <a:ln/>
        </p:spPr>
        <p:txBody>
          <a:bodyPr wrap="square" lIns="0" tIns="0" rIns="0" bIns="0" rtlCol="0" anchor="t"/>
          <a:lstStyle/>
          <a:p>
            <a:pPr indent="0" marL="0">
              <a:spcAft>
                <a:spcPts val="1000"/>
              </a:spcAft>
              <a:buNone/>
            </a:pPr>
            <a:r>
              <a:rPr lang="en-US" sz="1400" b="1" dirty="0">
                <a:solidFill>
                  <a:srgbClr val="0F1419"/>
                </a:solidFill>
                <a:latin typeface="Arial" pitchFamily="34" charset="0"/>
                <a:ea typeface="Arial" pitchFamily="34" charset="-122"/>
                <a:cs typeface="Arial" pitchFamily="34" charset="-120"/>
              </a:rPr>
              <a:t>An agent does what the text in front of it says.</a:t>
            </a:r>
            <a:pPr indent="0" marL="0">
              <a:spcAft>
                <a:spcPts val="1000"/>
              </a:spcAft>
              <a:buNone/>
            </a:pPr>
            <a:r>
              <a:rPr lang="en-US" sz="1400" dirty="0">
                <a:solidFill>
                  <a:srgbClr val="0F1419"/>
                </a:solidFill>
                <a:latin typeface="Arial" pitchFamily="34" charset="0"/>
                <a:ea typeface="Arial" pitchFamily="34" charset="-122"/>
                <a:cs typeface="Arial" pitchFamily="34" charset="-120"/>
              </a:rPr>
              <a:t> A crafted message can make it pay the attacker.</a:t>
            </a:r>
            <a:endParaRPr lang="en-US" sz="1400" dirty="0"/>
          </a:p>
          <a:p>
            <a:pPr indent="0" marL="0">
              <a:spcAft>
                <a:spcPts val="1000"/>
              </a:spcAft>
              <a:buNone/>
            </a:pPr>
            <a:r>
              <a:rPr lang="en-US" sz="1400" dirty="0">
                <a:solidFill>
                  <a:srgbClr val="0F1419"/>
                </a:solidFill>
                <a:latin typeface="Arial" pitchFamily="34" charset="0"/>
                <a:ea typeface="Arial" pitchFamily="34" charset="-122"/>
                <a:cs typeface="Arial" pitchFamily="34" charset="-120"/>
              </a:rPr>
              <a:t>Today a developer hands the agent a private key or a custodial wallet: the agent, and anyone who can fool it, can move the whole balance.</a:t>
            </a:r>
            <a:endParaRPr lang="en-US" sz="1400" dirty="0"/>
          </a:p>
        </p:txBody>
      </p:sp>
      <p:sp>
        <p:nvSpPr>
          <p:cNvPr id="23" name="Text 18"/>
          <p:cNvSpPr txBox="1"/>
          <p:nvPr/>
        </p:nvSpPr>
        <p:spPr>
          <a:xfrm>
            <a:off x="548640" y="443484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5" name="Text 3"/>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6" name="Text 4"/>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7" name="Text 5"/>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8" name="Text 6"/>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9" name="Shape 7"/>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1" name="Text 9"/>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2" name="Text 10"/>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3" name="Shape 11"/>
          <p:cNvSpPr/>
          <p:nvPr/>
        </p:nvSpPr>
        <p:spPr>
          <a:xfrm>
            <a:off x="6995160" y="2514600"/>
            <a:ext cx="1371600" cy="329184"/>
          </a:xfrm>
          <a:prstGeom prst="roundRect">
            <a:avLst>
              <a:gd name="adj" fmla="val 277778"/>
            </a:avLst>
          </a:prstGeom>
          <a:solidFill>
            <a:srgbClr val="E6F2EE"/>
          </a:solidFill>
          <a:ln/>
        </p:spPr>
      </p:sp>
      <p:pic>
        <p:nvPicPr>
          <p:cNvPr id="14"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5" name="Text 12"/>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6" name="Text 13"/>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7" name="Shape 14"/>
          <p:cNvSpPr/>
          <p:nvPr/>
        </p:nvSpPr>
        <p:spPr>
          <a:xfrm>
            <a:off x="6995160" y="2971800"/>
            <a:ext cx="1371600" cy="329184"/>
          </a:xfrm>
          <a:prstGeom prst="roundRect">
            <a:avLst>
              <a:gd name="adj" fmla="val 277778"/>
            </a:avLst>
          </a:prstGeom>
          <a:solidFill>
            <a:srgbClr val="F8E8E8"/>
          </a:solidFill>
          <a:ln/>
        </p:spPr>
      </p:sp>
      <p:pic>
        <p:nvPicPr>
          <p:cNvPr id="18"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19" name="Text 15"/>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0" name="Text 16"/>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1" name="Text 17"/>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firewall between agent and money</a:t>
            </a:r>
            <a:endParaRPr lang="en-US" sz="3000" dirty="0"/>
          </a:p>
        </p:txBody>
      </p:sp>
      <p:sp>
        <p:nvSpPr>
          <p:cNvPr id="5" name="Shape 3"/>
          <p:cNvSpPr/>
          <p:nvPr/>
        </p:nvSpPr>
        <p:spPr>
          <a:xfrm>
            <a:off x="54864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31520" y="1280160"/>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52221" y="1400861"/>
            <a:ext cx="261518" cy="261518"/>
          </a:xfrm>
          <a:prstGeom prst="rect">
            <a:avLst/>
          </a:prstGeom>
        </p:spPr>
      </p:pic>
      <p:sp>
        <p:nvSpPr>
          <p:cNvPr id="8" name="Text 5"/>
          <p:cNvSpPr txBox="1"/>
          <p:nvPr/>
        </p:nvSpPr>
        <p:spPr>
          <a:xfrm>
            <a:off x="73152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9" name="Text 6"/>
          <p:cNvSpPr txBox="1"/>
          <p:nvPr/>
        </p:nvSpPr>
        <p:spPr>
          <a:xfrm>
            <a:off x="73152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0" name="Shape 7"/>
          <p:cNvSpPr/>
          <p:nvPr/>
        </p:nvSpPr>
        <p:spPr>
          <a:xfrm>
            <a:off x="219456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2377440" y="1280160"/>
            <a:ext cx="502920" cy="502920"/>
          </a:xfrm>
          <a:prstGeom prst="ellipse">
            <a:avLst/>
          </a:prstGeom>
          <a:solidFill>
            <a:srgbClr val="E6F2EE"/>
          </a:solidFill>
          <a:ln/>
        </p:spPr>
      </p:sp>
      <p:pic>
        <p:nvPicPr>
          <p:cNvPr id="12" name="Image 1" descr="preencoded.png">    </p:cNvPr>
          <p:cNvPicPr>
            <a:picLocks noChangeAspect="1"/>
          </p:cNvPicPr>
          <p:nvPr/>
        </p:nvPicPr>
        <p:blipFill>
          <a:blip r:embed="rId2"/>
          <a:stretch>
            <a:fillRect/>
          </a:stretch>
        </p:blipFill>
        <p:spPr>
          <a:xfrm>
            <a:off x="2498141" y="1400861"/>
            <a:ext cx="261518" cy="261518"/>
          </a:xfrm>
          <a:prstGeom prst="rect">
            <a:avLst/>
          </a:prstGeom>
        </p:spPr>
      </p:pic>
      <p:sp>
        <p:nvSpPr>
          <p:cNvPr id="13" name="Text 9"/>
          <p:cNvSpPr txBox="1"/>
          <p:nvPr/>
        </p:nvSpPr>
        <p:spPr>
          <a:xfrm>
            <a:off x="237744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4" name="Text 10"/>
          <p:cNvSpPr txBox="1"/>
          <p:nvPr/>
        </p:nvSpPr>
        <p:spPr>
          <a:xfrm>
            <a:off x="237744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5" name="Shape 11"/>
          <p:cNvSpPr/>
          <p:nvPr/>
        </p:nvSpPr>
        <p:spPr>
          <a:xfrm>
            <a:off x="384048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4023360" y="1280160"/>
            <a:ext cx="502920" cy="502920"/>
          </a:xfrm>
          <a:prstGeom prst="ellipse">
            <a:avLst/>
          </a:prstGeom>
          <a:solidFill>
            <a:srgbClr val="F8EEE6"/>
          </a:solidFill>
          <a:ln/>
        </p:spPr>
      </p:sp>
      <p:pic>
        <p:nvPicPr>
          <p:cNvPr id="17" name="Image 2" descr="preencoded.png">    </p:cNvPr>
          <p:cNvPicPr>
            <a:picLocks noChangeAspect="1"/>
          </p:cNvPicPr>
          <p:nvPr/>
        </p:nvPicPr>
        <p:blipFill>
          <a:blip r:embed="rId3"/>
          <a:stretch>
            <a:fillRect/>
          </a:stretch>
        </p:blipFill>
        <p:spPr>
          <a:xfrm>
            <a:off x="4144061" y="1400861"/>
            <a:ext cx="261518" cy="261518"/>
          </a:xfrm>
          <a:prstGeom prst="rect">
            <a:avLst/>
          </a:prstGeom>
        </p:spPr>
      </p:pic>
      <p:sp>
        <p:nvSpPr>
          <p:cNvPr id="18" name="Text 13"/>
          <p:cNvSpPr txBox="1"/>
          <p:nvPr/>
        </p:nvSpPr>
        <p:spPr>
          <a:xfrm>
            <a:off x="402336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19" name="Text 14"/>
          <p:cNvSpPr txBox="1"/>
          <p:nvPr/>
        </p:nvSpPr>
        <p:spPr>
          <a:xfrm>
            <a:off x="402336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0" name="Shape 15"/>
          <p:cNvSpPr/>
          <p:nvPr/>
        </p:nvSpPr>
        <p:spPr>
          <a:xfrm>
            <a:off x="548640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1" name="Shape 16"/>
          <p:cNvSpPr/>
          <p:nvPr/>
        </p:nvSpPr>
        <p:spPr>
          <a:xfrm>
            <a:off x="5669280" y="1280160"/>
            <a:ext cx="502920" cy="502920"/>
          </a:xfrm>
          <a:prstGeom prst="ellipse">
            <a:avLst/>
          </a:prstGeom>
          <a:solidFill>
            <a:srgbClr val="F8E8E8"/>
          </a:solidFill>
          <a:ln/>
        </p:spPr>
      </p:sp>
      <p:pic>
        <p:nvPicPr>
          <p:cNvPr id="22" name="Image 3" descr="preencoded.png">    </p:cNvPr>
          <p:cNvPicPr>
            <a:picLocks noChangeAspect="1"/>
          </p:cNvPicPr>
          <p:nvPr/>
        </p:nvPicPr>
        <p:blipFill>
          <a:blip r:embed="rId4"/>
          <a:stretch>
            <a:fillRect/>
          </a:stretch>
        </p:blipFill>
        <p:spPr>
          <a:xfrm>
            <a:off x="5789981" y="1400861"/>
            <a:ext cx="261518" cy="261518"/>
          </a:xfrm>
          <a:prstGeom prst="rect">
            <a:avLst/>
          </a:prstGeom>
        </p:spPr>
      </p:pic>
      <p:sp>
        <p:nvSpPr>
          <p:cNvPr id="23" name="Text 17"/>
          <p:cNvSpPr txBox="1"/>
          <p:nvPr/>
        </p:nvSpPr>
        <p:spPr>
          <a:xfrm>
            <a:off x="566928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4" name="Text 18"/>
          <p:cNvSpPr txBox="1"/>
          <p:nvPr/>
        </p:nvSpPr>
        <p:spPr>
          <a:xfrm>
            <a:off x="566928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5" name="Shape 19"/>
          <p:cNvSpPr/>
          <p:nvPr/>
        </p:nvSpPr>
        <p:spPr>
          <a:xfrm>
            <a:off x="713232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6" name="Shape 20"/>
          <p:cNvSpPr/>
          <p:nvPr/>
        </p:nvSpPr>
        <p:spPr>
          <a:xfrm>
            <a:off x="7315200" y="1280160"/>
            <a:ext cx="502920" cy="502920"/>
          </a:xfrm>
          <a:prstGeom prst="ellipse">
            <a:avLst/>
          </a:prstGeom>
          <a:solidFill>
            <a:srgbClr val="E8EDFB"/>
          </a:solidFill>
          <a:ln/>
        </p:spPr>
      </p:sp>
      <p:pic>
        <p:nvPicPr>
          <p:cNvPr id="27" name="Image 4" descr="preencoded.png">    </p:cNvPr>
          <p:cNvPicPr>
            <a:picLocks noChangeAspect="1"/>
          </p:cNvPicPr>
          <p:nvPr/>
        </p:nvPicPr>
        <p:blipFill>
          <a:blip r:embed="rId5"/>
          <a:stretch>
            <a:fillRect/>
          </a:stretch>
        </p:blipFill>
        <p:spPr>
          <a:xfrm>
            <a:off x="7435901" y="1400861"/>
            <a:ext cx="261518" cy="261518"/>
          </a:xfrm>
          <a:prstGeom prst="rect">
            <a:avLst/>
          </a:prstGeom>
        </p:spPr>
      </p:pic>
      <p:sp>
        <p:nvSpPr>
          <p:cNvPr id="28" name="Text 21"/>
          <p:cNvSpPr txBox="1"/>
          <p:nvPr/>
        </p:nvSpPr>
        <p:spPr>
          <a:xfrm>
            <a:off x="731520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29" name="Text 22"/>
          <p:cNvSpPr txBox="1"/>
          <p:nvPr/>
        </p:nvSpPr>
        <p:spPr>
          <a:xfrm>
            <a:off x="731520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0" name="Text 23"/>
          <p:cNvSpPr txBox="1"/>
          <p:nvPr/>
        </p:nvSpPr>
        <p:spPr>
          <a:xfrm>
            <a:off x="548640" y="342900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1" name="Text 24"/>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30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How it works</a:t>
            </a:r>
            <a:endParaRPr lang="en-US" sz="3000" dirty="0"/>
          </a:p>
        </p:txBody>
      </p:sp>
      <p:sp>
        <p:nvSpPr>
          <p:cNvPr id="5" name="Shape 3"/>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Text 4"/>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7" name="Shape 5"/>
          <p:cNvSpPr/>
          <p:nvPr/>
        </p:nvSpPr>
        <p:spPr>
          <a:xfrm>
            <a:off x="1984248" y="1645920"/>
            <a:ext cx="182880" cy="0"/>
          </a:xfrm>
          <a:prstGeom prst="line">
            <a:avLst/>
          </a:prstGeom>
          <a:noFill/>
          <a:ln w="19050">
            <a:solidFill>
              <a:srgbClr val="535C6B"/>
            </a:solidFill>
            <a:prstDash val="solid"/>
            <a:tailEnd type="triangle"/>
          </a:ln>
        </p:spPr>
      </p:sp>
      <p:sp>
        <p:nvSpPr>
          <p:cNvPr id="8" name="Shape 6"/>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9" name="Text 7"/>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0" name="Shape 8"/>
          <p:cNvSpPr/>
          <p:nvPr/>
        </p:nvSpPr>
        <p:spPr>
          <a:xfrm>
            <a:off x="3648456" y="1645920"/>
            <a:ext cx="182880" cy="0"/>
          </a:xfrm>
          <a:prstGeom prst="line">
            <a:avLst/>
          </a:prstGeom>
          <a:noFill/>
          <a:ln w="19050">
            <a:solidFill>
              <a:srgbClr val="535C6B"/>
            </a:solidFill>
            <a:prstDash val="solid"/>
            <a:tailEnd type="triangle"/>
          </a:ln>
        </p:spPr>
      </p:sp>
      <p:sp>
        <p:nvSpPr>
          <p:cNvPr id="11" name="Shape 9"/>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3" name="Shape 11"/>
          <p:cNvSpPr/>
          <p:nvPr/>
        </p:nvSpPr>
        <p:spPr>
          <a:xfrm>
            <a:off x="5312664" y="1645920"/>
            <a:ext cx="182880" cy="0"/>
          </a:xfrm>
          <a:prstGeom prst="line">
            <a:avLst/>
          </a:prstGeom>
          <a:noFill/>
          <a:ln w="19050">
            <a:solidFill>
              <a:srgbClr val="535C6B"/>
            </a:solidFill>
            <a:prstDash val="solid"/>
            <a:tailEnd type="triangle"/>
          </a:ln>
        </p:spPr>
      </p:sp>
      <p:sp>
        <p:nvSpPr>
          <p:cNvPr id="14" name="Shape 12"/>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5" name="Text 13"/>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6" name="Shape 14"/>
          <p:cNvSpPr/>
          <p:nvPr/>
        </p:nvSpPr>
        <p:spPr>
          <a:xfrm>
            <a:off x="6976872" y="1645920"/>
            <a:ext cx="182880" cy="0"/>
          </a:xfrm>
          <a:prstGeom prst="line">
            <a:avLst/>
          </a:prstGeom>
          <a:noFill/>
          <a:ln w="19050">
            <a:solidFill>
              <a:srgbClr val="535C6B"/>
            </a:solidFill>
            <a:prstDash val="solid"/>
            <a:tailEnd type="triangle"/>
          </a:ln>
        </p:spPr>
      </p:sp>
      <p:sp>
        <p:nvSpPr>
          <p:cNvPr id="17" name="Shape 15"/>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Text 16"/>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19" name="Shape 17"/>
          <p:cNvSpPr/>
          <p:nvPr/>
        </p:nvSpPr>
        <p:spPr>
          <a:xfrm>
            <a:off x="548640" y="2468880"/>
            <a:ext cx="3931920" cy="868680"/>
          </a:xfrm>
          <a:prstGeom prst="roundRect">
            <a:avLst>
              <a:gd name="adj" fmla="val 8421"/>
            </a:avLst>
          </a:prstGeom>
          <a:solidFill>
            <a:srgbClr val="E6F2EE"/>
          </a:solidFill>
          <a:ln/>
        </p:spPr>
      </p:sp>
      <p:pic>
        <p:nvPicPr>
          <p:cNvPr id="20"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1" name="Text 18"/>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2" name="Shape 19"/>
          <p:cNvSpPr/>
          <p:nvPr/>
        </p:nvSpPr>
        <p:spPr>
          <a:xfrm>
            <a:off x="4663440" y="2468880"/>
            <a:ext cx="3931920" cy="868680"/>
          </a:xfrm>
          <a:prstGeom prst="roundRect">
            <a:avLst>
              <a:gd name="adj" fmla="val 8421"/>
            </a:avLst>
          </a:prstGeom>
          <a:solidFill>
            <a:srgbClr val="F8E8E8"/>
          </a:solidFill>
          <a:ln/>
        </p:spPr>
      </p:sp>
      <p:pic>
        <p:nvPicPr>
          <p:cNvPr id="23"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4" name="Text 20"/>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5" name="Text 21"/>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5" name="Shape 3"/>
          <p:cNvSpPr/>
          <p:nvPr/>
        </p:nvSpPr>
        <p:spPr>
          <a:xfrm>
            <a:off x="548640" y="1097280"/>
            <a:ext cx="1051560" cy="292608"/>
          </a:xfrm>
          <a:prstGeom prst="roundRect">
            <a:avLst>
              <a:gd name="adj" fmla="val 312500"/>
            </a:avLst>
          </a:prstGeom>
          <a:solidFill>
            <a:srgbClr val="E6F2EE"/>
          </a:solidFill>
          <a:ln/>
        </p:spPr>
      </p:sp>
      <p:sp>
        <p:nvSpPr>
          <p:cNvPr id="6" name="Text 4"/>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7" name="Text 5"/>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8" name="Shape 6"/>
          <p:cNvSpPr/>
          <p:nvPr/>
        </p:nvSpPr>
        <p:spPr>
          <a:xfrm>
            <a:off x="548640" y="1618488"/>
            <a:ext cx="1051560" cy="292608"/>
          </a:xfrm>
          <a:prstGeom prst="roundRect">
            <a:avLst>
              <a:gd name="adj" fmla="val 312500"/>
            </a:avLst>
          </a:prstGeom>
          <a:solidFill>
            <a:srgbClr val="F8EEE6"/>
          </a:solidFill>
          <a:ln/>
        </p:spPr>
      </p:sp>
      <p:sp>
        <p:nvSpPr>
          <p:cNvPr id="9" name="Text 7"/>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0" name="Text 8"/>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1" name="Shape 9"/>
          <p:cNvSpPr/>
          <p:nvPr/>
        </p:nvSpPr>
        <p:spPr>
          <a:xfrm>
            <a:off x="548640" y="2322576"/>
            <a:ext cx="1051560" cy="292608"/>
          </a:xfrm>
          <a:prstGeom prst="roundRect">
            <a:avLst>
              <a:gd name="adj" fmla="val 312500"/>
            </a:avLst>
          </a:prstGeom>
          <a:solidFill>
            <a:srgbClr val="F8E8E8"/>
          </a:solidFill>
          <a:ln/>
        </p:spPr>
      </p:sp>
      <p:sp>
        <p:nvSpPr>
          <p:cNvPr id="12" name="Text 10"/>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3" name="Text 11"/>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4" name="Shape 12"/>
          <p:cNvSpPr/>
          <p:nvPr/>
        </p:nvSpPr>
        <p:spPr>
          <a:xfrm>
            <a:off x="548640" y="3026664"/>
            <a:ext cx="1051560" cy="292608"/>
          </a:xfrm>
          <a:prstGeom prst="roundRect">
            <a:avLst>
              <a:gd name="adj" fmla="val 312500"/>
            </a:avLst>
          </a:prstGeom>
          <a:solidFill>
            <a:srgbClr val="E8EDFB"/>
          </a:solidFill>
          <a:ln/>
        </p:spPr>
      </p:sp>
      <p:sp>
        <p:nvSpPr>
          <p:cNvPr id="15" name="Text 13"/>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6" name="Text 14"/>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7"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8" name="Shape 15"/>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19" name="Text 16"/>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0" name="Text 17"/>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Why Solana</a:t>
            </a:r>
            <a:endParaRPr lang="en-US" sz="3000" dirty="0"/>
          </a:p>
        </p:txBody>
      </p:sp>
      <p:sp>
        <p:nvSpPr>
          <p:cNvPr id="5" name="Shape 3"/>
          <p:cNvSpPr/>
          <p:nvPr/>
        </p:nvSpPr>
        <p:spPr>
          <a:xfrm>
            <a:off x="5486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Pay per call</a:t>
            </a:r>
            <a:endParaRPr lang="en-US" sz="1500" dirty="0"/>
          </a:p>
        </p:txBody>
      </p:sp>
      <p:sp>
        <p:nvSpPr>
          <p:cNvPr id="9" name="Text 6"/>
          <p:cNvSpPr txBox="1"/>
          <p:nvPr/>
        </p:nvSpPr>
        <p:spPr>
          <a:xfrm>
            <a:off x="7772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A 0.01 USDC API call needs sub-cent fees and fast settlement. 76% of x402 agent payments already run on Solana.</a:t>
            </a:r>
            <a:endParaRPr lang="en-US" sz="1150" dirty="0"/>
          </a:p>
        </p:txBody>
      </p:sp>
      <p:sp>
        <p:nvSpPr>
          <p:cNvPr id="10" name="Shape 7"/>
          <p:cNvSpPr/>
          <p:nvPr/>
        </p:nvSpPr>
        <p:spPr>
          <a:xfrm>
            <a:off x="32918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520440" y="1298448"/>
            <a:ext cx="502920" cy="502920"/>
          </a:xfrm>
          <a:prstGeom prst="ellipse">
            <a:avLst/>
          </a:prstGeom>
          <a:solidFill>
            <a:srgbClr val="E8EDFB"/>
          </a:solidFill>
          <a:ln/>
        </p:spPr>
      </p:sp>
      <p:pic>
        <p:nvPicPr>
          <p:cNvPr id="12"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3" name="Text 9"/>
          <p:cNvSpPr txBox="1"/>
          <p:nvPr/>
        </p:nvSpPr>
        <p:spPr>
          <a:xfrm>
            <a:off x="35204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Rules where the money is</a:t>
            </a:r>
            <a:endParaRPr lang="en-US" sz="1500" dirty="0"/>
          </a:p>
        </p:txBody>
      </p:sp>
      <p:sp>
        <p:nvSpPr>
          <p:cNvPr id="14" name="Text 10"/>
          <p:cNvSpPr txBox="1"/>
          <p:nvPr/>
        </p:nvSpPr>
        <p:spPr>
          <a:xfrm>
            <a:off x="35204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No prompt can change on-chain rules, and a freeze applies to everyone from the next slot.</a:t>
            </a:r>
            <a:endParaRPr lang="en-US" sz="1150" dirty="0"/>
          </a:p>
        </p:txBody>
      </p:sp>
      <p:sp>
        <p:nvSpPr>
          <p:cNvPr id="15" name="Shape 11"/>
          <p:cNvSpPr/>
          <p:nvPr/>
        </p:nvSpPr>
        <p:spPr>
          <a:xfrm>
            <a:off x="60350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263640" y="1298448"/>
            <a:ext cx="502920" cy="502920"/>
          </a:xfrm>
          <a:prstGeom prst="ellipse">
            <a:avLst/>
          </a:prstGeom>
          <a:solidFill>
            <a:srgbClr val="E6F2EE"/>
          </a:solidFill>
          <a:ln/>
        </p:spPr>
      </p:sp>
      <p:pic>
        <p:nvPicPr>
          <p:cNvPr id="17"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18" name="Text 13"/>
          <p:cNvSpPr txBox="1"/>
          <p:nvPr/>
        </p:nvSpPr>
        <p:spPr>
          <a:xfrm>
            <a:off x="62636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Built from Solana's parts</a:t>
            </a:r>
            <a:endParaRPr lang="en-US" sz="1500" dirty="0"/>
          </a:p>
        </p:txBody>
      </p:sp>
      <p:sp>
        <p:nvSpPr>
          <p:cNvPr id="19" name="Text 14"/>
          <p:cNvSpPr txBox="1"/>
          <p:nvPr/>
        </p:nvSpPr>
        <p:spPr>
          <a:xfrm>
            <a:off x="62636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The Foundation's audited Allowances program is the hard ceiling, x402 carries the payment, and Leash adds the rules in between.</a:t>
            </a:r>
            <a:endParaRPr lang="en-US" sz="1150" dirty="0"/>
          </a:p>
        </p:txBody>
      </p:sp>
      <p:sp>
        <p:nvSpPr>
          <p:cNvPr id="20" name="Text 15"/>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5" name="Shape 3"/>
          <p:cNvSpPr/>
          <p:nvPr/>
        </p:nvSpPr>
        <p:spPr>
          <a:xfrm>
            <a:off x="548640" y="1097280"/>
            <a:ext cx="4114800" cy="1051560"/>
          </a:xfrm>
          <a:prstGeom prst="roundRect">
            <a:avLst>
              <a:gd name="adj" fmla="val 6957"/>
            </a:avLst>
          </a:prstGeom>
          <a:solidFill>
            <a:srgbClr val="F0E9FB"/>
          </a:solidFill>
          <a:ln/>
        </p:spPr>
      </p:sp>
      <p:sp>
        <p:nvSpPr>
          <p:cNvPr id="6" name="Text 4"/>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7" name="Text 5"/>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8" name="Text 6"/>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9"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0" name="Shape 7"/>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2" name="Shape 9"/>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5120640" y="2852928"/>
            <a:ext cx="438912" cy="438912"/>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5" name="Text 11"/>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6" name="Text 12"/>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5" name="Shape 3"/>
          <p:cNvSpPr/>
          <p:nvPr/>
        </p:nvSpPr>
        <p:spPr>
          <a:xfrm>
            <a:off x="548640" y="1051560"/>
            <a:ext cx="914400" cy="292608"/>
          </a:xfrm>
          <a:prstGeom prst="roundRect">
            <a:avLst>
              <a:gd name="adj" fmla="val 312500"/>
            </a:avLst>
          </a:prstGeom>
          <a:solidFill>
            <a:srgbClr val="E6F2EE"/>
          </a:solidFill>
          <a:ln/>
        </p:spPr>
      </p:sp>
      <p:pic>
        <p:nvPicPr>
          <p:cNvPr id="6"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7" name="Text 4"/>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8"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9" name="Text 5"/>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0"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1" name="Text 6"/>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2"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3" name="Text 7"/>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 on devnet too</a:t>
            </a:r>
            <a:endParaRPr lang="en-US" sz="1150" dirty="0"/>
          </a:p>
        </p:txBody>
      </p:sp>
      <p:pic>
        <p:nvPicPr>
          <p:cNvPr id="14"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5" name="Text 8"/>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6"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7" name="Text 9"/>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devnet, in CI, and in one command</a:t>
            </a:r>
            <a:endParaRPr lang="en-US" sz="1150" dirty="0"/>
          </a:p>
        </p:txBody>
      </p:sp>
      <p:pic>
        <p:nvPicPr>
          <p:cNvPr id="18"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19" name="Text 10"/>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0"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1" name="Text 11"/>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2"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3" name="Text 12"/>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on a real phone, and the guardian's autofreeze</a:t>
            </a:r>
            <a:endParaRPr lang="en-US" sz="1150" dirty="0"/>
          </a:p>
        </p:txBody>
      </p:sp>
      <p:pic>
        <p:nvPicPr>
          <p:cNvPr id="24"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5" name="Text 13"/>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6"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7" name="Text 14"/>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8" name="Shape 15"/>
          <p:cNvSpPr/>
          <p:nvPr/>
        </p:nvSpPr>
        <p:spPr>
          <a:xfrm>
            <a:off x="5669280" y="1051560"/>
            <a:ext cx="1325880" cy="292608"/>
          </a:xfrm>
          <a:prstGeom prst="roundRect">
            <a:avLst>
              <a:gd name="adj" fmla="val 312500"/>
            </a:avLst>
          </a:prstGeom>
          <a:solidFill>
            <a:srgbClr val="F8EEE6"/>
          </a:solidFill>
          <a:ln/>
        </p:spPr>
      </p:sp>
      <p:pic>
        <p:nvPicPr>
          <p:cNvPr id="29"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0" name="Text 16"/>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1"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2" name="Text 17"/>
          <p:cNvSpPr txBox="1"/>
          <p:nvPr/>
        </p:nvSpPr>
        <p:spPr>
          <a:xfrm>
            <a:off x="5961888" y="1481328"/>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control panel with a real wallet, on devnet</a:t>
            </a:r>
            <a:endParaRPr lang="en-US" sz="1150" dirty="0"/>
          </a:p>
        </p:txBody>
      </p:sp>
      <p:sp>
        <p:nvSpPr>
          <p:cNvPr id="33" name="Shape 18"/>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4" name="Text 19"/>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985</a:t>
            </a:r>
            <a:endParaRPr lang="en-US" sz="3600" dirty="0"/>
          </a:p>
        </p:txBody>
      </p:sp>
      <p:sp>
        <p:nvSpPr>
          <p:cNvPr id="35" name="Text 20"/>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6" name="Text 21"/>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857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5" name="Shape 3"/>
          <p:cNvSpPr/>
          <p:nvPr/>
        </p:nvSpPr>
        <p:spPr>
          <a:xfrm>
            <a:off x="548640" y="1051560"/>
            <a:ext cx="384048" cy="384048"/>
          </a:xfrm>
          <a:prstGeom prst="ellipse">
            <a:avLst/>
          </a:prstGeom>
          <a:solidFill>
            <a:srgbClr val="F0E9FB"/>
          </a:solidFill>
          <a:ln/>
        </p:spPr>
      </p:sp>
      <p:pic>
        <p:nvPicPr>
          <p:cNvPr id="6"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7" name="Text 4"/>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8" name="Text 5"/>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9" name="Shape 6"/>
          <p:cNvSpPr/>
          <p:nvPr/>
        </p:nvSpPr>
        <p:spPr>
          <a:xfrm>
            <a:off x="548640" y="1956816"/>
            <a:ext cx="384048" cy="384048"/>
          </a:xfrm>
          <a:prstGeom prst="ellipse">
            <a:avLst/>
          </a:prstGeom>
          <a:solidFill>
            <a:srgbClr val="F0E9FB"/>
          </a:solidFill>
          <a:ln/>
        </p:spPr>
      </p:sp>
      <p:pic>
        <p:nvPicPr>
          <p:cNvPr id="10"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1" name="Text 7"/>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2" name="Text 8"/>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3" name="Shape 9"/>
          <p:cNvSpPr/>
          <p:nvPr/>
        </p:nvSpPr>
        <p:spPr>
          <a:xfrm>
            <a:off x="548640" y="3044952"/>
            <a:ext cx="384048" cy="384048"/>
          </a:xfrm>
          <a:prstGeom prst="ellipse">
            <a:avLst/>
          </a:prstGeom>
          <a:solidFill>
            <a:srgbClr val="F0E9FB"/>
          </a:solidFill>
          <a:ln/>
        </p:spPr>
      </p:sp>
      <p:pic>
        <p:nvPicPr>
          <p:cNvPr id="14"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5" name="Text 10"/>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we know so far</a:t>
            </a:r>
            <a:endParaRPr lang="en-US" sz="1300" dirty="0"/>
          </a:p>
        </p:txBody>
      </p:sp>
      <p:sp>
        <p:nvSpPr>
          <p:cNvPr id="16" name="Text 11"/>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No conversations with users yet. Next: five conversations with developers whose agents pay for APIs (Superteam Germany, x402 builders, MCP users).</a:t>
            </a:r>
            <a:endParaRPr lang="en-US" sz="1150" dirty="0"/>
          </a:p>
        </p:txBody>
      </p:sp>
      <p:sp>
        <p:nvSpPr>
          <p:cNvPr id="17" name="Shape 12"/>
          <p:cNvSpPr/>
          <p:nvPr/>
        </p:nvSpPr>
        <p:spPr>
          <a:xfrm>
            <a:off x="1051560" y="4023360"/>
            <a:ext cx="3931920" cy="310896"/>
          </a:xfrm>
          <a:prstGeom prst="roundRect">
            <a:avLst>
              <a:gd name="adj" fmla="val 294118"/>
            </a:avLst>
          </a:prstGeom>
          <a:solidFill>
            <a:srgbClr val="F8EEE6"/>
          </a:solidFill>
          <a:ln/>
        </p:spPr>
      </p:sp>
      <p:sp>
        <p:nvSpPr>
          <p:cNvPr id="18" name="Text 13"/>
          <p:cNvSpPr txBox="1"/>
          <p:nvPr/>
        </p:nvSpPr>
        <p:spPr>
          <a:xfrm>
            <a:off x="1051560" y="4023360"/>
            <a:ext cx="3931920" cy="310896"/>
          </a:xfrm>
          <a:prstGeom prst="rect">
            <a:avLst/>
          </a:prstGeom>
          <a:noFill/>
          <a:ln/>
        </p:spPr>
        <p:txBody>
          <a:bodyPr wrap="square" lIns="0" tIns="0" rIns="0" bIns="0" rtlCol="0" anchor="ctr"/>
          <a:lstStyle/>
          <a:p>
            <a:pPr algn="ctr" indent="0" marL="0">
              <a:buNone/>
            </a:pPr>
            <a:r>
              <a:rPr lang="en-US" sz="900" b="1" dirty="0">
                <a:solidFill>
                  <a:srgbClr val="B45309"/>
                </a:solidFill>
                <a:latin typeface="Arial" pitchFamily="34" charset="0"/>
                <a:ea typeface="Arial" pitchFamily="34" charset="-122"/>
                <a:cs typeface="Arial" pitchFamily="34" charset="-120"/>
              </a:rPr>
              <a:t>[Parth: replace with who you talked to and what they said]</a:t>
            </a:r>
            <a:endParaRPr lang="en-US" sz="900" dirty="0"/>
          </a:p>
        </p:txBody>
      </p:sp>
      <p:sp>
        <p:nvSpPr>
          <p:cNvPr id="19" name="Shape 14"/>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0" name="Text 15"/>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1" name="Text 16"/>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2" name="Text 17"/>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3" name="Text 18"/>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4" name="Text 19"/>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5" name="Text 20"/>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6" name="Text 21"/>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7" name="Text 22"/>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8" name="Text 23"/>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5" name="Shape 3"/>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9" name="Text 6"/>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0" name="Text 7"/>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1" name="Shape 8"/>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520440" y="1298448"/>
            <a:ext cx="502920" cy="502920"/>
          </a:xfrm>
          <a:prstGeom prst="ellipse">
            <a:avLst/>
          </a:prstGeom>
          <a:solidFill>
            <a:srgbClr val="F0E9FB"/>
          </a:solidFill>
          <a:ln/>
        </p:spPr>
      </p:sp>
      <p:pic>
        <p:nvPicPr>
          <p:cNvPr id="13"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4" name="Text 10"/>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5" name="Text 11"/>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6" name="Text 12"/>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7" name="Shape 13"/>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263640" y="1298448"/>
            <a:ext cx="502920" cy="502920"/>
          </a:xfrm>
          <a:prstGeom prst="ellipse">
            <a:avLst/>
          </a:prstGeom>
          <a:solidFill>
            <a:srgbClr val="E8EDFB"/>
          </a:solidFill>
          <a:ln/>
        </p:spPr>
      </p:sp>
      <p:pic>
        <p:nvPicPr>
          <p:cNvPr id="19"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0" name="Text 15"/>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1" name="Text 16"/>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2" name="Text 17"/>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3" name="Text 18"/>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5" name="Shape 3"/>
          <p:cNvSpPr/>
          <p:nvPr/>
        </p:nvSpPr>
        <p:spPr>
          <a:xfrm>
            <a:off x="676656" y="1417320"/>
            <a:ext cx="7680960" cy="0"/>
          </a:xfrm>
          <a:prstGeom prst="line">
            <a:avLst/>
          </a:prstGeom>
          <a:noFill/>
          <a:ln w="25400">
            <a:solidFill>
              <a:srgbClr val="DFE3EA"/>
            </a:solidFill>
            <a:prstDash val="solid"/>
          </a:ln>
        </p:spPr>
      </p:sp>
      <p:sp>
        <p:nvSpPr>
          <p:cNvPr id="6" name="Shape 4"/>
          <p:cNvSpPr/>
          <p:nvPr/>
        </p:nvSpPr>
        <p:spPr>
          <a:xfrm>
            <a:off x="548640" y="1289304"/>
            <a:ext cx="256032" cy="256032"/>
          </a:xfrm>
          <a:prstGeom prst="ellipse">
            <a:avLst/>
          </a:prstGeom>
          <a:solidFill>
            <a:srgbClr val="B45309"/>
          </a:solidFill>
          <a:ln/>
        </p:spPr>
      </p:sp>
      <p:sp>
        <p:nvSpPr>
          <p:cNvPr id="7" name="Text 5"/>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8" name="Text 6"/>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9" name="Text 7"/>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p:txBody>
      </p:sp>
      <p:sp>
        <p:nvSpPr>
          <p:cNvPr id="10" name="Shape 8"/>
          <p:cNvSpPr/>
          <p:nvPr/>
        </p:nvSpPr>
        <p:spPr>
          <a:xfrm>
            <a:off x="3291840" y="1289304"/>
            <a:ext cx="256032" cy="256032"/>
          </a:xfrm>
          <a:prstGeom prst="ellipse">
            <a:avLst/>
          </a:prstGeom>
          <a:solidFill>
            <a:srgbClr val="6D28D9"/>
          </a:solidFill>
          <a:ln/>
        </p:spPr>
      </p:sp>
      <p:sp>
        <p:nvSpPr>
          <p:cNvPr id="11" name="Text 9"/>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2" name="Text 10"/>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3" name="Text 11"/>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4" name="Shape 12"/>
          <p:cNvSpPr/>
          <p:nvPr/>
        </p:nvSpPr>
        <p:spPr>
          <a:xfrm>
            <a:off x="6035040" y="1289304"/>
            <a:ext cx="256032" cy="256032"/>
          </a:xfrm>
          <a:prstGeom prst="ellipse">
            <a:avLst/>
          </a:prstGeom>
          <a:solidFill>
            <a:srgbClr val="0F1419"/>
          </a:solidFill>
          <a:ln/>
        </p:spPr>
      </p:sp>
      <p:sp>
        <p:nvSpPr>
          <p:cNvPr id="15" name="Text 13"/>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6" name="Text 14"/>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7" name="Text 15"/>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Text 4"/>
          <p:cNvSpPr txBox="1"/>
          <p:nvPr/>
        </p:nvSpPr>
        <p:spPr>
          <a:xfrm>
            <a:off x="2514600" y="3017520"/>
            <a:ext cx="4114800" cy="274320"/>
          </a:xfrm>
          <a:prstGeom prst="rect">
            <a:avLst/>
          </a:prstGeom>
          <a:noFill/>
          <a:ln/>
        </p:spPr>
        <p:txBody>
          <a:bodyPr wrap="square" lIns="0" tIns="0" rIns="0" bIns="0" rtlCol="0" anchor="t"/>
          <a:lstStyle/>
          <a:p>
            <a:pPr algn="ctr" indent="0" marL="0">
              <a:buNone/>
            </a:pPr>
            <a:r>
              <a:rPr lang="en-US" sz="1200" b="1" dirty="0">
                <a:solidFill>
                  <a:srgbClr val="0F1419"/>
                </a:solidFill>
                <a:latin typeface="Arial" pitchFamily="34" charset="0"/>
                <a:ea typeface="Arial" pitchFamily="34" charset="-122"/>
                <a:cs typeface="Arial" pitchFamily="34" charset="-120"/>
              </a:rPr>
              <a:t>Parth Deshmukh · solo builder</a:t>
            </a:r>
            <a:endParaRPr lang="en-US" sz="1200" dirty="0"/>
          </a:p>
        </p:txBody>
      </p:sp>
      <p:pic>
        <p:nvPicPr>
          <p:cNvPr id="7"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8" name="Text 5"/>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9"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0" name="Text 6"/>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1"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2" name="Text 7"/>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Demo video (2:21)</a:t>
            </a:r>
            <a:endParaRPr lang="en-US" sz="950" dirty="0"/>
          </a:p>
        </p:txBody>
      </p:sp>
      <p:sp>
        <p:nvSpPr>
          <p:cNvPr id="13" name="Text 8"/>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2026-10-03T15:25:39Z</dcterms:created>
  <dcterms:modified xsi:type="dcterms:W3CDTF">2026-10-03T15:25:39Z</dcterms:modified>
</cp:coreProperties>
</file>