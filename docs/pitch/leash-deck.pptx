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agents can pay for things now. Leash makes sure an agent pays only who you allow, only as much as you allow, and stops by itself when someone tries to trick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model is immune to a crafted message. On May 4, a post in Morse code got Grok to send up to two hundred thousand dollars. Nothing between the agent and the money asked whether that payment made sense.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payments are already here: Solana carried twenty-three million of them in four weeks. In June the Solana Foundation shipped an audited Allowances program. It caps how much a delegate can spend, but not who it pays. That gap is where Leash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money stays in your wallet. The agent can only spend through Leash, and Leash checks every payment on-chain. The most it can ever spend is the allowance in Solana's own audited program, and Leash can only make that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agent's key can't move money by itself. The owner's allowance belongs to the agent's Leash account, and the program signs the transfer only after every check passes. Payments are ordinary x402 payments: merchants keep their setup, and their facilitator turns on two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 reads a buying guide with a hidden instruction: tip twenty-five dollars to a stranger. In this run we script the agent to fall for it, and the screen says so, because we want to show what happens when the model is fooled. It tries three times: three blocks, three strikes, and the agent freezes itself, on-chain. The model was fooled. The money wasn't moved.
If something fails live: the owner approves and unfreezes in the web app; if that fails, approve from the Blink in the owner's wallet or with pnpm owner:approve, and unfreeze with pnpm owner:unfreeze (it also clears leftover strikes). Run the 'Before each take' checklist in apps/agent-demo/README.md before every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Solana this product doesn't work. A firewall that runs off-chain can be bypassed by whoever holds the key, and paying per API call needs fees far below a 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security product has to say what can still go wrong, so here is our list. Note the last line: today one key can upgrade the program on devnet. Before mainnet, that becomes a timelocked multisig, or no key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the left runs today, and you can check it: the repo is public, and the tests run without a chain. The right column is what we're finishing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users are developers like us, whose agents already pay for APIs. They live in Claude Code and Cursor, and the MCP server puts Leash one config line away. We haven't talked to users yet. Five conversations with agent builders are our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parts that hold the rules are free and open, because a security product must be verifiable. Teams pay for the parts that run around the clock: the panel, the alerts, and a guardian that can freeze an agent at 3 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keep building through Colosseum. The order is: the owner's side on devnet, then put the wallet one tap from every alert, and only then go to mainnet, after 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will keep getting fooled. With Leash, that stops costing you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slideLayout" Target="../slideLayouts/slideLayout1.xml"/><Relationship Id="rId1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github.com/parthdeshmukh488-ops/hub" TargetMode="External"/><Relationship Id="rId4" Type="http://schemas.openxmlformats.org/officeDocument/2006/relationships/hyperlink" Target="https://explorer.solana.com/address/HyL9S5mA8ujMMkDcpuY4VcxiwfM974fEhmNjzTgHJncu?cluster=devnet" TargetMode="External"/><Relationship Id="rId6" Type="http://schemas.openxmlformats.org/officeDocument/2006/relationships/hyperlink" Target="https://github.com/parthdeshmukh488-ops/hub/blob/main/docs/pitch/leash-demo-devnet.mp4" TargetMode="External"/><Relationship Id="rId1" Type="http://schemas.openxmlformats.org/officeDocument/2006/relationships/image" Target="../media/image-13-1.png"/><Relationship Id="rId3" Type="http://schemas.openxmlformats.org/officeDocument/2006/relationships/image" Target="../media/image-13-2.png"/><Relationship Id="rId5" Type="http://schemas.openxmlformats.org/officeDocument/2006/relationships/image" Target="../media/image-13-3.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914400"/>
            <a:ext cx="731520" cy="731520"/>
          </a:xfrm>
          <a:prstGeom prst="roundRect">
            <a:avLst>
              <a:gd name="adj" fmla="val 37500"/>
            </a:avLst>
          </a:prstGeom>
          <a:solidFill>
            <a:srgbClr val="6D28D9"/>
          </a:solidFill>
          <a:ln/>
        </p:spPr>
      </p:sp>
      <p:sp>
        <p:nvSpPr>
          <p:cNvPr id="3" name="Text 1"/>
          <p:cNvSpPr txBox="1"/>
          <p:nvPr/>
        </p:nvSpPr>
        <p:spPr>
          <a:xfrm>
            <a:off x="548640" y="914400"/>
            <a:ext cx="731520" cy="731520"/>
          </a:xfrm>
          <a:prstGeom prst="rect">
            <a:avLst/>
          </a:prstGeom>
          <a:noFill/>
          <a:ln/>
        </p:spPr>
        <p:txBody>
          <a:bodyPr wrap="square" lIns="0" tIns="0" rIns="0" bIns="0"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L</a:t>
            </a:r>
            <a:endParaRPr lang="en-US" sz="3200" dirty="0"/>
          </a:p>
        </p:txBody>
      </p:sp>
      <p:sp>
        <p:nvSpPr>
          <p:cNvPr id="4" name="Text 2"/>
          <p:cNvSpPr txBox="1"/>
          <p:nvPr/>
        </p:nvSpPr>
        <p:spPr>
          <a:xfrm>
            <a:off x="548640" y="1783080"/>
            <a:ext cx="4206240" cy="777240"/>
          </a:xfrm>
          <a:prstGeom prst="rect">
            <a:avLst/>
          </a:prstGeom>
          <a:noFill/>
          <a:ln/>
        </p:spPr>
        <p:txBody>
          <a:bodyPr wrap="square" lIns="0" tIns="0" rIns="0" bIns="0" rtlCol="0" anchor="ctr"/>
          <a:lstStyle/>
          <a:p>
            <a:pPr algn="l" indent="0" marL="0">
              <a:buNone/>
            </a:pPr>
            <a:r>
              <a:rPr lang="en-US" sz="5400" b="1" dirty="0">
                <a:solidFill>
                  <a:srgbClr val="0F1419"/>
                </a:solidFill>
                <a:latin typeface="Arial" pitchFamily="34" charset="0"/>
                <a:ea typeface="Arial" pitchFamily="34" charset="-122"/>
                <a:cs typeface="Arial" pitchFamily="34" charset="-120"/>
              </a:rPr>
              <a:t>Leash</a:t>
            </a:r>
            <a:endParaRPr lang="en-US" sz="5400" dirty="0"/>
          </a:p>
        </p:txBody>
      </p:sp>
      <p:sp>
        <p:nvSpPr>
          <p:cNvPr id="5" name="Text 3"/>
          <p:cNvSpPr txBox="1"/>
          <p:nvPr/>
        </p:nvSpPr>
        <p:spPr>
          <a:xfrm>
            <a:off x="548640" y="2651760"/>
            <a:ext cx="4114800" cy="822960"/>
          </a:xfrm>
          <a:prstGeom prst="rect">
            <a:avLst/>
          </a:prstGeom>
          <a:noFill/>
          <a:ln/>
        </p:spPr>
        <p:txBody>
          <a:bodyPr wrap="square" lIns="0" tIns="0" rIns="0" bIns="0" rtlCol="0" anchor="t"/>
          <a:lstStyle/>
          <a:p>
            <a:pPr algn="l" indent="0" marL="0">
              <a:buNone/>
            </a:pPr>
            <a:r>
              <a:rPr lang="en-US" sz="1800" dirty="0">
                <a:solidFill>
                  <a:srgbClr val="535C6B"/>
                </a:solidFill>
                <a:latin typeface="Arial" pitchFamily="34" charset="0"/>
                <a:ea typeface="Arial" pitchFamily="34" charset="-122"/>
                <a:cs typeface="Arial" pitchFamily="34" charset="-120"/>
              </a:rPr>
              <a:t>Spending limits and an off switch for AI agents, enforced on Solana.</a:t>
            </a:r>
            <a:endParaRPr lang="en-US" sz="1800" dirty="0"/>
          </a:p>
        </p:txBody>
      </p:sp>
      <p:sp>
        <p:nvSpPr>
          <p:cNvPr id="6" name="Text 4"/>
          <p:cNvSpPr txBox="1"/>
          <p:nvPr/>
        </p:nvSpPr>
        <p:spPr>
          <a:xfrm>
            <a:off x="548640" y="3566160"/>
            <a:ext cx="4114800" cy="41148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Superteam Germany Solana Challenge</a:t>
            </a:r>
            <a:endParaRPr lang="en-US" sz="1050" dirty="0"/>
          </a:p>
          <a:p>
            <a:pPr algn="l" indent="0" marL="0">
              <a:buNone/>
            </a:pPr>
            <a:r>
              <a:rPr lang="en-US" sz="1050" dirty="0">
                <a:solidFill>
                  <a:srgbClr val="535C6B"/>
                </a:solidFill>
                <a:latin typeface="Arial" pitchFamily="34" charset="0"/>
                <a:ea typeface="Arial" pitchFamily="34" charset="-122"/>
                <a:cs typeface="Arial" pitchFamily="34" charset="-120"/>
              </a:rPr>
              <a:t>WHU Prompting Progress · October 2026</a:t>
            </a:r>
            <a:endParaRPr lang="en-US" sz="1050" dirty="0"/>
          </a:p>
        </p:txBody>
      </p:sp>
      <p:sp>
        <p:nvSpPr>
          <p:cNvPr id="7" name="Text 5"/>
          <p:cNvSpPr txBox="1"/>
          <p:nvPr/>
        </p:nvSpPr>
        <p:spPr>
          <a:xfrm>
            <a:off x="548640" y="4160520"/>
            <a:ext cx="4114800" cy="274320"/>
          </a:xfrm>
          <a:prstGeom prst="rect">
            <a:avLst/>
          </a:prstGeom>
          <a:noFill/>
          <a:ln/>
        </p:spPr>
        <p:txBody>
          <a:bodyPr wrap="square" lIns="0" tIns="0" rIns="0" bIns="0" rtlCol="0" anchor="t"/>
          <a:lstStyle/>
          <a:p>
            <a:pPr algn="l" indent="0" marL="0">
              <a:buNone/>
            </a:pPr>
            <a:r>
              <a:rPr lang="en-US" sz="1100" b="1" dirty="0">
                <a:solidFill>
                  <a:srgbClr val="0F1419"/>
                </a:solidFill>
                <a:latin typeface="Arial" pitchFamily="34" charset="0"/>
                <a:ea typeface="Arial" pitchFamily="34" charset="-122"/>
                <a:cs typeface="Arial" pitchFamily="34" charset="-120"/>
              </a:rPr>
              <a:t>Parth Deshmukh · solo builder</a:t>
            </a:r>
            <a:endParaRPr lang="en-US" sz="1100" dirty="0"/>
          </a:p>
        </p:txBody>
      </p:sp>
      <p:pic>
        <p:nvPicPr>
          <p:cNvPr id="8" name="Image 0" descr="preencoded.png">    </p:cNvPr>
          <p:cNvPicPr>
            <a:picLocks noChangeAspect="1"/>
          </p:cNvPicPr>
          <p:nvPr/>
        </p:nvPicPr>
        <p:blipFill>
          <a:blip r:embed="rId1"/>
          <a:stretch>
            <a:fillRect/>
          </a:stretch>
        </p:blipFill>
        <p:spPr>
          <a:xfrm>
            <a:off x="4937760" y="914400"/>
            <a:ext cx="3657600" cy="2653553"/>
          </a:xfrm>
          <a:prstGeom prst="rect">
            <a:avLst/>
          </a:prstGeom>
        </p:spPr>
      </p:pic>
      <p:sp>
        <p:nvSpPr>
          <p:cNvPr id="9" name="Shape 6"/>
          <p:cNvSpPr/>
          <p:nvPr/>
        </p:nvSpPr>
        <p:spPr>
          <a:xfrm>
            <a:off x="4937760" y="914400"/>
            <a:ext cx="3657600" cy="2653553"/>
          </a:xfrm>
          <a:prstGeom prst="rect">
            <a:avLst/>
          </a:prstGeom>
          <a:solidFill>
            <a:srgbClr val="FFFFFF">
              <a:alpha val="0"/>
            </a:srgbClr>
          </a:solidFill>
          <a:ln w="9525">
            <a:solidFill>
              <a:srgbClr val="DFE3EA"/>
            </a:solidFill>
            <a:prstDash val="solid"/>
          </a:ln>
        </p:spPr>
      </p:sp>
      <p:sp>
        <p:nvSpPr>
          <p:cNvPr id="10" name="Text 7"/>
          <p:cNvSpPr txBox="1"/>
          <p:nvPr/>
        </p:nvSpPr>
        <p:spPr>
          <a:xfrm>
            <a:off x="4937760" y="3659393"/>
            <a:ext cx="3657600" cy="228600"/>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The control panel after an attack (sample data)</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2</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An agent's wallet is all or nothing</a:t>
            </a:r>
            <a:endParaRPr lang="en-US" sz="3000" dirty="0"/>
          </a:p>
        </p:txBody>
      </p:sp>
      <p:sp>
        <p:nvSpPr>
          <p:cNvPr id="5" name="Shape 3"/>
          <p:cNvSpPr/>
          <p:nvPr/>
        </p:nvSpPr>
        <p:spPr>
          <a:xfrm>
            <a:off x="548640" y="1143000"/>
            <a:ext cx="233172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Shape 4"/>
          <p:cNvSpPr/>
          <p:nvPr/>
        </p:nvSpPr>
        <p:spPr>
          <a:xfrm>
            <a:off x="749808" y="1325880"/>
            <a:ext cx="457200" cy="457200"/>
          </a:xfrm>
          <a:prstGeom prst="ellipse">
            <a:avLst/>
          </a:prstGeom>
          <a:solidFill>
            <a:srgbClr val="EEF0F4"/>
          </a:solidFill>
          <a:ln/>
        </p:spPr>
      </p:sp>
      <p:pic>
        <p:nvPicPr>
          <p:cNvPr id="7" name="Image 0" descr="preencoded.png">    </p:cNvPr>
          <p:cNvPicPr>
            <a:picLocks noChangeAspect="1"/>
          </p:cNvPicPr>
          <p:nvPr/>
        </p:nvPicPr>
        <p:blipFill>
          <a:blip r:embed="rId1"/>
          <a:stretch>
            <a:fillRect/>
          </a:stretch>
        </p:blipFill>
        <p:spPr>
          <a:xfrm>
            <a:off x="859536" y="1435608"/>
            <a:ext cx="237744" cy="237744"/>
          </a:xfrm>
          <a:prstGeom prst="rect">
            <a:avLst/>
          </a:prstGeom>
        </p:spPr>
      </p:pic>
      <p:sp>
        <p:nvSpPr>
          <p:cNvPr id="8" name="Text 5"/>
          <p:cNvSpPr txBox="1"/>
          <p:nvPr/>
        </p:nvSpPr>
        <p:spPr>
          <a:xfrm>
            <a:off x="749808" y="1874520"/>
            <a:ext cx="1965960" cy="45720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A post on X, in Morse code</a:t>
            </a:r>
            <a:endParaRPr lang="en-US" sz="1300" dirty="0"/>
          </a:p>
        </p:txBody>
      </p:sp>
      <p:sp>
        <p:nvSpPr>
          <p:cNvPr id="9" name="Text 6"/>
          <p:cNvSpPr txBox="1"/>
          <p:nvPr/>
        </p:nvSpPr>
        <p:spPr>
          <a:xfrm>
            <a:off x="749808" y="2331720"/>
            <a:ext cx="1965960" cy="32004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May 4, 2026</a:t>
            </a:r>
            <a:endParaRPr lang="en-US" sz="1050" dirty="0"/>
          </a:p>
        </p:txBody>
      </p:sp>
      <p:sp>
        <p:nvSpPr>
          <p:cNvPr id="10" name="Shape 7"/>
          <p:cNvSpPr/>
          <p:nvPr/>
        </p:nvSpPr>
        <p:spPr>
          <a:xfrm>
            <a:off x="2971800" y="1938528"/>
            <a:ext cx="365760" cy="0"/>
          </a:xfrm>
          <a:prstGeom prst="line">
            <a:avLst/>
          </a:prstGeom>
          <a:noFill/>
          <a:ln w="19050">
            <a:solidFill>
              <a:srgbClr val="535C6B"/>
            </a:solidFill>
            <a:prstDash val="solid"/>
            <a:tailEnd type="triangle"/>
          </a:ln>
        </p:spPr>
      </p:sp>
      <p:sp>
        <p:nvSpPr>
          <p:cNvPr id="11" name="Shape 8"/>
          <p:cNvSpPr/>
          <p:nvPr/>
        </p:nvSpPr>
        <p:spPr>
          <a:xfrm>
            <a:off x="3429000" y="1143000"/>
            <a:ext cx="233172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2" name="Shape 9"/>
          <p:cNvSpPr/>
          <p:nvPr/>
        </p:nvSpPr>
        <p:spPr>
          <a:xfrm>
            <a:off x="3630168" y="1325880"/>
            <a:ext cx="457200" cy="457200"/>
          </a:xfrm>
          <a:prstGeom prst="ellipse">
            <a:avLst/>
          </a:prstGeom>
          <a:solidFill>
            <a:srgbClr val="EEF0F4"/>
          </a:solidFill>
          <a:ln/>
        </p:spPr>
      </p:sp>
      <p:pic>
        <p:nvPicPr>
          <p:cNvPr id="13" name="Image 1" descr="preencoded.png">    </p:cNvPr>
          <p:cNvPicPr>
            <a:picLocks noChangeAspect="1"/>
          </p:cNvPicPr>
          <p:nvPr/>
        </p:nvPicPr>
        <p:blipFill>
          <a:blip r:embed="rId2"/>
          <a:stretch>
            <a:fillRect/>
          </a:stretch>
        </p:blipFill>
        <p:spPr>
          <a:xfrm>
            <a:off x="3739896" y="1435608"/>
            <a:ext cx="237744" cy="237744"/>
          </a:xfrm>
          <a:prstGeom prst="rect">
            <a:avLst/>
          </a:prstGeom>
        </p:spPr>
      </p:pic>
      <p:sp>
        <p:nvSpPr>
          <p:cNvPr id="14" name="Text 10"/>
          <p:cNvSpPr txBox="1"/>
          <p:nvPr/>
        </p:nvSpPr>
        <p:spPr>
          <a:xfrm>
            <a:off x="3630168" y="1874520"/>
            <a:ext cx="1965960" cy="45720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Grok, wired to a trading bot, follows it</a:t>
            </a:r>
            <a:endParaRPr lang="en-US" sz="1300" dirty="0"/>
          </a:p>
        </p:txBody>
      </p:sp>
      <p:sp>
        <p:nvSpPr>
          <p:cNvPr id="15" name="Text 11"/>
          <p:cNvSpPr txBox="1"/>
          <p:nvPr/>
        </p:nvSpPr>
        <p:spPr>
          <a:xfrm>
            <a:off x="3630168" y="2331720"/>
            <a:ext cx="1965960" cy="32004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It does what the text says</a:t>
            </a:r>
            <a:endParaRPr lang="en-US" sz="1050" dirty="0"/>
          </a:p>
        </p:txBody>
      </p:sp>
      <p:sp>
        <p:nvSpPr>
          <p:cNvPr id="16" name="Shape 12"/>
          <p:cNvSpPr/>
          <p:nvPr/>
        </p:nvSpPr>
        <p:spPr>
          <a:xfrm>
            <a:off x="5852160" y="1938528"/>
            <a:ext cx="365760" cy="0"/>
          </a:xfrm>
          <a:prstGeom prst="line">
            <a:avLst/>
          </a:prstGeom>
          <a:noFill/>
          <a:ln w="19050">
            <a:solidFill>
              <a:srgbClr val="535C6B"/>
            </a:solidFill>
            <a:prstDash val="solid"/>
            <a:tailEnd type="triangle"/>
          </a:ln>
        </p:spPr>
      </p:sp>
      <p:sp>
        <p:nvSpPr>
          <p:cNvPr id="17" name="Shape 13"/>
          <p:cNvSpPr/>
          <p:nvPr/>
        </p:nvSpPr>
        <p:spPr>
          <a:xfrm>
            <a:off x="6309360" y="1143000"/>
            <a:ext cx="233172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8" name="Shape 14"/>
          <p:cNvSpPr/>
          <p:nvPr/>
        </p:nvSpPr>
        <p:spPr>
          <a:xfrm>
            <a:off x="6510528" y="1325880"/>
            <a:ext cx="457200" cy="457200"/>
          </a:xfrm>
          <a:prstGeom prst="ellipse">
            <a:avLst/>
          </a:prstGeom>
          <a:solidFill>
            <a:srgbClr val="F8E8E8"/>
          </a:solidFill>
          <a:ln/>
        </p:spPr>
      </p:sp>
      <p:pic>
        <p:nvPicPr>
          <p:cNvPr id="19" name="Image 2" descr="preencoded.png">    </p:cNvPr>
          <p:cNvPicPr>
            <a:picLocks noChangeAspect="1"/>
          </p:cNvPicPr>
          <p:nvPr/>
        </p:nvPicPr>
        <p:blipFill>
          <a:blip r:embed="rId3"/>
          <a:stretch>
            <a:fillRect/>
          </a:stretch>
        </p:blipFill>
        <p:spPr>
          <a:xfrm>
            <a:off x="6620256" y="1435608"/>
            <a:ext cx="237744" cy="237744"/>
          </a:xfrm>
          <a:prstGeom prst="rect">
            <a:avLst/>
          </a:prstGeom>
        </p:spPr>
      </p:pic>
      <p:sp>
        <p:nvSpPr>
          <p:cNvPr id="20" name="Text 15"/>
          <p:cNvSpPr txBox="1"/>
          <p:nvPr/>
        </p:nvSpPr>
        <p:spPr>
          <a:xfrm>
            <a:off x="6510528" y="1874520"/>
            <a:ext cx="1965960" cy="457200"/>
          </a:xfrm>
          <a:prstGeom prst="rect">
            <a:avLst/>
          </a:prstGeom>
          <a:noFill/>
          <a:ln/>
        </p:spPr>
        <p:txBody>
          <a:bodyPr wrap="square" lIns="0" tIns="0" rIns="0" bIns="0" rtlCol="0" anchor="t"/>
          <a:lstStyle/>
          <a:p>
            <a:pPr algn="l" indent="0" marL="0">
              <a:buNone/>
            </a:pPr>
            <a:r>
              <a:rPr lang="en-US" sz="1300" b="1" dirty="0">
                <a:solidFill>
                  <a:srgbClr val="B91C1C"/>
                </a:solidFill>
                <a:latin typeface="Arial" pitchFamily="34" charset="0"/>
                <a:ea typeface="Arial" pitchFamily="34" charset="-122"/>
                <a:cs typeface="Arial" pitchFamily="34" charset="-120"/>
              </a:rPr>
              <a:t>About $150–200k sent</a:t>
            </a:r>
            <a:endParaRPr lang="en-US" sz="1300" dirty="0"/>
          </a:p>
        </p:txBody>
      </p:sp>
      <p:sp>
        <p:nvSpPr>
          <p:cNvPr id="21" name="Text 16"/>
          <p:cNvSpPr txBox="1"/>
          <p:nvPr/>
        </p:nvSpPr>
        <p:spPr>
          <a:xfrm>
            <a:off x="6510528" y="2331720"/>
            <a:ext cx="1965960" cy="32004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Nothing asked if the payment made sense</a:t>
            </a:r>
            <a:endParaRPr lang="en-US" sz="1050" dirty="0"/>
          </a:p>
        </p:txBody>
      </p:sp>
      <p:sp>
        <p:nvSpPr>
          <p:cNvPr id="22" name="Text 17"/>
          <p:cNvSpPr txBox="1"/>
          <p:nvPr/>
        </p:nvSpPr>
        <p:spPr>
          <a:xfrm>
            <a:off x="548640" y="3017520"/>
            <a:ext cx="8046720" cy="1280160"/>
          </a:xfrm>
          <a:prstGeom prst="rect">
            <a:avLst/>
          </a:prstGeom>
          <a:noFill/>
          <a:ln/>
        </p:spPr>
        <p:txBody>
          <a:bodyPr wrap="square" lIns="0" tIns="0" rIns="0" bIns="0" rtlCol="0" anchor="t"/>
          <a:lstStyle/>
          <a:p>
            <a:pPr indent="0" marL="0">
              <a:spcAft>
                <a:spcPts val="1000"/>
              </a:spcAft>
              <a:buNone/>
            </a:pPr>
            <a:r>
              <a:rPr lang="en-US" sz="1400" b="1" dirty="0">
                <a:solidFill>
                  <a:srgbClr val="0F1419"/>
                </a:solidFill>
                <a:latin typeface="Arial" pitchFamily="34" charset="0"/>
                <a:ea typeface="Arial" pitchFamily="34" charset="-122"/>
                <a:cs typeface="Arial" pitchFamily="34" charset="-120"/>
              </a:rPr>
              <a:t>An agent does what the text in front of it says.</a:t>
            </a:r>
            <a:pPr indent="0" marL="0">
              <a:spcAft>
                <a:spcPts val="1000"/>
              </a:spcAft>
              <a:buNone/>
            </a:pPr>
            <a:r>
              <a:rPr lang="en-US" sz="1400" dirty="0">
                <a:solidFill>
                  <a:srgbClr val="0F1419"/>
                </a:solidFill>
                <a:latin typeface="Arial" pitchFamily="34" charset="0"/>
                <a:ea typeface="Arial" pitchFamily="34" charset="-122"/>
                <a:cs typeface="Arial" pitchFamily="34" charset="-120"/>
              </a:rPr>
              <a:t> A crafted message can make it pay the attacker.</a:t>
            </a:r>
            <a:endParaRPr lang="en-US" sz="1400" dirty="0"/>
          </a:p>
          <a:p>
            <a:pPr indent="0" marL="0">
              <a:spcAft>
                <a:spcPts val="1000"/>
              </a:spcAft>
              <a:buNone/>
            </a:pPr>
            <a:r>
              <a:rPr lang="en-US" sz="1400" dirty="0">
                <a:solidFill>
                  <a:srgbClr val="0F1419"/>
                </a:solidFill>
                <a:latin typeface="Arial" pitchFamily="34" charset="0"/>
                <a:ea typeface="Arial" pitchFamily="34" charset="-122"/>
                <a:cs typeface="Arial" pitchFamily="34" charset="-120"/>
              </a:rPr>
              <a:t>Today a developer hands the agent a private key or a custodial wallet: the agent, and anyone who can fool it, can move the whole balance.</a:t>
            </a:r>
            <a:endParaRPr lang="en-US" sz="1400" dirty="0"/>
          </a:p>
        </p:txBody>
      </p:sp>
      <p:sp>
        <p:nvSpPr>
          <p:cNvPr id="23" name="Text 18"/>
          <p:cNvSpPr txBox="1"/>
          <p:nvPr/>
        </p:nvSpPr>
        <p:spPr>
          <a:xfrm>
            <a:off x="548640" y="4434840"/>
            <a:ext cx="54864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Source: OECD.AI incident report, May 4, 2026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3</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Agents already pay, on Solana</a:t>
            </a:r>
            <a:endParaRPr lang="en-US" sz="3000" dirty="0"/>
          </a:p>
        </p:txBody>
      </p:sp>
      <p:sp>
        <p:nvSpPr>
          <p:cNvPr id="5" name="Text 3"/>
          <p:cNvSpPr txBox="1"/>
          <p:nvPr/>
        </p:nvSpPr>
        <p:spPr>
          <a:xfrm>
            <a:off x="548640" y="1051560"/>
            <a:ext cx="3931920" cy="777240"/>
          </a:xfrm>
          <a:prstGeom prst="rect">
            <a:avLst/>
          </a:prstGeom>
          <a:noFill/>
          <a:ln/>
        </p:spPr>
        <p:txBody>
          <a:bodyPr wrap="square" lIns="0" tIns="0" rIns="0" bIns="0" rtlCol="0" anchor="ctr"/>
          <a:lstStyle/>
          <a:p>
            <a:pPr algn="l" indent="0" marL="0">
              <a:buNone/>
            </a:pPr>
            <a:r>
              <a:rPr lang="en-US" sz="5400" b="1" dirty="0">
                <a:solidFill>
                  <a:srgbClr val="6D28D9"/>
                </a:solidFill>
                <a:latin typeface="Arial" pitchFamily="34" charset="0"/>
                <a:ea typeface="Arial" pitchFamily="34" charset="-122"/>
                <a:cs typeface="Arial" pitchFamily="34" charset="-120"/>
              </a:rPr>
              <a:t>23.2M</a:t>
            </a:r>
            <a:endParaRPr lang="en-US" sz="5400" dirty="0"/>
          </a:p>
        </p:txBody>
      </p:sp>
      <p:sp>
        <p:nvSpPr>
          <p:cNvPr id="6" name="Text 4"/>
          <p:cNvSpPr txBox="1"/>
          <p:nvPr/>
        </p:nvSpPr>
        <p:spPr>
          <a:xfrm>
            <a:off x="548640" y="1828800"/>
            <a:ext cx="3657600" cy="457200"/>
          </a:xfrm>
          <a:prstGeom prst="rect">
            <a:avLst/>
          </a:prstGeom>
          <a:noFill/>
          <a:ln/>
        </p:spPr>
        <p:txBody>
          <a:bodyPr wrap="square" lIns="0" tIns="0" rIns="0" bIns="0" rtlCol="0" anchor="t"/>
          <a:lstStyle/>
          <a:p>
            <a:pPr algn="l" indent="0" marL="0">
              <a:buNone/>
            </a:pPr>
            <a:r>
              <a:rPr lang="en-US" sz="1300" dirty="0">
                <a:solidFill>
                  <a:srgbClr val="535C6B"/>
                </a:solidFill>
                <a:latin typeface="Arial" pitchFamily="34" charset="0"/>
                <a:ea typeface="Arial" pitchFamily="34" charset="-122"/>
                <a:cs typeface="Arial" pitchFamily="34" charset="-120"/>
              </a:rPr>
              <a:t>x402 agent payments on Solana in the four weeks to Sept 22, 2026</a:t>
            </a:r>
            <a:endParaRPr lang="en-US" sz="1300" dirty="0"/>
          </a:p>
        </p:txBody>
      </p:sp>
      <p:sp>
        <p:nvSpPr>
          <p:cNvPr id="7" name="Text 5"/>
          <p:cNvSpPr txBox="1"/>
          <p:nvPr/>
        </p:nvSpPr>
        <p:spPr>
          <a:xfrm>
            <a:off x="548640" y="2468880"/>
            <a:ext cx="3931920" cy="777240"/>
          </a:xfrm>
          <a:prstGeom prst="rect">
            <a:avLst/>
          </a:prstGeom>
          <a:noFill/>
          <a:ln/>
        </p:spPr>
        <p:txBody>
          <a:bodyPr wrap="square" lIns="0" tIns="0" rIns="0" bIns="0" rtlCol="0" anchor="ctr"/>
          <a:lstStyle/>
          <a:p>
            <a:pPr algn="l" indent="0" marL="0">
              <a:buNone/>
            </a:pPr>
            <a:r>
              <a:rPr lang="en-US" sz="5400" b="1" dirty="0">
                <a:solidFill>
                  <a:srgbClr val="6D28D9"/>
                </a:solidFill>
                <a:latin typeface="Arial" pitchFamily="34" charset="0"/>
                <a:ea typeface="Arial" pitchFamily="34" charset="-122"/>
                <a:cs typeface="Arial" pitchFamily="34" charset="-120"/>
              </a:rPr>
              <a:t>76%</a:t>
            </a:r>
            <a:endParaRPr lang="en-US" sz="5400" dirty="0"/>
          </a:p>
        </p:txBody>
      </p:sp>
      <p:sp>
        <p:nvSpPr>
          <p:cNvPr id="8" name="Text 6"/>
          <p:cNvSpPr txBox="1"/>
          <p:nvPr/>
        </p:nvSpPr>
        <p:spPr>
          <a:xfrm>
            <a:off x="548640" y="3246120"/>
            <a:ext cx="3657600" cy="274320"/>
          </a:xfrm>
          <a:prstGeom prst="rect">
            <a:avLst/>
          </a:prstGeom>
          <a:noFill/>
          <a:ln/>
        </p:spPr>
        <p:txBody>
          <a:bodyPr wrap="square" lIns="0" tIns="0" rIns="0" bIns="0" rtlCol="0" anchor="t"/>
          <a:lstStyle/>
          <a:p>
            <a:pPr algn="l" indent="0" marL="0">
              <a:buNone/>
            </a:pPr>
            <a:r>
              <a:rPr lang="en-US" sz="1300" dirty="0">
                <a:solidFill>
                  <a:srgbClr val="535C6B"/>
                </a:solidFill>
                <a:latin typeface="Arial" pitchFamily="34" charset="0"/>
                <a:ea typeface="Arial" pitchFamily="34" charset="-122"/>
                <a:cs typeface="Arial" pitchFamily="34" charset="-120"/>
              </a:rPr>
              <a:t>of all x402 agent payments</a:t>
            </a:r>
            <a:endParaRPr lang="en-US" sz="1300" dirty="0"/>
          </a:p>
        </p:txBody>
      </p:sp>
      <p:sp>
        <p:nvSpPr>
          <p:cNvPr id="9" name="Shape 7"/>
          <p:cNvSpPr/>
          <p:nvPr/>
        </p:nvSpPr>
        <p:spPr>
          <a:xfrm>
            <a:off x="4754880" y="1097280"/>
            <a:ext cx="3840480" cy="3017520"/>
          </a:xfrm>
          <a:prstGeom prst="roundRect">
            <a:avLst>
              <a:gd name="adj" fmla="val 2424"/>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0" name="Text 8"/>
          <p:cNvSpPr txBox="1"/>
          <p:nvPr/>
        </p:nvSpPr>
        <p:spPr>
          <a:xfrm>
            <a:off x="5029200" y="1325880"/>
            <a:ext cx="3291840" cy="274320"/>
          </a:xfrm>
          <a:prstGeom prst="rect">
            <a:avLst/>
          </a:prstGeom>
          <a:noFill/>
          <a:ln/>
        </p:spPr>
        <p:txBody>
          <a:bodyPr wrap="square" lIns="0" tIns="0" rIns="0" bIns="0" rtlCol="0" anchor="t"/>
          <a:lstStyle/>
          <a:p>
            <a:pPr algn="l" indent="0" marL="0">
              <a:buNone/>
            </a:pPr>
            <a:r>
              <a:rPr lang="en-US" sz="1200" b="1" dirty="0">
                <a:solidFill>
                  <a:srgbClr val="6D28D9"/>
                </a:solidFill>
                <a:latin typeface="Arial" pitchFamily="34" charset="0"/>
                <a:ea typeface="Arial" pitchFamily="34" charset="-122"/>
                <a:cs typeface="Arial" pitchFamily="34" charset="-120"/>
              </a:rPr>
              <a:t>June 2026</a:t>
            </a:r>
            <a:endParaRPr lang="en-US" sz="1200" dirty="0"/>
          </a:p>
        </p:txBody>
      </p:sp>
      <p:sp>
        <p:nvSpPr>
          <p:cNvPr id="11" name="Text 9"/>
          <p:cNvSpPr txBox="1"/>
          <p:nvPr/>
        </p:nvSpPr>
        <p:spPr>
          <a:xfrm>
            <a:off x="5029200" y="1645920"/>
            <a:ext cx="3291840" cy="64008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The Solana Foundation shipped an audited Allowances program.</a:t>
            </a:r>
            <a:endParaRPr lang="en-US" sz="1500" dirty="0"/>
          </a:p>
        </p:txBody>
      </p:sp>
      <p:sp>
        <p:nvSpPr>
          <p:cNvPr id="12" name="Text 10"/>
          <p:cNvSpPr txBox="1"/>
          <p:nvPr/>
        </p:nvSpPr>
        <p:spPr>
          <a:xfrm>
            <a:off x="5029200" y="2514600"/>
            <a:ext cx="1965960" cy="329184"/>
          </a:xfrm>
          <a:prstGeom prst="rect">
            <a:avLst/>
          </a:prstGeom>
          <a:noFill/>
          <a:ln/>
        </p:spPr>
        <p:txBody>
          <a:bodyPr wrap="square" lIns="0" tIns="0" rIns="0" bIns="0" rtlCol="0" anchor="ctr"/>
          <a:lstStyle/>
          <a:p>
            <a:pPr algn="l" indent="0" marL="0">
              <a:buNone/>
            </a:pPr>
            <a:r>
              <a:rPr lang="en-US" sz="1200" dirty="0">
                <a:solidFill>
                  <a:srgbClr val="0F1419"/>
                </a:solidFill>
                <a:latin typeface="Arial" pitchFamily="34" charset="0"/>
                <a:ea typeface="Arial" pitchFamily="34" charset="-122"/>
                <a:cs typeface="Arial" pitchFamily="34" charset="-120"/>
              </a:rPr>
              <a:t>How much may it spend?</a:t>
            </a:r>
            <a:endParaRPr lang="en-US" sz="1200" dirty="0"/>
          </a:p>
        </p:txBody>
      </p:sp>
      <p:sp>
        <p:nvSpPr>
          <p:cNvPr id="13" name="Shape 11"/>
          <p:cNvSpPr/>
          <p:nvPr/>
        </p:nvSpPr>
        <p:spPr>
          <a:xfrm>
            <a:off x="6995160" y="2514600"/>
            <a:ext cx="1371600" cy="329184"/>
          </a:xfrm>
          <a:prstGeom prst="roundRect">
            <a:avLst>
              <a:gd name="adj" fmla="val 277778"/>
            </a:avLst>
          </a:prstGeom>
          <a:solidFill>
            <a:srgbClr val="E6F2EE"/>
          </a:solidFill>
          <a:ln/>
        </p:spPr>
      </p:sp>
      <p:pic>
        <p:nvPicPr>
          <p:cNvPr id="14" name="Image 0" descr="preencoded.png">    </p:cNvPr>
          <p:cNvPicPr>
            <a:picLocks noChangeAspect="1"/>
          </p:cNvPicPr>
          <p:nvPr/>
        </p:nvPicPr>
        <p:blipFill>
          <a:blip r:embed="rId1"/>
          <a:stretch>
            <a:fillRect/>
          </a:stretch>
        </p:blipFill>
        <p:spPr>
          <a:xfrm>
            <a:off x="7100499" y="2587020"/>
            <a:ext cx="184343" cy="184343"/>
          </a:xfrm>
          <a:prstGeom prst="rect">
            <a:avLst/>
          </a:prstGeom>
        </p:spPr>
      </p:pic>
      <p:sp>
        <p:nvSpPr>
          <p:cNvPr id="15" name="Text 12"/>
          <p:cNvSpPr txBox="1"/>
          <p:nvPr/>
        </p:nvSpPr>
        <p:spPr>
          <a:xfrm>
            <a:off x="7339706" y="2514600"/>
            <a:ext cx="972190" cy="329184"/>
          </a:xfrm>
          <a:prstGeom prst="rect">
            <a:avLst/>
          </a:prstGeom>
          <a:noFill/>
          <a:ln/>
        </p:spPr>
        <p:txBody>
          <a:bodyPr wrap="square" lIns="0" tIns="0" rIns="0" bIns="0" rtlCol="0" anchor="ctr"/>
          <a:lstStyle/>
          <a:p>
            <a:pPr algn="l" indent="0" marL="0">
              <a:buNone/>
            </a:pPr>
            <a:r>
              <a:rPr lang="en-US" sz="1050" b="1" dirty="0">
                <a:solidFill>
                  <a:srgbClr val="047857"/>
                </a:solidFill>
                <a:latin typeface="Arial" pitchFamily="34" charset="0"/>
                <a:ea typeface="Arial" pitchFamily="34" charset="-122"/>
                <a:cs typeface="Arial" pitchFamily="34" charset="-120"/>
              </a:rPr>
              <a:t>Allowances</a:t>
            </a:r>
            <a:endParaRPr lang="en-US" sz="1050" dirty="0"/>
          </a:p>
        </p:txBody>
      </p:sp>
      <p:sp>
        <p:nvSpPr>
          <p:cNvPr id="16" name="Text 13"/>
          <p:cNvSpPr txBox="1"/>
          <p:nvPr/>
        </p:nvSpPr>
        <p:spPr>
          <a:xfrm>
            <a:off x="5029200" y="2971800"/>
            <a:ext cx="1965960" cy="329184"/>
          </a:xfrm>
          <a:prstGeom prst="rect">
            <a:avLst/>
          </a:prstGeom>
          <a:noFill/>
          <a:ln/>
        </p:spPr>
        <p:txBody>
          <a:bodyPr wrap="square" lIns="0" tIns="0" rIns="0" bIns="0" rtlCol="0" anchor="ctr"/>
          <a:lstStyle/>
          <a:p>
            <a:pPr algn="l" indent="0" marL="0">
              <a:buNone/>
            </a:pPr>
            <a:r>
              <a:rPr lang="en-US" sz="1200" dirty="0">
                <a:solidFill>
                  <a:srgbClr val="0F1419"/>
                </a:solidFill>
                <a:latin typeface="Arial" pitchFamily="34" charset="0"/>
                <a:ea typeface="Arial" pitchFamily="34" charset="-122"/>
                <a:cs typeface="Arial" pitchFamily="34" charset="-120"/>
              </a:rPr>
              <a:t>Who may it pay?</a:t>
            </a:r>
            <a:endParaRPr lang="en-US" sz="1200" dirty="0"/>
          </a:p>
        </p:txBody>
      </p:sp>
      <p:sp>
        <p:nvSpPr>
          <p:cNvPr id="17" name="Shape 14"/>
          <p:cNvSpPr/>
          <p:nvPr/>
        </p:nvSpPr>
        <p:spPr>
          <a:xfrm>
            <a:off x="6995160" y="2971800"/>
            <a:ext cx="1371600" cy="329184"/>
          </a:xfrm>
          <a:prstGeom prst="roundRect">
            <a:avLst>
              <a:gd name="adj" fmla="val 277778"/>
            </a:avLst>
          </a:prstGeom>
          <a:solidFill>
            <a:srgbClr val="F8E8E8"/>
          </a:solidFill>
          <a:ln/>
        </p:spPr>
      </p:sp>
      <p:pic>
        <p:nvPicPr>
          <p:cNvPr id="18" name="Image 1" descr="preencoded.png">    </p:cNvPr>
          <p:cNvPicPr>
            <a:picLocks noChangeAspect="1"/>
          </p:cNvPicPr>
          <p:nvPr/>
        </p:nvPicPr>
        <p:blipFill>
          <a:blip r:embed="rId2"/>
          <a:stretch>
            <a:fillRect/>
          </a:stretch>
        </p:blipFill>
        <p:spPr>
          <a:xfrm>
            <a:off x="7100499" y="3044220"/>
            <a:ext cx="184343" cy="184343"/>
          </a:xfrm>
          <a:prstGeom prst="rect">
            <a:avLst/>
          </a:prstGeom>
        </p:spPr>
      </p:pic>
      <p:sp>
        <p:nvSpPr>
          <p:cNvPr id="19" name="Text 15"/>
          <p:cNvSpPr txBox="1"/>
          <p:nvPr/>
        </p:nvSpPr>
        <p:spPr>
          <a:xfrm>
            <a:off x="7339706" y="2971800"/>
            <a:ext cx="972190" cy="329184"/>
          </a:xfrm>
          <a:prstGeom prst="rect">
            <a:avLst/>
          </a:prstGeom>
          <a:noFill/>
          <a:ln/>
        </p:spPr>
        <p:txBody>
          <a:bodyPr wrap="square" lIns="0" tIns="0" rIns="0" bIns="0" rtlCol="0" anchor="ctr"/>
          <a:lstStyle/>
          <a:p>
            <a:pPr algn="l" indent="0" marL="0">
              <a:buNone/>
            </a:pPr>
            <a:r>
              <a:rPr lang="en-US" sz="1050" b="1" dirty="0">
                <a:solidFill>
                  <a:srgbClr val="B91C1C"/>
                </a:solidFill>
                <a:latin typeface="Arial" pitchFamily="34" charset="0"/>
                <a:ea typeface="Arial" pitchFamily="34" charset="-122"/>
                <a:cs typeface="Arial" pitchFamily="34" charset="-120"/>
              </a:rPr>
              <a:t>Not decided</a:t>
            </a:r>
            <a:endParaRPr lang="en-US" sz="1050" dirty="0"/>
          </a:p>
        </p:txBody>
      </p:sp>
      <p:sp>
        <p:nvSpPr>
          <p:cNvPr id="20" name="Text 16"/>
          <p:cNvSpPr txBox="1"/>
          <p:nvPr/>
        </p:nvSpPr>
        <p:spPr>
          <a:xfrm>
            <a:off x="5029200" y="3520440"/>
            <a:ext cx="3291840" cy="320040"/>
          </a:xfrm>
          <a:prstGeom prst="rect">
            <a:avLst/>
          </a:prstGeom>
          <a:noFill/>
          <a:ln/>
        </p:spPr>
        <p:txBody>
          <a:bodyPr wrap="square" lIns="0" tIns="0" rIns="0" bIns="0" rtlCol="0" anchor="t"/>
          <a:lstStyle/>
          <a:p>
            <a:pPr algn="l" indent="0" marL="0">
              <a:buNone/>
            </a:pPr>
            <a:r>
              <a:rPr lang="en-US" sz="1400" b="1" dirty="0">
                <a:solidFill>
                  <a:srgbClr val="6D28D9"/>
                </a:solidFill>
                <a:latin typeface="Arial" pitchFamily="34" charset="0"/>
                <a:ea typeface="Arial" pitchFamily="34" charset="-122"/>
                <a:cs typeface="Arial" pitchFamily="34" charset="-120"/>
              </a:rPr>
              <a:t>Leash fills that gap.</a:t>
            </a:r>
            <a:endParaRPr lang="en-US" sz="1400" dirty="0"/>
          </a:p>
        </p:txBody>
      </p:sp>
      <p:sp>
        <p:nvSpPr>
          <p:cNvPr id="21" name="Text 17"/>
          <p:cNvSpPr txBox="1"/>
          <p:nvPr/>
        </p:nvSpPr>
        <p:spPr>
          <a:xfrm>
            <a:off x="548640" y="4434840"/>
            <a:ext cx="73152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Sources: Solana Compass; the Solana Foundation's Subscriptions &amp; Allowances program</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4</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A firewall between agent and money</a:t>
            </a:r>
            <a:endParaRPr lang="en-US" sz="3000" dirty="0"/>
          </a:p>
        </p:txBody>
      </p:sp>
      <p:sp>
        <p:nvSpPr>
          <p:cNvPr id="5" name="Shape 3"/>
          <p:cNvSpPr/>
          <p:nvPr/>
        </p:nvSpPr>
        <p:spPr>
          <a:xfrm>
            <a:off x="54864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Shape 4"/>
          <p:cNvSpPr/>
          <p:nvPr/>
        </p:nvSpPr>
        <p:spPr>
          <a:xfrm>
            <a:off x="731520" y="1280160"/>
            <a:ext cx="502920" cy="502920"/>
          </a:xfrm>
          <a:prstGeom prst="ellipse">
            <a:avLst/>
          </a:prstGeom>
          <a:solidFill>
            <a:srgbClr val="F0E9FB"/>
          </a:solidFill>
          <a:ln/>
        </p:spPr>
      </p:sp>
      <p:pic>
        <p:nvPicPr>
          <p:cNvPr id="7" name="Image 0" descr="preencoded.png">    </p:cNvPr>
          <p:cNvPicPr>
            <a:picLocks noChangeAspect="1"/>
          </p:cNvPicPr>
          <p:nvPr/>
        </p:nvPicPr>
        <p:blipFill>
          <a:blip r:embed="rId1"/>
          <a:stretch>
            <a:fillRect/>
          </a:stretch>
        </p:blipFill>
        <p:spPr>
          <a:xfrm>
            <a:off x="852221" y="1400861"/>
            <a:ext cx="261518" cy="261518"/>
          </a:xfrm>
          <a:prstGeom prst="rect">
            <a:avLst/>
          </a:prstGeom>
        </p:spPr>
      </p:pic>
      <p:sp>
        <p:nvSpPr>
          <p:cNvPr id="8" name="Text 5"/>
          <p:cNvSpPr txBox="1"/>
          <p:nvPr/>
        </p:nvSpPr>
        <p:spPr>
          <a:xfrm>
            <a:off x="73152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Allowlist</a:t>
            </a:r>
            <a:endParaRPr lang="en-US" sz="1400" dirty="0"/>
          </a:p>
        </p:txBody>
      </p:sp>
      <p:sp>
        <p:nvSpPr>
          <p:cNvPr id="9" name="Text 6"/>
          <p:cNvSpPr txBox="1"/>
          <p:nvPr/>
        </p:nvSpPr>
        <p:spPr>
          <a:xfrm>
            <a:off x="73152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Pays only payees you approved.</a:t>
            </a:r>
            <a:endParaRPr lang="en-US" sz="1100" dirty="0"/>
          </a:p>
        </p:txBody>
      </p:sp>
      <p:sp>
        <p:nvSpPr>
          <p:cNvPr id="10" name="Shape 7"/>
          <p:cNvSpPr/>
          <p:nvPr/>
        </p:nvSpPr>
        <p:spPr>
          <a:xfrm>
            <a:off x="219456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1" name="Shape 8"/>
          <p:cNvSpPr/>
          <p:nvPr/>
        </p:nvSpPr>
        <p:spPr>
          <a:xfrm>
            <a:off x="2377440" y="1280160"/>
            <a:ext cx="502920" cy="502920"/>
          </a:xfrm>
          <a:prstGeom prst="ellipse">
            <a:avLst/>
          </a:prstGeom>
          <a:solidFill>
            <a:srgbClr val="E6F2EE"/>
          </a:solidFill>
          <a:ln/>
        </p:spPr>
      </p:sp>
      <p:pic>
        <p:nvPicPr>
          <p:cNvPr id="12" name="Image 1" descr="preencoded.png">    </p:cNvPr>
          <p:cNvPicPr>
            <a:picLocks noChangeAspect="1"/>
          </p:cNvPicPr>
          <p:nvPr/>
        </p:nvPicPr>
        <p:blipFill>
          <a:blip r:embed="rId2"/>
          <a:stretch>
            <a:fillRect/>
          </a:stretch>
        </p:blipFill>
        <p:spPr>
          <a:xfrm>
            <a:off x="2498141" y="1400861"/>
            <a:ext cx="261518" cy="261518"/>
          </a:xfrm>
          <a:prstGeom prst="rect">
            <a:avLst/>
          </a:prstGeom>
        </p:spPr>
      </p:pic>
      <p:sp>
        <p:nvSpPr>
          <p:cNvPr id="13" name="Text 9"/>
          <p:cNvSpPr txBox="1"/>
          <p:nvPr/>
        </p:nvSpPr>
        <p:spPr>
          <a:xfrm>
            <a:off x="237744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Limits</a:t>
            </a:r>
            <a:endParaRPr lang="en-US" sz="1400" dirty="0"/>
          </a:p>
        </p:txBody>
      </p:sp>
      <p:sp>
        <p:nvSpPr>
          <p:cNvPr id="14" name="Text 10"/>
          <p:cNvSpPr txBox="1"/>
          <p:nvPr/>
        </p:nvSpPr>
        <p:spPr>
          <a:xfrm>
            <a:off x="237744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Per payment, per payee, and a rate limit.</a:t>
            </a:r>
            <a:endParaRPr lang="en-US" sz="1100" dirty="0"/>
          </a:p>
        </p:txBody>
      </p:sp>
      <p:sp>
        <p:nvSpPr>
          <p:cNvPr id="15" name="Shape 11"/>
          <p:cNvSpPr/>
          <p:nvPr/>
        </p:nvSpPr>
        <p:spPr>
          <a:xfrm>
            <a:off x="384048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6" name="Shape 12"/>
          <p:cNvSpPr/>
          <p:nvPr/>
        </p:nvSpPr>
        <p:spPr>
          <a:xfrm>
            <a:off x="4023360" y="1280160"/>
            <a:ext cx="502920" cy="502920"/>
          </a:xfrm>
          <a:prstGeom prst="ellipse">
            <a:avLst/>
          </a:prstGeom>
          <a:solidFill>
            <a:srgbClr val="F8EEE6"/>
          </a:solidFill>
          <a:ln/>
        </p:spPr>
      </p:sp>
      <p:pic>
        <p:nvPicPr>
          <p:cNvPr id="17" name="Image 2" descr="preencoded.png">    </p:cNvPr>
          <p:cNvPicPr>
            <a:picLocks noChangeAspect="1"/>
          </p:cNvPicPr>
          <p:nvPr/>
        </p:nvPicPr>
        <p:blipFill>
          <a:blip r:embed="rId3"/>
          <a:stretch>
            <a:fillRect/>
          </a:stretch>
        </p:blipFill>
        <p:spPr>
          <a:xfrm>
            <a:off x="4144061" y="1400861"/>
            <a:ext cx="261518" cy="261518"/>
          </a:xfrm>
          <a:prstGeom prst="rect">
            <a:avLst/>
          </a:prstGeom>
        </p:spPr>
      </p:pic>
      <p:sp>
        <p:nvSpPr>
          <p:cNvPr id="18" name="Text 13"/>
          <p:cNvSpPr txBox="1"/>
          <p:nvPr/>
        </p:nvSpPr>
        <p:spPr>
          <a:xfrm>
            <a:off x="402336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Approval</a:t>
            </a:r>
            <a:endParaRPr lang="en-US" sz="1400" dirty="0"/>
          </a:p>
        </p:txBody>
      </p:sp>
      <p:sp>
        <p:nvSpPr>
          <p:cNvPr id="19" name="Text 14"/>
          <p:cNvSpPr txBox="1"/>
          <p:nvPr/>
        </p:nvSpPr>
        <p:spPr>
          <a:xfrm>
            <a:off x="402336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Anything above your threshold waits for your yes.</a:t>
            </a:r>
            <a:endParaRPr lang="en-US" sz="1100" dirty="0"/>
          </a:p>
        </p:txBody>
      </p:sp>
      <p:sp>
        <p:nvSpPr>
          <p:cNvPr id="20" name="Shape 15"/>
          <p:cNvSpPr/>
          <p:nvPr/>
        </p:nvSpPr>
        <p:spPr>
          <a:xfrm>
            <a:off x="548640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21" name="Shape 16"/>
          <p:cNvSpPr/>
          <p:nvPr/>
        </p:nvSpPr>
        <p:spPr>
          <a:xfrm>
            <a:off x="5669280" y="1280160"/>
            <a:ext cx="502920" cy="502920"/>
          </a:xfrm>
          <a:prstGeom prst="ellipse">
            <a:avLst/>
          </a:prstGeom>
          <a:solidFill>
            <a:srgbClr val="F8E8E8"/>
          </a:solidFill>
          <a:ln/>
        </p:spPr>
      </p:sp>
      <p:pic>
        <p:nvPicPr>
          <p:cNvPr id="22" name="Image 3" descr="preencoded.png">    </p:cNvPr>
          <p:cNvPicPr>
            <a:picLocks noChangeAspect="1"/>
          </p:cNvPicPr>
          <p:nvPr/>
        </p:nvPicPr>
        <p:blipFill>
          <a:blip r:embed="rId4"/>
          <a:stretch>
            <a:fillRect/>
          </a:stretch>
        </p:blipFill>
        <p:spPr>
          <a:xfrm>
            <a:off x="5789981" y="1400861"/>
            <a:ext cx="261518" cy="261518"/>
          </a:xfrm>
          <a:prstGeom prst="rect">
            <a:avLst/>
          </a:prstGeom>
        </p:spPr>
      </p:pic>
      <p:sp>
        <p:nvSpPr>
          <p:cNvPr id="23" name="Text 17"/>
          <p:cNvSpPr txBox="1"/>
          <p:nvPr/>
        </p:nvSpPr>
        <p:spPr>
          <a:xfrm>
            <a:off x="566928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Tripwire</a:t>
            </a:r>
            <a:endParaRPr lang="en-US" sz="1400" dirty="0"/>
          </a:p>
        </p:txBody>
      </p:sp>
      <p:sp>
        <p:nvSpPr>
          <p:cNvPr id="24" name="Text 18"/>
          <p:cNvSpPr txBox="1"/>
          <p:nvPr/>
        </p:nvSpPr>
        <p:spPr>
          <a:xfrm>
            <a:off x="566928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Three attempts to break the rules, and it freezes itself.</a:t>
            </a:r>
            <a:endParaRPr lang="en-US" sz="1100" dirty="0"/>
          </a:p>
        </p:txBody>
      </p:sp>
      <p:sp>
        <p:nvSpPr>
          <p:cNvPr id="25" name="Shape 19"/>
          <p:cNvSpPr/>
          <p:nvPr/>
        </p:nvSpPr>
        <p:spPr>
          <a:xfrm>
            <a:off x="713232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26" name="Shape 20"/>
          <p:cNvSpPr/>
          <p:nvPr/>
        </p:nvSpPr>
        <p:spPr>
          <a:xfrm>
            <a:off x="7315200" y="1280160"/>
            <a:ext cx="502920" cy="502920"/>
          </a:xfrm>
          <a:prstGeom prst="ellipse">
            <a:avLst/>
          </a:prstGeom>
          <a:solidFill>
            <a:srgbClr val="E8EDFB"/>
          </a:solidFill>
          <a:ln/>
        </p:spPr>
      </p:sp>
      <p:pic>
        <p:nvPicPr>
          <p:cNvPr id="27" name="Image 4" descr="preencoded.png">    </p:cNvPr>
          <p:cNvPicPr>
            <a:picLocks noChangeAspect="1"/>
          </p:cNvPicPr>
          <p:nvPr/>
        </p:nvPicPr>
        <p:blipFill>
          <a:blip r:embed="rId5"/>
          <a:stretch>
            <a:fillRect/>
          </a:stretch>
        </p:blipFill>
        <p:spPr>
          <a:xfrm>
            <a:off x="7435901" y="1400861"/>
            <a:ext cx="261518" cy="261518"/>
          </a:xfrm>
          <a:prstGeom prst="rect">
            <a:avLst/>
          </a:prstGeom>
        </p:spPr>
      </p:pic>
      <p:sp>
        <p:nvSpPr>
          <p:cNvPr id="28" name="Text 21"/>
          <p:cNvSpPr txBox="1"/>
          <p:nvPr/>
        </p:nvSpPr>
        <p:spPr>
          <a:xfrm>
            <a:off x="731520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Off switch</a:t>
            </a:r>
            <a:endParaRPr lang="en-US" sz="1400" dirty="0"/>
          </a:p>
        </p:txBody>
      </p:sp>
      <p:sp>
        <p:nvSpPr>
          <p:cNvPr id="29" name="Text 22"/>
          <p:cNvSpPr txBox="1"/>
          <p:nvPr/>
        </p:nvSpPr>
        <p:spPr>
          <a:xfrm>
            <a:off x="731520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One transaction freezes one agent, or all of them.</a:t>
            </a:r>
            <a:endParaRPr lang="en-US" sz="1100" dirty="0"/>
          </a:p>
        </p:txBody>
      </p:sp>
      <p:sp>
        <p:nvSpPr>
          <p:cNvPr id="30" name="Text 23"/>
          <p:cNvSpPr txBox="1"/>
          <p:nvPr/>
        </p:nvSpPr>
        <p:spPr>
          <a:xfrm>
            <a:off x="548640" y="3429000"/>
            <a:ext cx="8046720" cy="32004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Your money never leaves your wallet. Leash can only make the allowance smaller.</a:t>
            </a:r>
            <a:endParaRPr lang="en-US" sz="1400" dirty="0"/>
          </a:p>
        </p:txBody>
      </p:sp>
      <p:sp>
        <p:nvSpPr>
          <p:cNvPr id="31" name="Text 24"/>
          <p:cNvSpPr txBox="1"/>
          <p:nvPr/>
        </p:nvSpPr>
        <p:spPr>
          <a:xfrm>
            <a:off x="548640" y="3840480"/>
            <a:ext cx="8046720" cy="548640"/>
          </a:xfrm>
          <a:prstGeom prst="rect">
            <a:avLst/>
          </a:prstGeom>
          <a:noFill/>
          <a:ln/>
        </p:spPr>
        <p:txBody>
          <a:bodyPr wrap="square" lIns="0" tIns="0" rIns="0" bIns="0" rtlCol="0" anchor="t"/>
          <a:lstStyle/>
          <a:p>
            <a:pPr algn="l" indent="0" marL="0">
              <a:buNone/>
            </a:pPr>
            <a:r>
              <a:rPr lang="en-US" sz="1300" i="1" dirty="0">
                <a:solidFill>
                  <a:srgbClr val="6D28D9"/>
                </a:solidFill>
                <a:latin typeface="Arial" pitchFamily="34" charset="0"/>
                <a:ea typeface="Arial" pitchFamily="34" charset="-122"/>
                <a:cs typeface="Arial" pitchFamily="34" charset="-120"/>
              </a:rPr>
              <a:t>Solana's Allowances decide how much an agent may spend. Leash decides who it may pay, how fast, and what happens when it's attacked.</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5</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How it works</a:t>
            </a:r>
            <a:endParaRPr lang="en-US" sz="3000" dirty="0"/>
          </a:p>
        </p:txBody>
      </p:sp>
      <p:sp>
        <p:nvSpPr>
          <p:cNvPr id="5" name="Shape 3"/>
          <p:cNvSpPr/>
          <p:nvPr/>
        </p:nvSpPr>
        <p:spPr>
          <a:xfrm>
            <a:off x="548640"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Text 4"/>
          <p:cNvSpPr txBox="1"/>
          <p:nvPr/>
        </p:nvSpPr>
        <p:spPr>
          <a:xfrm>
            <a:off x="621792"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AI agent</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Leash SDK or MCP</a:t>
            </a:r>
            <a:endParaRPr lang="en-US" sz="1200" dirty="0"/>
          </a:p>
        </p:txBody>
      </p:sp>
      <p:sp>
        <p:nvSpPr>
          <p:cNvPr id="7" name="Shape 5"/>
          <p:cNvSpPr/>
          <p:nvPr/>
        </p:nvSpPr>
        <p:spPr>
          <a:xfrm>
            <a:off x="1984248" y="1645920"/>
            <a:ext cx="182880" cy="0"/>
          </a:xfrm>
          <a:prstGeom prst="line">
            <a:avLst/>
          </a:prstGeom>
          <a:noFill/>
          <a:ln w="19050">
            <a:solidFill>
              <a:srgbClr val="535C6B"/>
            </a:solidFill>
            <a:prstDash val="solid"/>
            <a:tailEnd type="triangle"/>
          </a:ln>
        </p:spPr>
      </p:sp>
      <p:sp>
        <p:nvSpPr>
          <p:cNvPr id="8" name="Shape 6"/>
          <p:cNvSpPr/>
          <p:nvPr/>
        </p:nvSpPr>
        <p:spPr>
          <a:xfrm>
            <a:off x="2212848"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9" name="Text 7"/>
          <p:cNvSpPr txBox="1"/>
          <p:nvPr/>
        </p:nvSpPr>
        <p:spPr>
          <a:xfrm>
            <a:off x="2286000"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Paid API</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x402 payment</a:t>
            </a:r>
            <a:endParaRPr lang="en-US" sz="1200" dirty="0"/>
          </a:p>
        </p:txBody>
      </p:sp>
      <p:sp>
        <p:nvSpPr>
          <p:cNvPr id="10" name="Shape 8"/>
          <p:cNvSpPr/>
          <p:nvPr/>
        </p:nvSpPr>
        <p:spPr>
          <a:xfrm>
            <a:off x="3648456" y="1645920"/>
            <a:ext cx="182880" cy="0"/>
          </a:xfrm>
          <a:prstGeom prst="line">
            <a:avLst/>
          </a:prstGeom>
          <a:noFill/>
          <a:ln w="19050">
            <a:solidFill>
              <a:srgbClr val="535C6B"/>
            </a:solidFill>
            <a:prstDash val="solid"/>
            <a:tailEnd type="triangle"/>
          </a:ln>
        </p:spPr>
      </p:sp>
      <p:sp>
        <p:nvSpPr>
          <p:cNvPr id="11" name="Shape 9"/>
          <p:cNvSpPr/>
          <p:nvPr/>
        </p:nvSpPr>
        <p:spPr>
          <a:xfrm>
            <a:off x="3877056"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2" name="Text 10"/>
          <p:cNvSpPr txBox="1"/>
          <p:nvPr/>
        </p:nvSpPr>
        <p:spPr>
          <a:xfrm>
            <a:off x="3950208"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x402 facilitator</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official package, pays the fee</a:t>
            </a:r>
            <a:endParaRPr lang="en-US" sz="1200" dirty="0"/>
          </a:p>
        </p:txBody>
      </p:sp>
      <p:sp>
        <p:nvSpPr>
          <p:cNvPr id="13" name="Shape 11"/>
          <p:cNvSpPr/>
          <p:nvPr/>
        </p:nvSpPr>
        <p:spPr>
          <a:xfrm>
            <a:off x="5312664" y="1645920"/>
            <a:ext cx="182880" cy="0"/>
          </a:xfrm>
          <a:prstGeom prst="line">
            <a:avLst/>
          </a:prstGeom>
          <a:noFill/>
          <a:ln w="19050">
            <a:solidFill>
              <a:srgbClr val="535C6B"/>
            </a:solidFill>
            <a:prstDash val="solid"/>
            <a:tailEnd type="triangle"/>
          </a:ln>
        </p:spPr>
      </p:sp>
      <p:sp>
        <p:nvSpPr>
          <p:cNvPr id="14" name="Shape 12"/>
          <p:cNvSpPr/>
          <p:nvPr/>
        </p:nvSpPr>
        <p:spPr>
          <a:xfrm>
            <a:off x="5541264" y="1143000"/>
            <a:ext cx="1389888" cy="1005840"/>
          </a:xfrm>
          <a:prstGeom prst="roundRect">
            <a:avLst>
              <a:gd name="adj" fmla="val 7273"/>
            </a:avLst>
          </a:prstGeom>
          <a:solidFill>
            <a:srgbClr val="6D28D9"/>
          </a:solidFill>
          <a:ln/>
          <a:effectLst>
            <a:outerShdw sx="100000" sy="100000" kx="0" ky="0" algn="bl" rotWithShape="0" blurRad="50800" dist="12700" dir="5400000">
              <a:srgbClr val="000000">
                <a:alpha val="8000"/>
              </a:srgbClr>
            </a:outerShdw>
          </a:effectLst>
        </p:spPr>
      </p:sp>
      <p:sp>
        <p:nvSpPr>
          <p:cNvPr id="15" name="Text 13"/>
          <p:cNvSpPr txBox="1"/>
          <p:nvPr/>
        </p:nvSpPr>
        <p:spPr>
          <a:xfrm>
            <a:off x="5614416"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FFFFFF"/>
                </a:solidFill>
                <a:latin typeface="Arial" pitchFamily="34" charset="0"/>
                <a:ea typeface="Arial" pitchFamily="34" charset="-122"/>
                <a:cs typeface="Arial" pitchFamily="34" charset="-120"/>
              </a:rPr>
              <a:t>Leash program</a:t>
            </a:r>
            <a:endParaRPr lang="en-US" sz="1200" dirty="0"/>
          </a:p>
          <a:p>
            <a:pPr algn="ctr" indent="0" marL="0">
              <a:spcAft>
                <a:spcPts val="300"/>
              </a:spcAft>
              <a:buNone/>
            </a:pPr>
            <a:r>
              <a:rPr lang="en-US" sz="950" dirty="0">
                <a:solidFill>
                  <a:srgbClr val="EDE6FB"/>
                </a:solidFill>
                <a:latin typeface="Arial" pitchFamily="34" charset="0"/>
                <a:ea typeface="Arial" pitchFamily="34" charset="-122"/>
                <a:cs typeface="Arial" pitchFamily="34" charset="-120"/>
              </a:rPr>
              <a:t>allowlist · limits · freeze</a:t>
            </a:r>
            <a:endParaRPr lang="en-US" sz="1200" dirty="0"/>
          </a:p>
        </p:txBody>
      </p:sp>
      <p:sp>
        <p:nvSpPr>
          <p:cNvPr id="16" name="Shape 14"/>
          <p:cNvSpPr/>
          <p:nvPr/>
        </p:nvSpPr>
        <p:spPr>
          <a:xfrm>
            <a:off x="6976872" y="1645920"/>
            <a:ext cx="182880" cy="0"/>
          </a:xfrm>
          <a:prstGeom prst="line">
            <a:avLst/>
          </a:prstGeom>
          <a:noFill/>
          <a:ln w="19050">
            <a:solidFill>
              <a:srgbClr val="535C6B"/>
            </a:solidFill>
            <a:prstDash val="solid"/>
            <a:tailEnd type="triangle"/>
          </a:ln>
        </p:spPr>
      </p:sp>
      <p:sp>
        <p:nvSpPr>
          <p:cNvPr id="17" name="Shape 15"/>
          <p:cNvSpPr/>
          <p:nvPr/>
        </p:nvSpPr>
        <p:spPr>
          <a:xfrm>
            <a:off x="7205472"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8" name="Text 16"/>
          <p:cNvSpPr txBox="1"/>
          <p:nvPr/>
        </p:nvSpPr>
        <p:spPr>
          <a:xfrm>
            <a:off x="7278624"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Allowances program</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Solana Foundation, audited</a:t>
            </a:r>
            <a:endParaRPr lang="en-US" sz="1200" dirty="0"/>
          </a:p>
        </p:txBody>
      </p:sp>
      <p:sp>
        <p:nvSpPr>
          <p:cNvPr id="19" name="Shape 17"/>
          <p:cNvSpPr/>
          <p:nvPr/>
        </p:nvSpPr>
        <p:spPr>
          <a:xfrm>
            <a:off x="548640" y="2468880"/>
            <a:ext cx="3931920" cy="868680"/>
          </a:xfrm>
          <a:prstGeom prst="roundRect">
            <a:avLst>
              <a:gd name="adj" fmla="val 8421"/>
            </a:avLst>
          </a:prstGeom>
          <a:solidFill>
            <a:srgbClr val="E6F2EE"/>
          </a:solidFill>
          <a:ln/>
        </p:spPr>
      </p:sp>
      <p:pic>
        <p:nvPicPr>
          <p:cNvPr id="20" name="Image 0" descr="preencoded.png">    </p:cNvPr>
          <p:cNvPicPr>
            <a:picLocks noChangeAspect="1"/>
          </p:cNvPicPr>
          <p:nvPr/>
        </p:nvPicPr>
        <p:blipFill>
          <a:blip r:embed="rId1"/>
          <a:stretch>
            <a:fillRect/>
          </a:stretch>
        </p:blipFill>
        <p:spPr>
          <a:xfrm>
            <a:off x="731520" y="2724912"/>
            <a:ext cx="329184" cy="329184"/>
          </a:xfrm>
          <a:prstGeom prst="rect">
            <a:avLst/>
          </a:prstGeom>
        </p:spPr>
      </p:pic>
      <p:sp>
        <p:nvSpPr>
          <p:cNvPr id="21" name="Text 18"/>
          <p:cNvSpPr txBox="1"/>
          <p:nvPr/>
        </p:nvSpPr>
        <p:spPr>
          <a:xfrm>
            <a:off x="1188720" y="2468880"/>
            <a:ext cx="3154680" cy="868680"/>
          </a:xfrm>
          <a:prstGeom prst="rect">
            <a:avLst/>
          </a:prstGeom>
          <a:noFill/>
          <a:ln/>
        </p:spPr>
        <p:txBody>
          <a:bodyPr wrap="square" lIns="0" tIns="0" rIns="0" bIns="0" rtlCol="0" anchor="ctr"/>
          <a:lstStyle/>
          <a:p>
            <a:pPr indent="0" marL="0">
              <a:buNone/>
            </a:pPr>
            <a:r>
              <a:rPr lang="en-US" sz="1200" b="1" dirty="0">
                <a:solidFill>
                  <a:srgbClr val="0F1419"/>
                </a:solidFill>
                <a:latin typeface="Arial" pitchFamily="34" charset="0"/>
                <a:ea typeface="Arial" pitchFamily="34" charset="-122"/>
                <a:cs typeface="Arial" pitchFamily="34" charset="-120"/>
              </a:rPr>
              <a:t>Every check passes: </a:t>
            </a:r>
            <a:pPr indent="0" marL="0">
              <a:buNone/>
            </a:pPr>
            <a:r>
              <a:rPr lang="en-US" sz="1200" dirty="0">
                <a:solidFill>
                  <a:srgbClr val="0F1419"/>
                </a:solidFill>
                <a:latin typeface="Arial" pitchFamily="34" charset="0"/>
                <a:ea typeface="Arial" pitchFamily="34" charset="-122"/>
                <a:cs typeface="Arial" pitchFamily="34" charset="-120"/>
              </a:rPr>
              <a:t>the Allowances program moves USDC from the owner's wallet to the payee.</a:t>
            </a:r>
            <a:endParaRPr lang="en-US" sz="1200" dirty="0"/>
          </a:p>
        </p:txBody>
      </p:sp>
      <p:sp>
        <p:nvSpPr>
          <p:cNvPr id="22" name="Shape 19"/>
          <p:cNvSpPr/>
          <p:nvPr/>
        </p:nvSpPr>
        <p:spPr>
          <a:xfrm>
            <a:off x="4663440" y="2468880"/>
            <a:ext cx="3931920" cy="868680"/>
          </a:xfrm>
          <a:prstGeom prst="roundRect">
            <a:avLst>
              <a:gd name="adj" fmla="val 8421"/>
            </a:avLst>
          </a:prstGeom>
          <a:solidFill>
            <a:srgbClr val="F8E8E8"/>
          </a:solidFill>
          <a:ln/>
        </p:spPr>
      </p:sp>
      <p:pic>
        <p:nvPicPr>
          <p:cNvPr id="23" name="Image 1" descr="preencoded.png">    </p:cNvPr>
          <p:cNvPicPr>
            <a:picLocks noChangeAspect="1"/>
          </p:cNvPicPr>
          <p:nvPr/>
        </p:nvPicPr>
        <p:blipFill>
          <a:blip r:embed="rId2"/>
          <a:stretch>
            <a:fillRect/>
          </a:stretch>
        </p:blipFill>
        <p:spPr>
          <a:xfrm>
            <a:off x="4846320" y="2724912"/>
            <a:ext cx="329184" cy="329184"/>
          </a:xfrm>
          <a:prstGeom prst="rect">
            <a:avLst/>
          </a:prstGeom>
        </p:spPr>
      </p:pic>
      <p:sp>
        <p:nvSpPr>
          <p:cNvPr id="24" name="Text 20"/>
          <p:cNvSpPr txBox="1"/>
          <p:nvPr/>
        </p:nvSpPr>
        <p:spPr>
          <a:xfrm>
            <a:off x="5303520" y="2468880"/>
            <a:ext cx="3154680" cy="868680"/>
          </a:xfrm>
          <a:prstGeom prst="rect">
            <a:avLst/>
          </a:prstGeom>
          <a:noFill/>
          <a:ln/>
        </p:spPr>
        <p:txBody>
          <a:bodyPr wrap="square" lIns="0" tIns="0" rIns="0" bIns="0" rtlCol="0" anchor="ctr"/>
          <a:lstStyle/>
          <a:p>
            <a:pPr indent="0" marL="0">
              <a:buNone/>
            </a:pPr>
            <a:r>
              <a:rPr lang="en-US" sz="1200" b="1" dirty="0">
                <a:solidFill>
                  <a:srgbClr val="0F1419"/>
                </a:solidFill>
                <a:latin typeface="Arial" pitchFamily="34" charset="0"/>
                <a:ea typeface="Arial" pitchFamily="34" charset="-122"/>
                <a:cs typeface="Arial" pitchFamily="34" charset="-120"/>
              </a:rPr>
              <a:t>A check fails: </a:t>
            </a:r>
            <a:pPr indent="0" marL="0">
              <a:buNone/>
            </a:pPr>
            <a:r>
              <a:rPr lang="en-US" sz="1200" dirty="0">
                <a:solidFill>
                  <a:srgbClr val="0F1419"/>
                </a:solidFill>
                <a:latin typeface="Arial" pitchFamily="34" charset="0"/>
                <a:ea typeface="Arial" pitchFamily="34" charset="-122"/>
                <a:cs typeface="Arial" pitchFamily="34" charset="-120"/>
              </a:rPr>
              <a:t>nothing moves, the attempt is recorded on-chain as a strike, and three strikes freeze the agent.</a:t>
            </a:r>
            <a:endParaRPr lang="en-US" sz="1200" dirty="0"/>
          </a:p>
        </p:txBody>
      </p:sp>
      <p:sp>
        <p:nvSpPr>
          <p:cNvPr id="25" name="Text 21"/>
          <p:cNvSpPr txBox="1"/>
          <p:nvPr/>
        </p:nvSpPr>
        <p:spPr>
          <a:xfrm>
            <a:off x="548640" y="3566160"/>
            <a:ext cx="8046720" cy="100584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rgbClr val="0F1419"/>
                </a:solidFill>
                <a:latin typeface="Arial" pitchFamily="34" charset="0"/>
                <a:ea typeface="Arial" pitchFamily="34" charset="-122"/>
                <a:cs typeface="Arial" pitchFamily="34" charset="-120"/>
              </a:rPr>
              <a:t>The agent's key can't move money by itself: the allowance belongs to the agent's Leash account, which only the program signs for, after every check.</a:t>
            </a:r>
            <a:endParaRPr lang="en-US" sz="1200" dirty="0"/>
          </a:p>
          <a:p>
            <a:pPr marL="177800" indent="-177800">
              <a:spcAft>
                <a:spcPts val="600"/>
              </a:spcAft>
              <a:buSzPct val="100000"/>
              <a:buChar char="•"/>
            </a:pPr>
            <a:r>
              <a:rPr lang="en-US" sz="1200" dirty="0">
                <a:solidFill>
                  <a:srgbClr val="0F1419"/>
                </a:solidFill>
                <a:latin typeface="Arial" pitchFamily="34" charset="0"/>
                <a:ea typeface="Arial" pitchFamily="34" charset="-122"/>
                <a:cs typeface="Arial" pitchFamily="34" charset="-120"/>
              </a:rPr>
              <a:t>Standard x402: any facilitator running the official package accepts Leash payments after two settings changes.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6</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The demo, in four frames</a:t>
            </a:r>
            <a:endParaRPr lang="en-US" sz="3000" dirty="0"/>
          </a:p>
        </p:txBody>
      </p:sp>
      <p:sp>
        <p:nvSpPr>
          <p:cNvPr id="5" name="Shape 3"/>
          <p:cNvSpPr/>
          <p:nvPr/>
        </p:nvSpPr>
        <p:spPr>
          <a:xfrm>
            <a:off x="548640" y="1097280"/>
            <a:ext cx="1051560" cy="292608"/>
          </a:xfrm>
          <a:prstGeom prst="roundRect">
            <a:avLst>
              <a:gd name="adj" fmla="val 312500"/>
            </a:avLst>
          </a:prstGeom>
          <a:solidFill>
            <a:srgbClr val="E6F2EE"/>
          </a:solidFill>
          <a:ln/>
        </p:spPr>
      </p:sp>
      <p:sp>
        <p:nvSpPr>
          <p:cNvPr id="6" name="Text 4"/>
          <p:cNvSpPr txBox="1"/>
          <p:nvPr/>
        </p:nvSpPr>
        <p:spPr>
          <a:xfrm>
            <a:off x="548640" y="1097280"/>
            <a:ext cx="1051560" cy="292608"/>
          </a:xfrm>
          <a:prstGeom prst="rect">
            <a:avLst/>
          </a:prstGeom>
          <a:noFill/>
          <a:ln/>
        </p:spPr>
        <p:txBody>
          <a:bodyPr wrap="square" lIns="0" tIns="0" rIns="0" bIns="0" rtlCol="0" anchor="ctr"/>
          <a:lstStyle/>
          <a:p>
            <a:pPr algn="ctr" indent="0" marL="0">
              <a:buNone/>
            </a:pPr>
            <a:r>
              <a:rPr lang="en-US" sz="1000" b="1" dirty="0">
                <a:solidFill>
                  <a:srgbClr val="047857"/>
                </a:solidFill>
                <a:latin typeface="Arial" pitchFamily="34" charset="0"/>
                <a:ea typeface="Arial" pitchFamily="34" charset="-122"/>
                <a:cs typeface="Arial" pitchFamily="34" charset="-120"/>
              </a:rPr>
              <a:t>Paid</a:t>
            </a:r>
            <a:endParaRPr lang="en-US" sz="1000" dirty="0"/>
          </a:p>
        </p:txBody>
      </p:sp>
      <p:sp>
        <p:nvSpPr>
          <p:cNvPr id="7" name="Text 5"/>
          <p:cNvSpPr txBox="1"/>
          <p:nvPr/>
        </p:nvSpPr>
        <p:spPr>
          <a:xfrm>
            <a:off x="1783080" y="1115568"/>
            <a:ext cx="2514600" cy="41148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agent pays the Research API 0.01–0.02 USDC per call.</a:t>
            </a:r>
            <a:endParaRPr lang="en-US" sz="1150" dirty="0"/>
          </a:p>
        </p:txBody>
      </p:sp>
      <p:sp>
        <p:nvSpPr>
          <p:cNvPr id="8" name="Shape 6"/>
          <p:cNvSpPr/>
          <p:nvPr/>
        </p:nvSpPr>
        <p:spPr>
          <a:xfrm>
            <a:off x="548640" y="1618488"/>
            <a:ext cx="1051560" cy="292608"/>
          </a:xfrm>
          <a:prstGeom prst="roundRect">
            <a:avLst>
              <a:gd name="adj" fmla="val 312500"/>
            </a:avLst>
          </a:prstGeom>
          <a:solidFill>
            <a:srgbClr val="F8EEE6"/>
          </a:solidFill>
          <a:ln/>
        </p:spPr>
      </p:sp>
      <p:sp>
        <p:nvSpPr>
          <p:cNvPr id="9" name="Text 7"/>
          <p:cNvSpPr txBox="1"/>
          <p:nvPr/>
        </p:nvSpPr>
        <p:spPr>
          <a:xfrm>
            <a:off x="548640" y="1618488"/>
            <a:ext cx="1051560" cy="292608"/>
          </a:xfrm>
          <a:prstGeom prst="rect">
            <a:avLst/>
          </a:prstGeom>
          <a:noFill/>
          <a:ln/>
        </p:spPr>
        <p:txBody>
          <a:bodyPr wrap="square" lIns="0" tIns="0" rIns="0" bIns="0" rtlCol="0" anchor="ctr"/>
          <a:lstStyle/>
          <a:p>
            <a:pPr algn="ctr" indent="0" marL="0">
              <a:buNone/>
            </a:pPr>
            <a:r>
              <a:rPr lang="en-US" sz="1000" b="1" dirty="0">
                <a:solidFill>
                  <a:srgbClr val="B45309"/>
                </a:solidFill>
                <a:latin typeface="Arial" pitchFamily="34" charset="0"/>
                <a:ea typeface="Arial" pitchFamily="34" charset="-122"/>
                <a:cs typeface="Arial" pitchFamily="34" charset="-120"/>
              </a:rPr>
              <a:t>Approval</a:t>
            </a:r>
            <a:endParaRPr lang="en-US" sz="1000" dirty="0"/>
          </a:p>
        </p:txBody>
      </p:sp>
      <p:sp>
        <p:nvSpPr>
          <p:cNvPr id="10" name="Text 8"/>
          <p:cNvSpPr txBox="1"/>
          <p:nvPr/>
        </p:nvSpPr>
        <p:spPr>
          <a:xfrm>
            <a:off x="1783080" y="1636776"/>
            <a:ext cx="251460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1.50 USDC report is above its 1 USDC limit, so it asks. The owner approves.</a:t>
            </a:r>
            <a:endParaRPr lang="en-US" sz="1150" dirty="0"/>
          </a:p>
        </p:txBody>
      </p:sp>
      <p:sp>
        <p:nvSpPr>
          <p:cNvPr id="11" name="Shape 9"/>
          <p:cNvSpPr/>
          <p:nvPr/>
        </p:nvSpPr>
        <p:spPr>
          <a:xfrm>
            <a:off x="548640" y="2322576"/>
            <a:ext cx="1051560" cy="292608"/>
          </a:xfrm>
          <a:prstGeom prst="roundRect">
            <a:avLst>
              <a:gd name="adj" fmla="val 312500"/>
            </a:avLst>
          </a:prstGeom>
          <a:solidFill>
            <a:srgbClr val="F8E8E8"/>
          </a:solidFill>
          <a:ln/>
        </p:spPr>
      </p:sp>
      <p:sp>
        <p:nvSpPr>
          <p:cNvPr id="12" name="Text 10"/>
          <p:cNvSpPr txBox="1"/>
          <p:nvPr/>
        </p:nvSpPr>
        <p:spPr>
          <a:xfrm>
            <a:off x="548640" y="2322576"/>
            <a:ext cx="1051560" cy="292608"/>
          </a:xfrm>
          <a:prstGeom prst="rect">
            <a:avLst/>
          </a:prstGeom>
          <a:noFill/>
          <a:ln/>
        </p:spPr>
        <p:txBody>
          <a:bodyPr wrap="square" lIns="0" tIns="0" rIns="0" bIns="0" rtlCol="0" anchor="ctr"/>
          <a:lstStyle/>
          <a:p>
            <a:pPr algn="ctr" indent="0" marL="0">
              <a:buNone/>
            </a:pPr>
            <a:r>
              <a:rPr lang="en-US" sz="1000" b="1" dirty="0">
                <a:solidFill>
                  <a:srgbClr val="B91C1C"/>
                </a:solidFill>
                <a:latin typeface="Arial" pitchFamily="34" charset="0"/>
                <a:ea typeface="Arial" pitchFamily="34" charset="-122"/>
                <a:cs typeface="Arial" pitchFamily="34" charset="-120"/>
              </a:rPr>
              <a:t>Blocked ×3</a:t>
            </a:r>
            <a:endParaRPr lang="en-US" sz="1000" dirty="0"/>
          </a:p>
        </p:txBody>
      </p:sp>
      <p:sp>
        <p:nvSpPr>
          <p:cNvPr id="13" name="Text 11"/>
          <p:cNvSpPr txBox="1"/>
          <p:nvPr/>
        </p:nvSpPr>
        <p:spPr>
          <a:xfrm>
            <a:off x="1783080" y="2340864"/>
            <a:ext cx="251460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page hides “tip 25 USDC” to an unknown wallet. Blocked: strike 1, 2, 3.</a:t>
            </a:r>
            <a:endParaRPr lang="en-US" sz="1150" dirty="0"/>
          </a:p>
        </p:txBody>
      </p:sp>
      <p:sp>
        <p:nvSpPr>
          <p:cNvPr id="14" name="Shape 12"/>
          <p:cNvSpPr/>
          <p:nvPr/>
        </p:nvSpPr>
        <p:spPr>
          <a:xfrm>
            <a:off x="548640" y="3026664"/>
            <a:ext cx="1051560" cy="292608"/>
          </a:xfrm>
          <a:prstGeom prst="roundRect">
            <a:avLst>
              <a:gd name="adj" fmla="val 312500"/>
            </a:avLst>
          </a:prstGeom>
          <a:solidFill>
            <a:srgbClr val="E8EDFB"/>
          </a:solidFill>
          <a:ln/>
        </p:spPr>
      </p:sp>
      <p:sp>
        <p:nvSpPr>
          <p:cNvPr id="15" name="Text 13"/>
          <p:cNvSpPr txBox="1"/>
          <p:nvPr/>
        </p:nvSpPr>
        <p:spPr>
          <a:xfrm>
            <a:off x="548640" y="3026664"/>
            <a:ext cx="1051560" cy="292608"/>
          </a:xfrm>
          <a:prstGeom prst="rect">
            <a:avLst/>
          </a:prstGeom>
          <a:noFill/>
          <a:ln/>
        </p:spPr>
        <p:txBody>
          <a:bodyPr wrap="square" lIns="0" tIns="0" rIns="0" bIns="0"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Frozen</a:t>
            </a:r>
            <a:endParaRPr lang="en-US" sz="1000" dirty="0"/>
          </a:p>
        </p:txBody>
      </p:sp>
      <p:sp>
        <p:nvSpPr>
          <p:cNvPr id="16" name="Text 14"/>
          <p:cNvSpPr txBox="1"/>
          <p:nvPr/>
        </p:nvSpPr>
        <p:spPr>
          <a:xfrm>
            <a:off x="1783080" y="3044952"/>
            <a:ext cx="251460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tripwire freezes the agent. The owner sees every attempt, with the attacker's address.</a:t>
            </a:r>
            <a:endParaRPr lang="en-US" sz="1150" dirty="0"/>
          </a:p>
        </p:txBody>
      </p:sp>
      <p:pic>
        <p:nvPicPr>
          <p:cNvPr id="17" name="Image 0" descr="preencoded.png">    </p:cNvPr>
          <p:cNvPicPr>
            <a:picLocks noChangeAspect="1"/>
          </p:cNvPicPr>
          <p:nvPr/>
        </p:nvPicPr>
        <p:blipFill>
          <a:blip r:embed="rId1"/>
          <a:stretch>
            <a:fillRect/>
          </a:stretch>
        </p:blipFill>
        <p:spPr>
          <a:xfrm>
            <a:off x="4572000" y="1097280"/>
            <a:ext cx="4023360" cy="2386405"/>
          </a:xfrm>
          <a:prstGeom prst="rect">
            <a:avLst/>
          </a:prstGeom>
        </p:spPr>
      </p:pic>
      <p:sp>
        <p:nvSpPr>
          <p:cNvPr id="18" name="Shape 15"/>
          <p:cNvSpPr/>
          <p:nvPr/>
        </p:nvSpPr>
        <p:spPr>
          <a:xfrm>
            <a:off x="4572000" y="1097280"/>
            <a:ext cx="4023360" cy="2386405"/>
          </a:xfrm>
          <a:prstGeom prst="rect">
            <a:avLst/>
          </a:prstGeom>
          <a:solidFill>
            <a:srgbClr val="FFFFFF">
              <a:alpha val="0"/>
            </a:srgbClr>
          </a:solidFill>
          <a:ln w="9525">
            <a:solidFill>
              <a:srgbClr val="DFE3EA"/>
            </a:solidFill>
            <a:prstDash val="solid"/>
          </a:ln>
        </p:spPr>
      </p:sp>
      <p:sp>
        <p:nvSpPr>
          <p:cNvPr id="19" name="Text 16"/>
          <p:cNvSpPr txBox="1"/>
          <p:nvPr/>
        </p:nvSpPr>
        <p:spPr>
          <a:xfrm>
            <a:off x="548640" y="3840480"/>
            <a:ext cx="8046720" cy="365760"/>
          </a:xfrm>
          <a:prstGeom prst="rect">
            <a:avLst/>
          </a:prstGeom>
          <a:noFill/>
          <a:ln/>
        </p:spPr>
        <p:txBody>
          <a:bodyPr wrap="square" lIns="0" tIns="0" rIns="0" bIns="0" rtlCol="0" anchor="t"/>
          <a:lstStyle/>
          <a:p>
            <a:pPr algn="l" indent="0" marL="0">
              <a:buNone/>
            </a:pPr>
            <a:r>
              <a:rPr lang="en-US" sz="1800" b="1" dirty="0">
                <a:solidFill>
                  <a:srgbClr val="0F1419"/>
                </a:solidFill>
                <a:latin typeface="Arial" pitchFamily="34" charset="0"/>
                <a:ea typeface="Arial" pitchFamily="34" charset="-122"/>
                <a:cs typeface="Arial" pitchFamily="34" charset="-120"/>
              </a:rPr>
              <a:t>The model was fooled. The money wasn't moved.</a:t>
            </a:r>
            <a:endParaRPr lang="en-US" sz="1800" dirty="0"/>
          </a:p>
        </p:txBody>
      </p:sp>
      <p:sp>
        <p:nvSpPr>
          <p:cNvPr id="20" name="Text 17"/>
          <p:cNvSpPr txBox="1"/>
          <p:nvPr/>
        </p:nvSpPr>
        <p:spPr>
          <a:xfrm>
            <a:off x="548640" y="4251960"/>
            <a:ext cx="8046720" cy="365760"/>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Scripted scene: simulating a successful injection. Every payment, block and strike is real and on-chain. Screenshot: the control panel replaying the demo story (sample data).</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7</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Why Solana</a:t>
            </a:r>
            <a:endParaRPr lang="en-US" sz="3000" dirty="0"/>
          </a:p>
        </p:txBody>
      </p:sp>
      <p:sp>
        <p:nvSpPr>
          <p:cNvPr id="5" name="Shape 3"/>
          <p:cNvSpPr/>
          <p:nvPr/>
        </p:nvSpPr>
        <p:spPr>
          <a:xfrm>
            <a:off x="548640" y="1097280"/>
            <a:ext cx="2560320" cy="2514600"/>
          </a:xfrm>
          <a:prstGeom prst="roundRect">
            <a:avLst>
              <a:gd name="adj" fmla="val 2909"/>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Shape 4"/>
          <p:cNvSpPr/>
          <p:nvPr/>
        </p:nvSpPr>
        <p:spPr>
          <a:xfrm>
            <a:off x="777240" y="1298448"/>
            <a:ext cx="502920" cy="502920"/>
          </a:xfrm>
          <a:prstGeom prst="ellipse">
            <a:avLst/>
          </a:prstGeom>
          <a:solidFill>
            <a:srgbClr val="F0E9FB"/>
          </a:solidFill>
          <a:ln/>
        </p:spPr>
      </p:sp>
      <p:pic>
        <p:nvPicPr>
          <p:cNvPr id="7" name="Image 0" descr="preencoded.png">    </p:cNvPr>
          <p:cNvPicPr>
            <a:picLocks noChangeAspect="1"/>
          </p:cNvPicPr>
          <p:nvPr/>
        </p:nvPicPr>
        <p:blipFill>
          <a:blip r:embed="rId1"/>
          <a:stretch>
            <a:fillRect/>
          </a:stretch>
        </p:blipFill>
        <p:spPr>
          <a:xfrm>
            <a:off x="897941" y="1419149"/>
            <a:ext cx="261518" cy="261518"/>
          </a:xfrm>
          <a:prstGeom prst="rect">
            <a:avLst/>
          </a:prstGeom>
        </p:spPr>
      </p:pic>
      <p:sp>
        <p:nvSpPr>
          <p:cNvPr id="8" name="Text 5"/>
          <p:cNvSpPr txBox="1"/>
          <p:nvPr/>
        </p:nvSpPr>
        <p:spPr>
          <a:xfrm>
            <a:off x="777240" y="1901952"/>
            <a:ext cx="2103120" cy="50292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Pay per call</a:t>
            </a:r>
            <a:endParaRPr lang="en-US" sz="1500" dirty="0"/>
          </a:p>
        </p:txBody>
      </p:sp>
      <p:sp>
        <p:nvSpPr>
          <p:cNvPr id="9" name="Text 6"/>
          <p:cNvSpPr txBox="1"/>
          <p:nvPr/>
        </p:nvSpPr>
        <p:spPr>
          <a:xfrm>
            <a:off x="777240" y="2487168"/>
            <a:ext cx="2103120" cy="1051560"/>
          </a:xfrm>
          <a:prstGeom prst="rect">
            <a:avLst/>
          </a:prstGeom>
          <a:noFill/>
          <a:ln/>
        </p:spPr>
        <p:txBody>
          <a:bodyPr wrap="square" lIns="0" tIns="0" rIns="0" bIns="0" rtlCol="0" anchor="t"/>
          <a:lstStyle/>
          <a:p>
            <a:pPr algn="l" indent="0" marL="0">
              <a:buNone/>
            </a:pPr>
            <a:r>
              <a:rPr lang="en-US" sz="1150" dirty="0">
                <a:solidFill>
                  <a:srgbClr val="535C6B"/>
                </a:solidFill>
                <a:latin typeface="Arial" pitchFamily="34" charset="0"/>
                <a:ea typeface="Arial" pitchFamily="34" charset="-122"/>
                <a:cs typeface="Arial" pitchFamily="34" charset="-120"/>
              </a:rPr>
              <a:t>A 0.01 USDC API call needs sub-cent fees and fast settlement. 76% of x402 agent payments already run on Solana.</a:t>
            </a:r>
            <a:endParaRPr lang="en-US" sz="1150" dirty="0"/>
          </a:p>
        </p:txBody>
      </p:sp>
      <p:sp>
        <p:nvSpPr>
          <p:cNvPr id="10" name="Shape 7"/>
          <p:cNvSpPr/>
          <p:nvPr/>
        </p:nvSpPr>
        <p:spPr>
          <a:xfrm>
            <a:off x="3291840" y="1097280"/>
            <a:ext cx="2560320" cy="2514600"/>
          </a:xfrm>
          <a:prstGeom prst="roundRect">
            <a:avLst>
              <a:gd name="adj" fmla="val 2909"/>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1" name="Shape 8"/>
          <p:cNvSpPr/>
          <p:nvPr/>
        </p:nvSpPr>
        <p:spPr>
          <a:xfrm>
            <a:off x="3520440" y="1298448"/>
            <a:ext cx="502920" cy="502920"/>
          </a:xfrm>
          <a:prstGeom prst="ellipse">
            <a:avLst/>
          </a:prstGeom>
          <a:solidFill>
            <a:srgbClr val="E8EDFB"/>
          </a:solidFill>
          <a:ln/>
        </p:spPr>
      </p:sp>
      <p:pic>
        <p:nvPicPr>
          <p:cNvPr id="12" name="Image 1" descr="preencoded.png">    </p:cNvPr>
          <p:cNvPicPr>
            <a:picLocks noChangeAspect="1"/>
          </p:cNvPicPr>
          <p:nvPr/>
        </p:nvPicPr>
        <p:blipFill>
          <a:blip r:embed="rId2"/>
          <a:stretch>
            <a:fillRect/>
          </a:stretch>
        </p:blipFill>
        <p:spPr>
          <a:xfrm>
            <a:off x="3641141" y="1419149"/>
            <a:ext cx="261518" cy="261518"/>
          </a:xfrm>
          <a:prstGeom prst="rect">
            <a:avLst/>
          </a:prstGeom>
        </p:spPr>
      </p:pic>
      <p:sp>
        <p:nvSpPr>
          <p:cNvPr id="13" name="Text 9"/>
          <p:cNvSpPr txBox="1"/>
          <p:nvPr/>
        </p:nvSpPr>
        <p:spPr>
          <a:xfrm>
            <a:off x="3520440" y="1901952"/>
            <a:ext cx="2103120" cy="50292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Rules where the money is</a:t>
            </a:r>
            <a:endParaRPr lang="en-US" sz="1500" dirty="0"/>
          </a:p>
        </p:txBody>
      </p:sp>
      <p:sp>
        <p:nvSpPr>
          <p:cNvPr id="14" name="Text 10"/>
          <p:cNvSpPr txBox="1"/>
          <p:nvPr/>
        </p:nvSpPr>
        <p:spPr>
          <a:xfrm>
            <a:off x="3520440" y="2487168"/>
            <a:ext cx="2103120" cy="1051560"/>
          </a:xfrm>
          <a:prstGeom prst="rect">
            <a:avLst/>
          </a:prstGeom>
          <a:noFill/>
          <a:ln/>
        </p:spPr>
        <p:txBody>
          <a:bodyPr wrap="square" lIns="0" tIns="0" rIns="0" bIns="0" rtlCol="0" anchor="t"/>
          <a:lstStyle/>
          <a:p>
            <a:pPr algn="l" indent="0" marL="0">
              <a:buNone/>
            </a:pPr>
            <a:r>
              <a:rPr lang="en-US" sz="1150" dirty="0">
                <a:solidFill>
                  <a:srgbClr val="535C6B"/>
                </a:solidFill>
                <a:latin typeface="Arial" pitchFamily="34" charset="0"/>
                <a:ea typeface="Arial" pitchFamily="34" charset="-122"/>
                <a:cs typeface="Arial" pitchFamily="34" charset="-120"/>
              </a:rPr>
              <a:t>No prompt can change on-chain rules, and a freeze applies to everyone from the next slot.</a:t>
            </a:r>
            <a:endParaRPr lang="en-US" sz="1150" dirty="0"/>
          </a:p>
        </p:txBody>
      </p:sp>
      <p:sp>
        <p:nvSpPr>
          <p:cNvPr id="15" name="Shape 11"/>
          <p:cNvSpPr/>
          <p:nvPr/>
        </p:nvSpPr>
        <p:spPr>
          <a:xfrm>
            <a:off x="6035040" y="1097280"/>
            <a:ext cx="2560320" cy="2514600"/>
          </a:xfrm>
          <a:prstGeom prst="roundRect">
            <a:avLst>
              <a:gd name="adj" fmla="val 2909"/>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6" name="Shape 12"/>
          <p:cNvSpPr/>
          <p:nvPr/>
        </p:nvSpPr>
        <p:spPr>
          <a:xfrm>
            <a:off x="6263640" y="1298448"/>
            <a:ext cx="502920" cy="502920"/>
          </a:xfrm>
          <a:prstGeom prst="ellipse">
            <a:avLst/>
          </a:prstGeom>
          <a:solidFill>
            <a:srgbClr val="E6F2EE"/>
          </a:solidFill>
          <a:ln/>
        </p:spPr>
      </p:sp>
      <p:pic>
        <p:nvPicPr>
          <p:cNvPr id="17" name="Image 2" descr="preencoded.png">    </p:cNvPr>
          <p:cNvPicPr>
            <a:picLocks noChangeAspect="1"/>
          </p:cNvPicPr>
          <p:nvPr/>
        </p:nvPicPr>
        <p:blipFill>
          <a:blip r:embed="rId3"/>
          <a:stretch>
            <a:fillRect/>
          </a:stretch>
        </p:blipFill>
        <p:spPr>
          <a:xfrm>
            <a:off x="6384341" y="1419149"/>
            <a:ext cx="261518" cy="261518"/>
          </a:xfrm>
          <a:prstGeom prst="rect">
            <a:avLst/>
          </a:prstGeom>
        </p:spPr>
      </p:pic>
      <p:sp>
        <p:nvSpPr>
          <p:cNvPr id="18" name="Text 13"/>
          <p:cNvSpPr txBox="1"/>
          <p:nvPr/>
        </p:nvSpPr>
        <p:spPr>
          <a:xfrm>
            <a:off x="6263640" y="1901952"/>
            <a:ext cx="2103120" cy="50292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Built from Solana's parts</a:t>
            </a:r>
            <a:endParaRPr lang="en-US" sz="1500" dirty="0"/>
          </a:p>
        </p:txBody>
      </p:sp>
      <p:sp>
        <p:nvSpPr>
          <p:cNvPr id="19" name="Text 14"/>
          <p:cNvSpPr txBox="1"/>
          <p:nvPr/>
        </p:nvSpPr>
        <p:spPr>
          <a:xfrm>
            <a:off x="6263640" y="2487168"/>
            <a:ext cx="2103120" cy="1051560"/>
          </a:xfrm>
          <a:prstGeom prst="rect">
            <a:avLst/>
          </a:prstGeom>
          <a:noFill/>
          <a:ln/>
        </p:spPr>
        <p:txBody>
          <a:bodyPr wrap="square" lIns="0" tIns="0" rIns="0" bIns="0" rtlCol="0" anchor="t"/>
          <a:lstStyle/>
          <a:p>
            <a:pPr algn="l" indent="0" marL="0">
              <a:buNone/>
            </a:pPr>
            <a:r>
              <a:rPr lang="en-US" sz="1150" dirty="0">
                <a:solidFill>
                  <a:srgbClr val="535C6B"/>
                </a:solidFill>
                <a:latin typeface="Arial" pitchFamily="34" charset="0"/>
                <a:ea typeface="Arial" pitchFamily="34" charset="-122"/>
                <a:cs typeface="Arial" pitchFamily="34" charset="-120"/>
              </a:rPr>
              <a:t>The Foundation's audited Allowances program is the hard ceiling, x402 carries the payment, and Leash adds the rules in between.</a:t>
            </a:r>
            <a:endParaRPr lang="en-US" sz="1150" dirty="0"/>
          </a:p>
        </p:txBody>
      </p:sp>
      <p:sp>
        <p:nvSpPr>
          <p:cNvPr id="20" name="Text 15"/>
          <p:cNvSpPr txBox="1"/>
          <p:nvPr/>
        </p:nvSpPr>
        <p:spPr>
          <a:xfrm>
            <a:off x="548640" y="3840480"/>
            <a:ext cx="8046720" cy="54864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Off-chain, a firewall can be bypassed by whoever holds the key. On Solana, the agent's key alone can't move the money.</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8</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Fail-closed and non-custodial</a:t>
            </a:r>
            <a:endParaRPr lang="en-US" sz="3000" dirty="0"/>
          </a:p>
        </p:txBody>
      </p:sp>
      <p:sp>
        <p:nvSpPr>
          <p:cNvPr id="5" name="Shape 3"/>
          <p:cNvSpPr/>
          <p:nvPr/>
        </p:nvSpPr>
        <p:spPr>
          <a:xfrm>
            <a:off x="548640" y="1097280"/>
            <a:ext cx="4114800" cy="1051560"/>
          </a:xfrm>
          <a:prstGeom prst="roundRect">
            <a:avLst>
              <a:gd name="adj" fmla="val 6957"/>
            </a:avLst>
          </a:prstGeom>
          <a:solidFill>
            <a:srgbClr val="F0E9FB"/>
          </a:solidFill>
          <a:ln/>
        </p:spPr>
      </p:sp>
      <p:sp>
        <p:nvSpPr>
          <p:cNvPr id="6" name="Text 4"/>
          <p:cNvSpPr txBox="1"/>
          <p:nvPr/>
        </p:nvSpPr>
        <p:spPr>
          <a:xfrm>
            <a:off x="731520" y="1188720"/>
            <a:ext cx="3749040" cy="868680"/>
          </a:xfrm>
          <a:prstGeom prst="rect">
            <a:avLst/>
          </a:prstGeom>
          <a:noFill/>
          <a:ln/>
        </p:spPr>
        <p:txBody>
          <a:bodyPr wrap="square" lIns="0" tIns="0" rIns="0" bIns="0" rtlCol="0" anchor="ctr"/>
          <a:lstStyle/>
          <a:p>
            <a:pPr algn="l" indent="0" marL="0">
              <a:buNone/>
            </a:pPr>
            <a:r>
              <a:rPr lang="en-US" sz="1250" i="1" dirty="0">
                <a:solidFill>
                  <a:srgbClr val="0F1419"/>
                </a:solidFill>
                <a:latin typeface="Arial" pitchFamily="34" charset="0"/>
                <a:ea typeface="Arial" pitchFamily="34" charset="-122"/>
                <a:cs typeface="Arial" pitchFamily="34" charset="-120"/>
              </a:rPr>
              <a:t>“Your money never leaves your wallet. The most any agent can ever spend is the allowance you set in Solana's own audited program. Leash can only make that smaller.”</a:t>
            </a:r>
            <a:endParaRPr lang="en-US" sz="1250" dirty="0"/>
          </a:p>
        </p:txBody>
      </p:sp>
      <p:sp>
        <p:nvSpPr>
          <p:cNvPr id="7" name="Text 5"/>
          <p:cNvSpPr txBox="1"/>
          <p:nvPr/>
        </p:nvSpPr>
        <p:spPr>
          <a:xfrm>
            <a:off x="548640" y="2331720"/>
            <a:ext cx="411480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What can still go wrong</a:t>
            </a:r>
            <a:endParaRPr lang="en-US" sz="1300" dirty="0"/>
          </a:p>
        </p:txBody>
      </p:sp>
      <p:sp>
        <p:nvSpPr>
          <p:cNvPr id="8" name="Text 6"/>
          <p:cNvSpPr txBox="1"/>
          <p:nvPr/>
        </p:nvSpPr>
        <p:spPr>
          <a:xfrm>
            <a:off x="548640" y="2651760"/>
            <a:ext cx="4114800" cy="182880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A fooled agent can still buy allowed things it didn't need, within its limits.</a:t>
            </a:r>
            <a:endParaRPr lang="en-US" sz="1100" dirty="0"/>
          </a:p>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A stolen agent key can only pay allowlisted payees, within the limits.</a:t>
            </a:r>
            <a:endParaRPr lang="en-US" sz="1100" dirty="0"/>
          </a:p>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An attacker can trip the wire on purpose: the agent freezes, the safe way to fail.</a:t>
            </a:r>
            <a:endParaRPr lang="en-US" sz="1100" dirty="0"/>
          </a:p>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On devnet one key can upgrade the program; in production, a timelocked multisig or no key.</a:t>
            </a:r>
            <a:endParaRPr lang="en-US" sz="1100" dirty="0"/>
          </a:p>
        </p:txBody>
      </p:sp>
      <p:pic>
        <p:nvPicPr>
          <p:cNvPr id="9" name="Image 0" descr="preencoded.png">    </p:cNvPr>
          <p:cNvPicPr>
            <a:picLocks noChangeAspect="1"/>
          </p:cNvPicPr>
          <p:nvPr/>
        </p:nvPicPr>
        <p:blipFill>
          <a:blip r:embed="rId1"/>
          <a:stretch>
            <a:fillRect/>
          </a:stretch>
        </p:blipFill>
        <p:spPr>
          <a:xfrm>
            <a:off x="4937760" y="1097280"/>
            <a:ext cx="3657600" cy="1170432"/>
          </a:xfrm>
          <a:prstGeom prst="rect">
            <a:avLst/>
          </a:prstGeom>
        </p:spPr>
      </p:pic>
      <p:sp>
        <p:nvSpPr>
          <p:cNvPr id="10" name="Shape 7"/>
          <p:cNvSpPr/>
          <p:nvPr/>
        </p:nvSpPr>
        <p:spPr>
          <a:xfrm>
            <a:off x="4937760" y="1097280"/>
            <a:ext cx="3657600" cy="1170432"/>
          </a:xfrm>
          <a:prstGeom prst="rect">
            <a:avLst/>
          </a:prstGeom>
          <a:solidFill>
            <a:srgbClr val="FFFFFF">
              <a:alpha val="0"/>
            </a:srgbClr>
          </a:solidFill>
          <a:ln w="9525">
            <a:solidFill>
              <a:srgbClr val="DFE3EA"/>
            </a:solidFill>
            <a:prstDash val="solid"/>
          </a:ln>
        </p:spPr>
      </p:sp>
      <p:sp>
        <p:nvSpPr>
          <p:cNvPr id="11" name="Text 8"/>
          <p:cNvSpPr txBox="1"/>
          <p:nvPr/>
        </p:nvSpPr>
        <p:spPr>
          <a:xfrm>
            <a:off x="4937760" y="2340864"/>
            <a:ext cx="36576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The agent page after the attack (sample data)</a:t>
            </a:r>
            <a:endParaRPr lang="en-US" sz="900" dirty="0"/>
          </a:p>
        </p:txBody>
      </p:sp>
      <p:sp>
        <p:nvSpPr>
          <p:cNvPr id="12" name="Shape 9"/>
          <p:cNvSpPr/>
          <p:nvPr/>
        </p:nvSpPr>
        <p:spPr>
          <a:xfrm>
            <a:off x="4937760" y="2697480"/>
            <a:ext cx="365760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3" name="Shape 10"/>
          <p:cNvSpPr/>
          <p:nvPr/>
        </p:nvSpPr>
        <p:spPr>
          <a:xfrm>
            <a:off x="5120640" y="2852928"/>
            <a:ext cx="438912" cy="438912"/>
          </a:xfrm>
          <a:prstGeom prst="ellipse">
            <a:avLst/>
          </a:prstGeom>
          <a:solidFill>
            <a:srgbClr val="E6F2EE"/>
          </a:solidFill>
          <a:ln/>
        </p:spPr>
      </p:sp>
      <p:pic>
        <p:nvPicPr>
          <p:cNvPr id="14" name="Image 1" descr="preencoded.png">    </p:cNvPr>
          <p:cNvPicPr>
            <a:picLocks noChangeAspect="1"/>
          </p:cNvPicPr>
          <p:nvPr/>
        </p:nvPicPr>
        <p:blipFill>
          <a:blip r:embed="rId2"/>
          <a:stretch>
            <a:fillRect/>
          </a:stretch>
        </p:blipFill>
        <p:spPr>
          <a:xfrm>
            <a:off x="5225979" y="2958267"/>
            <a:ext cx="228234" cy="228234"/>
          </a:xfrm>
          <a:prstGeom prst="rect">
            <a:avLst/>
          </a:prstGeom>
        </p:spPr>
      </p:pic>
      <p:sp>
        <p:nvSpPr>
          <p:cNvPr id="15" name="Text 11"/>
          <p:cNvSpPr txBox="1"/>
          <p:nvPr/>
        </p:nvSpPr>
        <p:spPr>
          <a:xfrm>
            <a:off x="5687568" y="2852928"/>
            <a:ext cx="2743200" cy="438912"/>
          </a:xfrm>
          <a:prstGeom prst="rect">
            <a:avLst/>
          </a:prstGeom>
          <a:noFill/>
          <a:ln/>
        </p:spPr>
        <p:txBody>
          <a:bodyPr wrap="square" lIns="0" tIns="0" rIns="0" bIns="0" rtlCol="0" anchor="ctr"/>
          <a:lstStyle/>
          <a:p>
            <a:pPr algn="l" indent="0" marL="0">
              <a:buNone/>
            </a:pPr>
            <a:r>
              <a:rPr lang="en-US" sz="1300" b="1" dirty="0">
                <a:solidFill>
                  <a:srgbClr val="0F1419"/>
                </a:solidFill>
                <a:latin typeface="Arial" pitchFamily="34" charset="0"/>
                <a:ea typeface="Arial" pitchFamily="34" charset="-122"/>
                <a:cs typeface="Arial" pitchFamily="34" charset="-120"/>
              </a:rPr>
              <a:t>Tested on every commit</a:t>
            </a:r>
            <a:endParaRPr lang="en-US" sz="1300" dirty="0"/>
          </a:p>
        </p:txBody>
      </p:sp>
      <p:sp>
        <p:nvSpPr>
          <p:cNvPr id="16" name="Text 12"/>
          <p:cNvSpPr txBox="1"/>
          <p:nvPr/>
        </p:nvSpPr>
        <p:spPr>
          <a:xfrm>
            <a:off x="5120640" y="3429000"/>
            <a:ext cx="3291840" cy="914400"/>
          </a:xfrm>
          <a:prstGeom prst="rect">
            <a:avLst/>
          </a:prstGeom>
          <a:noFill/>
          <a:ln/>
        </p:spPr>
        <p:txBody>
          <a:bodyPr wrap="square" lIns="0" tIns="0" rIns="0" bIns="0" rtlCol="0" anchor="t"/>
          <a:lstStyle/>
          <a:p>
            <a:pPr marL="177800" indent="-177800">
              <a:spcAft>
                <a:spcPts val="400"/>
              </a:spcAft>
              <a:buSzPct val="100000"/>
              <a:buChar char="•"/>
            </a:pPr>
            <a:r>
              <a:rPr lang="en-US" sz="1100" dirty="0">
                <a:solidFill>
                  <a:srgbClr val="0F1419"/>
                </a:solidFill>
                <a:latin typeface="Arial" pitchFamily="34" charset="0"/>
                <a:ea typeface="Arial" pitchFamily="34" charset="-122"/>
                <a:cs typeface="Arial" pitchFamily="34" charset="-120"/>
              </a:rPr>
              <a:t>Six invariants</a:t>
            </a:r>
            <a:endParaRPr lang="en-US" sz="1100" dirty="0"/>
          </a:p>
          <a:p>
            <a:pPr marL="177800" indent="-177800">
              <a:spcAft>
                <a:spcPts val="400"/>
              </a:spcAft>
              <a:buSzPct val="100000"/>
              <a:buChar char="•"/>
            </a:pPr>
            <a:r>
              <a:rPr lang="en-US" sz="1100" dirty="0">
                <a:solidFill>
                  <a:srgbClr val="0F1419"/>
                </a:solidFill>
                <a:latin typeface="Arial" pitchFamily="34" charset="0"/>
                <a:ea typeface="Arial" pitchFamily="34" charset="-122"/>
                <a:cs typeface="Arial" pitchFamily="34" charset="-120"/>
              </a:rPr>
              <a:t>Account-substitution attacks</a:t>
            </a:r>
            <a:endParaRPr lang="en-US" sz="1100" dirty="0"/>
          </a:p>
          <a:p>
            <a:pPr marL="177800" indent="-177800">
              <a:spcAft>
                <a:spcPts val="400"/>
              </a:spcAft>
              <a:buSzPct val="100000"/>
              <a:buChar char="•"/>
            </a:pPr>
            <a:r>
              <a:rPr lang="en-US" sz="1100" dirty="0">
                <a:solidFill>
                  <a:srgbClr val="0F1419"/>
                </a:solidFill>
                <a:latin typeface="Arial" pitchFamily="34" charset="0"/>
                <a:ea typeface="Arial" pitchFamily="34" charset="-122"/>
                <a:cs typeface="Arial" pitchFamily="34" charset="-120"/>
              </a:rPr>
              <a:t>Random payment sequences that never exceed the allowance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9</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Working today</a:t>
            </a:r>
            <a:endParaRPr lang="en-US" sz="3000" dirty="0"/>
          </a:p>
        </p:txBody>
      </p:sp>
      <p:sp>
        <p:nvSpPr>
          <p:cNvPr id="5" name="Shape 3"/>
          <p:cNvSpPr/>
          <p:nvPr/>
        </p:nvSpPr>
        <p:spPr>
          <a:xfrm>
            <a:off x="548640" y="1051560"/>
            <a:ext cx="914400" cy="292608"/>
          </a:xfrm>
          <a:prstGeom prst="roundRect">
            <a:avLst>
              <a:gd name="adj" fmla="val 312500"/>
            </a:avLst>
          </a:prstGeom>
          <a:solidFill>
            <a:srgbClr val="E6F2EE"/>
          </a:solidFill>
          <a:ln/>
        </p:spPr>
      </p:sp>
      <p:pic>
        <p:nvPicPr>
          <p:cNvPr id="6" name="Image 0" descr="preencoded.png">    </p:cNvPr>
          <p:cNvPicPr>
            <a:picLocks noChangeAspect="1"/>
          </p:cNvPicPr>
          <p:nvPr/>
        </p:nvPicPr>
        <p:blipFill>
          <a:blip r:embed="rId1"/>
          <a:stretch>
            <a:fillRect/>
          </a:stretch>
        </p:blipFill>
        <p:spPr>
          <a:xfrm>
            <a:off x="642275" y="1115934"/>
            <a:ext cx="163860" cy="163860"/>
          </a:xfrm>
          <a:prstGeom prst="rect">
            <a:avLst/>
          </a:prstGeom>
        </p:spPr>
      </p:pic>
      <p:sp>
        <p:nvSpPr>
          <p:cNvPr id="7" name="Text 4"/>
          <p:cNvSpPr txBox="1"/>
          <p:nvPr/>
        </p:nvSpPr>
        <p:spPr>
          <a:xfrm>
            <a:off x="860999" y="1051560"/>
            <a:ext cx="547177" cy="292608"/>
          </a:xfrm>
          <a:prstGeom prst="rect">
            <a:avLst/>
          </a:prstGeom>
          <a:noFill/>
          <a:ln/>
        </p:spPr>
        <p:txBody>
          <a:bodyPr wrap="square" lIns="0" tIns="0" rIns="0" bIns="0" rtlCol="0" anchor="ctr"/>
          <a:lstStyle/>
          <a:p>
            <a:pPr algn="l" indent="0" marL="0">
              <a:buNone/>
            </a:pPr>
            <a:r>
              <a:rPr lang="en-US" sz="1050" b="1" dirty="0">
                <a:solidFill>
                  <a:srgbClr val="047857"/>
                </a:solidFill>
                <a:latin typeface="Arial" pitchFamily="34" charset="0"/>
                <a:ea typeface="Arial" pitchFamily="34" charset="-122"/>
                <a:cs typeface="Arial" pitchFamily="34" charset="-120"/>
              </a:rPr>
              <a:t>Done</a:t>
            </a:r>
            <a:endParaRPr lang="en-US" sz="1050" dirty="0"/>
          </a:p>
        </p:txBody>
      </p:sp>
      <p:pic>
        <p:nvPicPr>
          <p:cNvPr id="8" name="Image 1" descr="preencoded.png">    </p:cNvPr>
          <p:cNvPicPr>
            <a:picLocks noChangeAspect="1"/>
          </p:cNvPicPr>
          <p:nvPr/>
        </p:nvPicPr>
        <p:blipFill>
          <a:blip r:embed="rId2"/>
          <a:stretch>
            <a:fillRect/>
          </a:stretch>
        </p:blipFill>
        <p:spPr>
          <a:xfrm>
            <a:off x="548640" y="1481328"/>
            <a:ext cx="201168" cy="201168"/>
          </a:xfrm>
          <a:prstGeom prst="rect">
            <a:avLst/>
          </a:prstGeom>
        </p:spPr>
      </p:pic>
      <p:sp>
        <p:nvSpPr>
          <p:cNvPr id="9" name="Text 5"/>
          <p:cNvSpPr txBox="1"/>
          <p:nvPr/>
        </p:nvSpPr>
        <p:spPr>
          <a:xfrm>
            <a:off x="868680" y="146304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Leash program, live on devnet</a:t>
            </a:r>
            <a:endParaRPr lang="en-US" sz="1150" dirty="0"/>
          </a:p>
        </p:txBody>
      </p:sp>
      <p:pic>
        <p:nvPicPr>
          <p:cNvPr id="10" name="Image 2" descr="preencoded.png">    </p:cNvPr>
          <p:cNvPicPr>
            <a:picLocks noChangeAspect="1"/>
          </p:cNvPicPr>
          <p:nvPr/>
        </p:nvPicPr>
        <p:blipFill>
          <a:blip r:embed="rId3"/>
          <a:stretch>
            <a:fillRect/>
          </a:stretch>
        </p:blipFill>
        <p:spPr>
          <a:xfrm>
            <a:off x="548640" y="1801368"/>
            <a:ext cx="201168" cy="201168"/>
          </a:xfrm>
          <a:prstGeom prst="rect">
            <a:avLst/>
          </a:prstGeom>
        </p:spPr>
      </p:pic>
      <p:sp>
        <p:nvSpPr>
          <p:cNvPr id="11" name="Text 6"/>
          <p:cNvSpPr txBox="1"/>
          <p:nvPr/>
        </p:nvSpPr>
        <p:spPr>
          <a:xfrm>
            <a:off x="868680" y="178308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60 policy cases agree in TypeScript, in Rust and on the deployed binary</a:t>
            </a:r>
            <a:endParaRPr lang="en-US" sz="1150" dirty="0"/>
          </a:p>
        </p:txBody>
      </p:sp>
      <p:pic>
        <p:nvPicPr>
          <p:cNvPr id="12" name="Image 3" descr="preencoded.png">    </p:cNvPr>
          <p:cNvPicPr>
            <a:picLocks noChangeAspect="1"/>
          </p:cNvPicPr>
          <p:nvPr/>
        </p:nvPicPr>
        <p:blipFill>
          <a:blip r:embed="rId4"/>
          <a:stretch>
            <a:fillRect/>
          </a:stretch>
        </p:blipFill>
        <p:spPr>
          <a:xfrm>
            <a:off x="548640" y="2121408"/>
            <a:ext cx="201168" cy="201168"/>
          </a:xfrm>
          <a:prstGeom prst="rect">
            <a:avLst/>
          </a:prstGeom>
        </p:spPr>
      </p:pic>
      <p:sp>
        <p:nvSpPr>
          <p:cNvPr id="13" name="Text 7"/>
          <p:cNvSpPr txBox="1"/>
          <p:nvPr/>
        </p:nvSpPr>
        <p:spPr>
          <a:xfrm>
            <a:off x="868680" y="210312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x402 payments through the unmodified official facilitator, on devnet too</a:t>
            </a:r>
            <a:endParaRPr lang="en-US" sz="1150" dirty="0"/>
          </a:p>
        </p:txBody>
      </p:sp>
      <p:pic>
        <p:nvPicPr>
          <p:cNvPr id="14" name="Image 4" descr="preencoded.png">    </p:cNvPr>
          <p:cNvPicPr>
            <a:picLocks noChangeAspect="1"/>
          </p:cNvPicPr>
          <p:nvPr/>
        </p:nvPicPr>
        <p:blipFill>
          <a:blip r:embed="rId5"/>
          <a:stretch>
            <a:fillRect/>
          </a:stretch>
        </p:blipFill>
        <p:spPr>
          <a:xfrm>
            <a:off x="548640" y="2441448"/>
            <a:ext cx="201168" cy="201168"/>
          </a:xfrm>
          <a:prstGeom prst="rect">
            <a:avLst/>
          </a:prstGeom>
        </p:spPr>
      </p:pic>
      <p:sp>
        <p:nvSpPr>
          <p:cNvPr id="15" name="Text 8"/>
          <p:cNvSpPr txBox="1"/>
          <p:nvPr/>
        </p:nvSpPr>
        <p:spPr>
          <a:xfrm>
            <a:off x="868680" y="242316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Claude Code connects to the Leash MCP server</a:t>
            </a:r>
            <a:endParaRPr lang="en-US" sz="1150" dirty="0"/>
          </a:p>
        </p:txBody>
      </p:sp>
      <p:pic>
        <p:nvPicPr>
          <p:cNvPr id="16" name="Image 5" descr="preencoded.png">    </p:cNvPr>
          <p:cNvPicPr>
            <a:picLocks noChangeAspect="1"/>
          </p:cNvPicPr>
          <p:nvPr/>
        </p:nvPicPr>
        <p:blipFill>
          <a:blip r:embed="rId6"/>
          <a:stretch>
            <a:fillRect/>
          </a:stretch>
        </p:blipFill>
        <p:spPr>
          <a:xfrm>
            <a:off x="548640" y="2761488"/>
            <a:ext cx="201168" cy="201168"/>
          </a:xfrm>
          <a:prstGeom prst="rect">
            <a:avLst/>
          </a:prstGeom>
        </p:spPr>
      </p:pic>
      <p:sp>
        <p:nvSpPr>
          <p:cNvPr id="17" name="Text 9"/>
          <p:cNvSpPr txBox="1"/>
          <p:nvPr/>
        </p:nvSpPr>
        <p:spPr>
          <a:xfrm>
            <a:off x="868680" y="274320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whole story: on devnet, in CI, and in one command</a:t>
            </a:r>
            <a:endParaRPr lang="en-US" sz="1150" dirty="0"/>
          </a:p>
        </p:txBody>
      </p:sp>
      <p:pic>
        <p:nvPicPr>
          <p:cNvPr id="18" name="Image 6" descr="preencoded.png">    </p:cNvPr>
          <p:cNvPicPr>
            <a:picLocks noChangeAspect="1"/>
          </p:cNvPicPr>
          <p:nvPr/>
        </p:nvPicPr>
        <p:blipFill>
          <a:blip r:embed="rId7"/>
          <a:stretch>
            <a:fillRect/>
          </a:stretch>
        </p:blipFill>
        <p:spPr>
          <a:xfrm>
            <a:off x="548640" y="3081528"/>
            <a:ext cx="201168" cy="201168"/>
          </a:xfrm>
          <a:prstGeom prst="rect">
            <a:avLst/>
          </a:prstGeom>
        </p:spPr>
      </p:pic>
      <p:sp>
        <p:nvSpPr>
          <p:cNvPr id="19" name="Text 10"/>
          <p:cNvSpPr txBox="1"/>
          <p:nvPr/>
        </p:nvSpPr>
        <p:spPr>
          <a:xfrm>
            <a:off x="868680" y="306324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control panel that updates live from the indexer's stream</a:t>
            </a:r>
            <a:endParaRPr lang="en-US" sz="1150" dirty="0"/>
          </a:p>
        </p:txBody>
      </p:sp>
      <p:pic>
        <p:nvPicPr>
          <p:cNvPr id="20" name="Image 7" descr="preencoded.png">    </p:cNvPr>
          <p:cNvPicPr>
            <a:picLocks noChangeAspect="1"/>
          </p:cNvPicPr>
          <p:nvPr/>
        </p:nvPicPr>
        <p:blipFill>
          <a:blip r:embed="rId8"/>
          <a:stretch>
            <a:fillRect/>
          </a:stretch>
        </p:blipFill>
        <p:spPr>
          <a:xfrm>
            <a:off x="548640" y="3401568"/>
            <a:ext cx="201168" cy="201168"/>
          </a:xfrm>
          <a:prstGeom prst="rect">
            <a:avLst/>
          </a:prstGeom>
        </p:spPr>
      </p:pic>
      <p:sp>
        <p:nvSpPr>
          <p:cNvPr id="21" name="Text 11"/>
          <p:cNvSpPr txBox="1"/>
          <p:nvPr/>
        </p:nvSpPr>
        <p:spPr>
          <a:xfrm>
            <a:off x="868680" y="338328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Pairing, approve, freeze and unfreeze in the web app</a:t>
            </a:r>
            <a:endParaRPr lang="en-US" sz="1150" dirty="0"/>
          </a:p>
        </p:txBody>
      </p:sp>
      <p:pic>
        <p:nvPicPr>
          <p:cNvPr id="22" name="Image 8" descr="preencoded.png">    </p:cNvPr>
          <p:cNvPicPr>
            <a:picLocks noChangeAspect="1"/>
          </p:cNvPicPr>
          <p:nvPr/>
        </p:nvPicPr>
        <p:blipFill>
          <a:blip r:embed="rId9"/>
          <a:stretch>
            <a:fillRect/>
          </a:stretch>
        </p:blipFill>
        <p:spPr>
          <a:xfrm>
            <a:off x="548640" y="3721608"/>
            <a:ext cx="201168" cy="201168"/>
          </a:xfrm>
          <a:prstGeom prst="rect">
            <a:avLst/>
          </a:prstGeom>
        </p:spPr>
      </p:pic>
      <p:sp>
        <p:nvSpPr>
          <p:cNvPr id="23" name="Text 12"/>
          <p:cNvSpPr txBox="1"/>
          <p:nvPr/>
        </p:nvSpPr>
        <p:spPr>
          <a:xfrm>
            <a:off x="868680" y="370332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Sentinel's alerts on a real phone, and the guardian's autofreeze</a:t>
            </a:r>
            <a:endParaRPr lang="en-US" sz="1150" dirty="0"/>
          </a:p>
        </p:txBody>
      </p:sp>
      <p:pic>
        <p:nvPicPr>
          <p:cNvPr id="24" name="Image 9" descr="preencoded.png">    </p:cNvPr>
          <p:cNvPicPr>
            <a:picLocks noChangeAspect="1"/>
          </p:cNvPicPr>
          <p:nvPr/>
        </p:nvPicPr>
        <p:blipFill>
          <a:blip r:embed="rId10"/>
          <a:stretch>
            <a:fillRect/>
          </a:stretch>
        </p:blipFill>
        <p:spPr>
          <a:xfrm>
            <a:off x="548640" y="4041648"/>
            <a:ext cx="201168" cy="201168"/>
          </a:xfrm>
          <a:prstGeom prst="rect">
            <a:avLst/>
          </a:prstGeom>
        </p:spPr>
      </p:pic>
      <p:sp>
        <p:nvSpPr>
          <p:cNvPr id="25" name="Text 13"/>
          <p:cNvSpPr txBox="1"/>
          <p:nvPr/>
        </p:nvSpPr>
        <p:spPr>
          <a:xfrm>
            <a:off x="868680" y="402336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Solana Actions (Blinks): approve or freeze from a link</a:t>
            </a:r>
            <a:endParaRPr lang="en-US" sz="1150" dirty="0"/>
          </a:p>
        </p:txBody>
      </p:sp>
      <p:pic>
        <p:nvPicPr>
          <p:cNvPr id="26" name="Image 10" descr="preencoded.png">    </p:cNvPr>
          <p:cNvPicPr>
            <a:picLocks noChangeAspect="1"/>
          </p:cNvPicPr>
          <p:nvPr/>
        </p:nvPicPr>
        <p:blipFill>
          <a:blip r:embed="rId11"/>
          <a:stretch>
            <a:fillRect/>
          </a:stretch>
        </p:blipFill>
        <p:spPr>
          <a:xfrm>
            <a:off x="548640" y="4361688"/>
            <a:ext cx="201168" cy="201168"/>
          </a:xfrm>
          <a:prstGeom prst="rect">
            <a:avLst/>
          </a:prstGeom>
        </p:spPr>
      </p:pic>
      <p:sp>
        <p:nvSpPr>
          <p:cNvPr id="27" name="Text 14"/>
          <p:cNvSpPr txBox="1"/>
          <p:nvPr/>
        </p:nvSpPr>
        <p:spPr>
          <a:xfrm>
            <a:off x="868680" y="434340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security CI job runs the invariant tests by name</a:t>
            </a:r>
            <a:endParaRPr lang="en-US" sz="1150" dirty="0"/>
          </a:p>
        </p:txBody>
      </p:sp>
      <p:sp>
        <p:nvSpPr>
          <p:cNvPr id="28" name="Shape 15"/>
          <p:cNvSpPr/>
          <p:nvPr/>
        </p:nvSpPr>
        <p:spPr>
          <a:xfrm>
            <a:off x="5669280" y="1051560"/>
            <a:ext cx="1325880" cy="292608"/>
          </a:xfrm>
          <a:prstGeom prst="roundRect">
            <a:avLst>
              <a:gd name="adj" fmla="val 312500"/>
            </a:avLst>
          </a:prstGeom>
          <a:solidFill>
            <a:srgbClr val="F8EEE6"/>
          </a:solidFill>
          <a:ln/>
        </p:spPr>
      </p:sp>
      <p:pic>
        <p:nvPicPr>
          <p:cNvPr id="29" name="Image 11" descr="preencoded.png">    </p:cNvPr>
          <p:cNvPicPr>
            <a:picLocks noChangeAspect="1"/>
          </p:cNvPicPr>
          <p:nvPr/>
        </p:nvPicPr>
        <p:blipFill>
          <a:blip r:embed="rId12"/>
          <a:stretch>
            <a:fillRect/>
          </a:stretch>
        </p:blipFill>
        <p:spPr>
          <a:xfrm>
            <a:off x="5762915" y="1115934"/>
            <a:ext cx="163860" cy="163860"/>
          </a:xfrm>
          <a:prstGeom prst="rect">
            <a:avLst/>
          </a:prstGeom>
        </p:spPr>
      </p:pic>
      <p:sp>
        <p:nvSpPr>
          <p:cNvPr id="30" name="Text 16"/>
          <p:cNvSpPr txBox="1"/>
          <p:nvPr/>
        </p:nvSpPr>
        <p:spPr>
          <a:xfrm>
            <a:off x="5981639" y="1051560"/>
            <a:ext cx="958657" cy="292608"/>
          </a:xfrm>
          <a:prstGeom prst="rect">
            <a:avLst/>
          </a:prstGeom>
          <a:noFill/>
          <a:ln/>
        </p:spPr>
        <p:txBody>
          <a:bodyPr wrap="square" lIns="0" tIns="0" rIns="0" bIns="0" rtlCol="0" anchor="ctr"/>
          <a:lstStyle/>
          <a:p>
            <a:pPr algn="l" indent="0" marL="0">
              <a:buNone/>
            </a:pPr>
            <a:r>
              <a:rPr lang="en-US" sz="1050" b="1" dirty="0">
                <a:solidFill>
                  <a:srgbClr val="B45309"/>
                </a:solidFill>
                <a:latin typeface="Arial" pitchFamily="34" charset="0"/>
                <a:ea typeface="Arial" pitchFamily="34" charset="-122"/>
                <a:cs typeface="Arial" pitchFamily="34" charset="-120"/>
              </a:rPr>
              <a:t>In progress</a:t>
            </a:r>
            <a:endParaRPr lang="en-US" sz="1050" dirty="0"/>
          </a:p>
        </p:txBody>
      </p:sp>
      <p:pic>
        <p:nvPicPr>
          <p:cNvPr id="31" name="Image 12" descr="preencoded.png">    </p:cNvPr>
          <p:cNvPicPr>
            <a:picLocks noChangeAspect="1"/>
          </p:cNvPicPr>
          <p:nvPr/>
        </p:nvPicPr>
        <p:blipFill>
          <a:blip r:embed="rId13"/>
          <a:stretch>
            <a:fillRect/>
          </a:stretch>
        </p:blipFill>
        <p:spPr>
          <a:xfrm>
            <a:off x="5669280" y="1499616"/>
            <a:ext cx="182880" cy="182880"/>
          </a:xfrm>
          <a:prstGeom prst="rect">
            <a:avLst/>
          </a:prstGeom>
        </p:spPr>
      </p:pic>
      <p:sp>
        <p:nvSpPr>
          <p:cNvPr id="32" name="Text 17"/>
          <p:cNvSpPr txBox="1"/>
          <p:nvPr/>
        </p:nvSpPr>
        <p:spPr>
          <a:xfrm>
            <a:off x="5961888" y="1481328"/>
            <a:ext cx="2606040" cy="38404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control panel with a real wallet, on devnet</a:t>
            </a:r>
            <a:endParaRPr lang="en-US" sz="1150" dirty="0"/>
          </a:p>
        </p:txBody>
      </p:sp>
      <p:sp>
        <p:nvSpPr>
          <p:cNvPr id="33" name="Shape 18"/>
          <p:cNvSpPr/>
          <p:nvPr/>
        </p:nvSpPr>
        <p:spPr>
          <a:xfrm>
            <a:off x="5669280" y="3063240"/>
            <a:ext cx="2926080" cy="1234440"/>
          </a:xfrm>
          <a:prstGeom prst="roundRect">
            <a:avLst>
              <a:gd name="adj" fmla="val 5926"/>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34" name="Text 19"/>
          <p:cNvSpPr txBox="1"/>
          <p:nvPr/>
        </p:nvSpPr>
        <p:spPr>
          <a:xfrm>
            <a:off x="5897880" y="3200400"/>
            <a:ext cx="2560320" cy="548640"/>
          </a:xfrm>
          <a:prstGeom prst="rect">
            <a:avLst/>
          </a:prstGeom>
          <a:noFill/>
          <a:ln/>
        </p:spPr>
        <p:txBody>
          <a:bodyPr wrap="square" lIns="0" tIns="0" rIns="0" bIns="0" rtlCol="0" anchor="ctr"/>
          <a:lstStyle/>
          <a:p>
            <a:pPr algn="l" indent="0" marL="0">
              <a:buNone/>
            </a:pPr>
            <a:r>
              <a:rPr lang="en-US" sz="3600" b="1" dirty="0">
                <a:solidFill>
                  <a:srgbClr val="6D28D9"/>
                </a:solidFill>
                <a:latin typeface="Arial" pitchFamily="34" charset="0"/>
                <a:ea typeface="Arial" pitchFamily="34" charset="-122"/>
                <a:cs typeface="Arial" pitchFamily="34" charset="-120"/>
              </a:rPr>
              <a:t>985</a:t>
            </a:r>
            <a:endParaRPr lang="en-US" sz="3600" dirty="0"/>
          </a:p>
        </p:txBody>
      </p:sp>
      <p:sp>
        <p:nvSpPr>
          <p:cNvPr id="35" name="Text 20"/>
          <p:cNvSpPr txBox="1"/>
          <p:nvPr/>
        </p:nvSpPr>
        <p:spPr>
          <a:xfrm>
            <a:off x="5897880" y="3749040"/>
            <a:ext cx="2560320" cy="228600"/>
          </a:xfrm>
          <a:prstGeom prst="rect">
            <a:avLst/>
          </a:prstGeom>
          <a:noFill/>
          <a:ln/>
        </p:spPr>
        <p:txBody>
          <a:bodyPr wrap="square" lIns="0" tIns="0" rIns="0" bIns="0" rtlCol="0" anchor="t"/>
          <a:lstStyle/>
          <a:p>
            <a:pPr algn="l" indent="0" marL="0">
              <a:buNone/>
            </a:pPr>
            <a:r>
              <a:rPr lang="en-US" sz="1100" dirty="0">
                <a:solidFill>
                  <a:srgbClr val="0F1419"/>
                </a:solidFill>
                <a:latin typeface="Arial" pitchFamily="34" charset="0"/>
                <a:ea typeface="Arial" pitchFamily="34" charset="-122"/>
                <a:cs typeface="Arial" pitchFamily="34" charset="-120"/>
              </a:rPr>
              <a:t>automated tests, run on every commit</a:t>
            </a:r>
            <a:endParaRPr lang="en-US" sz="1100" dirty="0"/>
          </a:p>
        </p:txBody>
      </p:sp>
      <p:sp>
        <p:nvSpPr>
          <p:cNvPr id="36" name="Text 21"/>
          <p:cNvSpPr txBox="1"/>
          <p:nvPr/>
        </p:nvSpPr>
        <p:spPr>
          <a:xfrm>
            <a:off x="5897880" y="3986784"/>
            <a:ext cx="2560320" cy="201168"/>
          </a:xfrm>
          <a:prstGeom prst="rect">
            <a:avLst/>
          </a:prstGeom>
          <a:noFill/>
          <a:ln/>
        </p:spPr>
        <p:txBody>
          <a:bodyPr wrap="square" lIns="0" tIns="0" rIns="0" bIns="0" rtlCol="0" anchor="t"/>
          <a:lstStyle/>
          <a:p>
            <a:pPr algn="l" indent="0" marL="0">
              <a:buNone/>
            </a:pPr>
            <a:r>
              <a:rPr lang="en-US" sz="1000" dirty="0">
                <a:solidFill>
                  <a:srgbClr val="535C6B"/>
                </a:solidFill>
                <a:latin typeface="Arial" pitchFamily="34" charset="0"/>
                <a:ea typeface="Arial" pitchFamily="34" charset="-122"/>
                <a:cs typeface="Arial" pitchFamily="34" charset="-120"/>
              </a:rPr>
              <a:t>857 TypeScript · 128 Rust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10</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First users</a:t>
            </a:r>
            <a:endParaRPr lang="en-US" sz="3000" dirty="0"/>
          </a:p>
        </p:txBody>
      </p:sp>
      <p:sp>
        <p:nvSpPr>
          <p:cNvPr id="5" name="Shape 3"/>
          <p:cNvSpPr/>
          <p:nvPr/>
        </p:nvSpPr>
        <p:spPr>
          <a:xfrm>
            <a:off x="548640" y="1051560"/>
            <a:ext cx="384048" cy="384048"/>
          </a:xfrm>
          <a:prstGeom prst="ellipse">
            <a:avLst/>
          </a:prstGeom>
          <a:solidFill>
            <a:srgbClr val="F0E9FB"/>
          </a:solidFill>
          <a:ln/>
        </p:spPr>
      </p:sp>
      <p:pic>
        <p:nvPicPr>
          <p:cNvPr id="6" name="Image 0" descr="preencoded.png">    </p:cNvPr>
          <p:cNvPicPr>
            <a:picLocks noChangeAspect="1"/>
          </p:cNvPicPr>
          <p:nvPr/>
        </p:nvPicPr>
        <p:blipFill>
          <a:blip r:embed="rId1"/>
          <a:stretch>
            <a:fillRect/>
          </a:stretch>
        </p:blipFill>
        <p:spPr>
          <a:xfrm>
            <a:off x="640812" y="1143732"/>
            <a:ext cx="199705" cy="199705"/>
          </a:xfrm>
          <a:prstGeom prst="rect">
            <a:avLst/>
          </a:prstGeom>
        </p:spPr>
      </p:pic>
      <p:sp>
        <p:nvSpPr>
          <p:cNvPr id="7" name="Text 4"/>
          <p:cNvSpPr txBox="1"/>
          <p:nvPr/>
        </p:nvSpPr>
        <p:spPr>
          <a:xfrm>
            <a:off x="1051560" y="1069848"/>
            <a:ext cx="39319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Who</a:t>
            </a:r>
            <a:endParaRPr lang="en-US" sz="1300" dirty="0"/>
          </a:p>
        </p:txBody>
      </p:sp>
      <p:sp>
        <p:nvSpPr>
          <p:cNvPr id="8" name="Text 5"/>
          <p:cNvSpPr txBox="1"/>
          <p:nvPr/>
        </p:nvSpPr>
        <p:spPr>
          <a:xfrm>
            <a:off x="1051560" y="1362456"/>
            <a:ext cx="3931920" cy="41148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Developers and small teams whose agents pay for APIs and services over x402: the teams big platforms ignore.</a:t>
            </a:r>
            <a:endParaRPr lang="en-US" sz="1150" dirty="0"/>
          </a:p>
        </p:txBody>
      </p:sp>
      <p:sp>
        <p:nvSpPr>
          <p:cNvPr id="9" name="Shape 6"/>
          <p:cNvSpPr/>
          <p:nvPr/>
        </p:nvSpPr>
        <p:spPr>
          <a:xfrm>
            <a:off x="548640" y="1956816"/>
            <a:ext cx="384048" cy="384048"/>
          </a:xfrm>
          <a:prstGeom prst="ellipse">
            <a:avLst/>
          </a:prstGeom>
          <a:solidFill>
            <a:srgbClr val="F0E9FB"/>
          </a:solidFill>
          <a:ln/>
        </p:spPr>
      </p:sp>
      <p:pic>
        <p:nvPicPr>
          <p:cNvPr id="10" name="Image 1" descr="preencoded.png">    </p:cNvPr>
          <p:cNvPicPr>
            <a:picLocks noChangeAspect="1"/>
          </p:cNvPicPr>
          <p:nvPr/>
        </p:nvPicPr>
        <p:blipFill>
          <a:blip r:embed="rId2"/>
          <a:stretch>
            <a:fillRect/>
          </a:stretch>
        </p:blipFill>
        <p:spPr>
          <a:xfrm>
            <a:off x="640812" y="2048988"/>
            <a:ext cx="199705" cy="199705"/>
          </a:xfrm>
          <a:prstGeom prst="rect">
            <a:avLst/>
          </a:prstGeom>
        </p:spPr>
      </p:pic>
      <p:sp>
        <p:nvSpPr>
          <p:cNvPr id="11" name="Text 7"/>
          <p:cNvSpPr txBox="1"/>
          <p:nvPr/>
        </p:nvSpPr>
        <p:spPr>
          <a:xfrm>
            <a:off x="1051560" y="1975104"/>
            <a:ext cx="39319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How we reach them</a:t>
            </a:r>
            <a:endParaRPr lang="en-US" sz="1300" dirty="0"/>
          </a:p>
        </p:txBody>
      </p:sp>
      <p:sp>
        <p:nvSpPr>
          <p:cNvPr id="12" name="Text 8"/>
          <p:cNvSpPr txBox="1"/>
          <p:nvPr/>
        </p:nvSpPr>
        <p:spPr>
          <a:xfrm>
            <a:off x="1051560" y="2267712"/>
            <a:ext cx="393192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MCP server: one config line gives Claude Code, Claude Desktop or Cursor a wallet on a leash. And x402 facilitators: two settings changes.</a:t>
            </a:r>
            <a:endParaRPr lang="en-US" sz="1150" dirty="0"/>
          </a:p>
        </p:txBody>
      </p:sp>
      <p:sp>
        <p:nvSpPr>
          <p:cNvPr id="13" name="Shape 9"/>
          <p:cNvSpPr/>
          <p:nvPr/>
        </p:nvSpPr>
        <p:spPr>
          <a:xfrm>
            <a:off x="548640" y="3044952"/>
            <a:ext cx="384048" cy="384048"/>
          </a:xfrm>
          <a:prstGeom prst="ellipse">
            <a:avLst/>
          </a:prstGeom>
          <a:solidFill>
            <a:srgbClr val="F0E9FB"/>
          </a:solidFill>
          <a:ln/>
        </p:spPr>
      </p:sp>
      <p:pic>
        <p:nvPicPr>
          <p:cNvPr id="14" name="Image 2" descr="preencoded.png">    </p:cNvPr>
          <p:cNvPicPr>
            <a:picLocks noChangeAspect="1"/>
          </p:cNvPicPr>
          <p:nvPr/>
        </p:nvPicPr>
        <p:blipFill>
          <a:blip r:embed="rId3"/>
          <a:stretch>
            <a:fillRect/>
          </a:stretch>
        </p:blipFill>
        <p:spPr>
          <a:xfrm>
            <a:off x="640812" y="3137124"/>
            <a:ext cx="199705" cy="199705"/>
          </a:xfrm>
          <a:prstGeom prst="rect">
            <a:avLst/>
          </a:prstGeom>
        </p:spPr>
      </p:pic>
      <p:sp>
        <p:nvSpPr>
          <p:cNvPr id="15" name="Text 10"/>
          <p:cNvSpPr txBox="1"/>
          <p:nvPr/>
        </p:nvSpPr>
        <p:spPr>
          <a:xfrm>
            <a:off x="1051560" y="3063240"/>
            <a:ext cx="39319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What we know so far</a:t>
            </a:r>
            <a:endParaRPr lang="en-US" sz="1300" dirty="0"/>
          </a:p>
        </p:txBody>
      </p:sp>
      <p:sp>
        <p:nvSpPr>
          <p:cNvPr id="16" name="Text 11"/>
          <p:cNvSpPr txBox="1"/>
          <p:nvPr/>
        </p:nvSpPr>
        <p:spPr>
          <a:xfrm>
            <a:off x="1051560" y="3355848"/>
            <a:ext cx="393192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No conversations with users yet. Next: five conversations with developers whose agents pay for APIs (Superteam Germany, x402 builders, MCP users).</a:t>
            </a:r>
            <a:endParaRPr lang="en-US" sz="1150" dirty="0"/>
          </a:p>
        </p:txBody>
      </p:sp>
      <p:sp>
        <p:nvSpPr>
          <p:cNvPr id="17" name="Shape 12"/>
          <p:cNvSpPr/>
          <p:nvPr/>
        </p:nvSpPr>
        <p:spPr>
          <a:xfrm>
            <a:off x="1051560" y="4023360"/>
            <a:ext cx="3931920" cy="310896"/>
          </a:xfrm>
          <a:prstGeom prst="roundRect">
            <a:avLst>
              <a:gd name="adj" fmla="val 294118"/>
            </a:avLst>
          </a:prstGeom>
          <a:solidFill>
            <a:srgbClr val="F8EEE6"/>
          </a:solidFill>
          <a:ln/>
        </p:spPr>
      </p:sp>
      <p:sp>
        <p:nvSpPr>
          <p:cNvPr id="18" name="Text 13"/>
          <p:cNvSpPr txBox="1"/>
          <p:nvPr/>
        </p:nvSpPr>
        <p:spPr>
          <a:xfrm>
            <a:off x="1051560" y="4023360"/>
            <a:ext cx="3931920" cy="310896"/>
          </a:xfrm>
          <a:prstGeom prst="rect">
            <a:avLst/>
          </a:prstGeom>
          <a:noFill/>
          <a:ln/>
        </p:spPr>
        <p:txBody>
          <a:bodyPr wrap="square" lIns="0" tIns="0" rIns="0" bIns="0" rtlCol="0" anchor="ctr"/>
          <a:lstStyle/>
          <a:p>
            <a:pPr algn="ctr" indent="0" marL="0">
              <a:buNone/>
            </a:pPr>
            <a:r>
              <a:rPr lang="en-US" sz="900" b="1" dirty="0">
                <a:solidFill>
                  <a:srgbClr val="B45309"/>
                </a:solidFill>
                <a:latin typeface="Arial" pitchFamily="34" charset="0"/>
                <a:ea typeface="Arial" pitchFamily="34" charset="-122"/>
                <a:cs typeface="Arial" pitchFamily="34" charset="-120"/>
              </a:rPr>
              <a:t>[Parth: replace with who you talked to and what they said]</a:t>
            </a:r>
            <a:endParaRPr lang="en-US" sz="900" dirty="0"/>
          </a:p>
        </p:txBody>
      </p:sp>
      <p:sp>
        <p:nvSpPr>
          <p:cNvPr id="19" name="Shape 14"/>
          <p:cNvSpPr/>
          <p:nvPr/>
        </p:nvSpPr>
        <p:spPr>
          <a:xfrm>
            <a:off x="5257800" y="1051560"/>
            <a:ext cx="3337560" cy="3291840"/>
          </a:xfrm>
          <a:prstGeom prst="roundRect">
            <a:avLst>
              <a:gd name="adj" fmla="val 2222"/>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20" name="Text 15"/>
          <p:cNvSpPr txBox="1"/>
          <p:nvPr/>
        </p:nvSpPr>
        <p:spPr>
          <a:xfrm>
            <a:off x="5440680" y="1188720"/>
            <a:ext cx="30175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Others in the space</a:t>
            </a:r>
            <a:endParaRPr lang="en-US" sz="1300" dirty="0"/>
          </a:p>
        </p:txBody>
      </p:sp>
      <p:sp>
        <p:nvSpPr>
          <p:cNvPr id="21" name="Text 16"/>
          <p:cNvSpPr txBox="1"/>
          <p:nvPr/>
        </p:nvSpPr>
        <p:spPr>
          <a:xfrm>
            <a:off x="5440680" y="1572768"/>
            <a:ext cx="3017520" cy="201168"/>
          </a:xfrm>
          <a:prstGeom prst="rect">
            <a:avLst/>
          </a:prstGeom>
          <a:noFill/>
          <a:ln/>
        </p:spPr>
        <p:txBody>
          <a:bodyPr wrap="square" lIns="0" tIns="0" rIns="0" bIns="0" rtlCol="0" anchor="t"/>
          <a:lstStyle/>
          <a:p>
            <a:pPr algn="l" indent="0" marL="0">
              <a:buNone/>
            </a:pPr>
            <a:r>
              <a:rPr lang="en-US" sz="1100" b="1" dirty="0">
                <a:solidFill>
                  <a:srgbClr val="0F1419"/>
                </a:solidFill>
                <a:latin typeface="Arial" pitchFamily="34" charset="0"/>
                <a:ea typeface="Arial" pitchFamily="34" charset="-122"/>
                <a:cs typeface="Arial" pitchFamily="34" charset="-120"/>
              </a:rPr>
              <a:t>Swig, Squads</a:t>
            </a:r>
            <a:endParaRPr lang="en-US" sz="1100" dirty="0"/>
          </a:p>
        </p:txBody>
      </p:sp>
      <p:sp>
        <p:nvSpPr>
          <p:cNvPr id="22" name="Text 17"/>
          <p:cNvSpPr txBox="1"/>
          <p:nvPr/>
        </p:nvSpPr>
        <p:spPr>
          <a:xfrm>
            <a:off x="5440680" y="1773936"/>
            <a:ext cx="3017520" cy="210312"/>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Smart-account wallets with spending limits</a:t>
            </a:r>
            <a:endParaRPr lang="en-US" sz="1050" dirty="0"/>
          </a:p>
        </p:txBody>
      </p:sp>
      <p:sp>
        <p:nvSpPr>
          <p:cNvPr id="23" name="Text 18"/>
          <p:cNvSpPr txBox="1"/>
          <p:nvPr/>
        </p:nvSpPr>
        <p:spPr>
          <a:xfrm>
            <a:off x="5440680" y="2075688"/>
            <a:ext cx="3017520" cy="201168"/>
          </a:xfrm>
          <a:prstGeom prst="rect">
            <a:avLst/>
          </a:prstGeom>
          <a:noFill/>
          <a:ln/>
        </p:spPr>
        <p:txBody>
          <a:bodyPr wrap="square" lIns="0" tIns="0" rIns="0" bIns="0" rtlCol="0" anchor="t"/>
          <a:lstStyle/>
          <a:p>
            <a:pPr algn="l" indent="0" marL="0">
              <a:buNone/>
            </a:pPr>
            <a:r>
              <a:rPr lang="en-US" sz="1100" b="1" dirty="0">
                <a:solidFill>
                  <a:srgbClr val="0F1419"/>
                </a:solidFill>
                <a:latin typeface="Arial" pitchFamily="34" charset="0"/>
                <a:ea typeface="Arial" pitchFamily="34" charset="-122"/>
                <a:cs typeface="Arial" pitchFamily="34" charset="-120"/>
              </a:rPr>
              <a:t>Crossmint, Openfort</a:t>
            </a:r>
            <a:endParaRPr lang="en-US" sz="1100" dirty="0"/>
          </a:p>
        </p:txBody>
      </p:sp>
      <p:sp>
        <p:nvSpPr>
          <p:cNvPr id="24" name="Text 19"/>
          <p:cNvSpPr txBox="1"/>
          <p:nvPr/>
        </p:nvSpPr>
        <p:spPr>
          <a:xfrm>
            <a:off x="5440680" y="2276856"/>
            <a:ext cx="3017520" cy="210312"/>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Agent wallets</a:t>
            </a:r>
            <a:endParaRPr lang="en-US" sz="1050" dirty="0"/>
          </a:p>
        </p:txBody>
      </p:sp>
      <p:sp>
        <p:nvSpPr>
          <p:cNvPr id="25" name="Text 20"/>
          <p:cNvSpPr txBox="1"/>
          <p:nvPr/>
        </p:nvSpPr>
        <p:spPr>
          <a:xfrm>
            <a:off x="5440680" y="2578608"/>
            <a:ext cx="3017520" cy="201168"/>
          </a:xfrm>
          <a:prstGeom prst="rect">
            <a:avLst/>
          </a:prstGeom>
          <a:noFill/>
          <a:ln/>
        </p:spPr>
        <p:txBody>
          <a:bodyPr wrap="square" lIns="0" tIns="0" rIns="0" bIns="0" rtlCol="0" anchor="t"/>
          <a:lstStyle/>
          <a:p>
            <a:pPr algn="l" indent="0" marL="0">
              <a:buNone/>
            </a:pPr>
            <a:r>
              <a:rPr lang="en-US" sz="1100" b="1" dirty="0">
                <a:solidFill>
                  <a:srgbClr val="0F1419"/>
                </a:solidFill>
                <a:latin typeface="Arial" pitchFamily="34" charset="0"/>
                <a:ea typeface="Arial" pitchFamily="34" charset="-122"/>
                <a:cs typeface="Arial" pitchFamily="34" charset="-120"/>
              </a:rPr>
              <a:t>Ramp</a:t>
            </a:r>
            <a:endParaRPr lang="en-US" sz="1100" dirty="0"/>
          </a:p>
        </p:txBody>
      </p:sp>
      <p:sp>
        <p:nvSpPr>
          <p:cNvPr id="26" name="Text 21"/>
          <p:cNvSpPr txBox="1"/>
          <p:nvPr/>
        </p:nvSpPr>
        <p:spPr>
          <a:xfrm>
            <a:off x="5440680" y="2779776"/>
            <a:ext cx="3017520" cy="384048"/>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Testing x402 agent wallets on Solana, in a limited alpha</a:t>
            </a:r>
            <a:endParaRPr lang="en-US" sz="1050" dirty="0"/>
          </a:p>
        </p:txBody>
      </p:sp>
      <p:sp>
        <p:nvSpPr>
          <p:cNvPr id="27" name="Text 22"/>
          <p:cNvSpPr txBox="1"/>
          <p:nvPr/>
        </p:nvSpPr>
        <p:spPr>
          <a:xfrm>
            <a:off x="5440680" y="3255264"/>
            <a:ext cx="3017520" cy="201168"/>
          </a:xfrm>
          <a:prstGeom prst="rect">
            <a:avLst/>
          </a:prstGeom>
          <a:noFill/>
          <a:ln/>
        </p:spPr>
        <p:txBody>
          <a:bodyPr wrap="square" lIns="0" tIns="0" rIns="0" bIns="0" rtlCol="0" anchor="t"/>
          <a:lstStyle/>
          <a:p>
            <a:pPr algn="l" indent="0" marL="0">
              <a:buNone/>
            </a:pPr>
            <a:r>
              <a:rPr lang="en-US" sz="1100" b="1" dirty="0">
                <a:solidFill>
                  <a:srgbClr val="6D28D9"/>
                </a:solidFill>
                <a:latin typeface="Arial" pitchFamily="34" charset="0"/>
                <a:ea typeface="Arial" pitchFamily="34" charset="-122"/>
                <a:cs typeface="Arial" pitchFamily="34" charset="-120"/>
              </a:rPr>
              <a:t>Leash</a:t>
            </a:r>
            <a:endParaRPr lang="en-US" sz="1100" dirty="0"/>
          </a:p>
        </p:txBody>
      </p:sp>
      <p:sp>
        <p:nvSpPr>
          <p:cNvPr id="28" name="Text 23"/>
          <p:cNvSpPr txBox="1"/>
          <p:nvPr/>
        </p:nvSpPr>
        <p:spPr>
          <a:xfrm>
            <a:off x="5440680" y="3456432"/>
            <a:ext cx="3017520" cy="566928"/>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The on-chain firewall on top of Solana's own Allowances program: who may be paid, how fast, and a tripwire, without holding anyone's money.</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11</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Business model: open core</a:t>
            </a:r>
            <a:endParaRPr lang="en-US" sz="3000" dirty="0"/>
          </a:p>
        </p:txBody>
      </p:sp>
      <p:sp>
        <p:nvSpPr>
          <p:cNvPr id="5" name="Shape 3"/>
          <p:cNvSpPr/>
          <p:nvPr/>
        </p:nvSpPr>
        <p:spPr>
          <a:xfrm>
            <a:off x="548640" y="1097280"/>
            <a:ext cx="2560320" cy="2377440"/>
          </a:xfrm>
          <a:prstGeom prst="roundRect">
            <a:avLst>
              <a:gd name="adj" fmla="val 3077"/>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Shape 4"/>
          <p:cNvSpPr/>
          <p:nvPr/>
        </p:nvSpPr>
        <p:spPr>
          <a:xfrm>
            <a:off x="777240" y="1298448"/>
            <a:ext cx="502920" cy="502920"/>
          </a:xfrm>
          <a:prstGeom prst="ellipse">
            <a:avLst/>
          </a:prstGeom>
          <a:solidFill>
            <a:srgbClr val="E6F2EE"/>
          </a:solidFill>
          <a:ln/>
        </p:spPr>
      </p:sp>
      <p:pic>
        <p:nvPicPr>
          <p:cNvPr id="7" name="Image 0" descr="preencoded.png">    </p:cNvPr>
          <p:cNvPicPr>
            <a:picLocks noChangeAspect="1"/>
          </p:cNvPicPr>
          <p:nvPr/>
        </p:nvPicPr>
        <p:blipFill>
          <a:blip r:embed="rId1"/>
          <a:stretch>
            <a:fillRect/>
          </a:stretch>
        </p:blipFill>
        <p:spPr>
          <a:xfrm>
            <a:off x="897941" y="1419149"/>
            <a:ext cx="261518" cy="261518"/>
          </a:xfrm>
          <a:prstGeom prst="rect">
            <a:avLst/>
          </a:prstGeom>
        </p:spPr>
      </p:pic>
      <p:sp>
        <p:nvSpPr>
          <p:cNvPr id="8" name="Text 5"/>
          <p:cNvSpPr txBox="1"/>
          <p:nvPr/>
        </p:nvSpPr>
        <p:spPr>
          <a:xfrm>
            <a:off x="777240" y="1938528"/>
            <a:ext cx="2103120" cy="32004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Free and open source</a:t>
            </a:r>
            <a:endParaRPr lang="en-US" sz="1500" dirty="0"/>
          </a:p>
        </p:txBody>
      </p:sp>
      <p:sp>
        <p:nvSpPr>
          <p:cNvPr id="9" name="Text 6"/>
          <p:cNvSpPr txBox="1"/>
          <p:nvPr/>
        </p:nvSpPr>
        <p:spPr>
          <a:xfrm>
            <a:off x="777240" y="2304288"/>
            <a:ext cx="2103120" cy="640080"/>
          </a:xfrm>
          <a:prstGeom prst="rect">
            <a:avLst/>
          </a:prstGeom>
          <a:noFill/>
          <a:ln/>
        </p:spPr>
        <p:txBody>
          <a:bodyPr wrap="square" lIns="0" tIns="0" rIns="0" bIns="0" rtlCol="0" anchor="t"/>
          <a:lstStyle/>
          <a:p>
            <a:pPr algn="l" indent="0" marL="0">
              <a:buNone/>
            </a:pPr>
            <a:r>
              <a:rPr lang="en-US" sz="1200" dirty="0">
                <a:solidFill>
                  <a:srgbClr val="0F1419"/>
                </a:solidFill>
                <a:latin typeface="Arial" pitchFamily="34" charset="0"/>
                <a:ea typeface="Arial" pitchFamily="34" charset="-122"/>
                <a:cs typeface="Arial" pitchFamily="34" charset="-120"/>
              </a:rPr>
              <a:t>The Leash program, the SDK and the MCP server.</a:t>
            </a:r>
            <a:endParaRPr lang="en-US" sz="1200" dirty="0"/>
          </a:p>
        </p:txBody>
      </p:sp>
      <p:sp>
        <p:nvSpPr>
          <p:cNvPr id="10" name="Text 7"/>
          <p:cNvSpPr txBox="1"/>
          <p:nvPr/>
        </p:nvSpPr>
        <p:spPr>
          <a:xfrm>
            <a:off x="777240" y="3017520"/>
            <a:ext cx="2103120" cy="320040"/>
          </a:xfrm>
          <a:prstGeom prst="rect">
            <a:avLst/>
          </a:prstGeom>
          <a:noFill/>
          <a:ln/>
        </p:spPr>
        <p:txBody>
          <a:bodyPr wrap="square" lIns="0" tIns="0" rIns="0" bIns="0" rtlCol="0" anchor="t"/>
          <a:lstStyle/>
          <a:p>
            <a:pPr algn="l" indent="0" marL="0">
              <a:buNone/>
            </a:pPr>
            <a:r>
              <a:rPr lang="en-US" sz="1050" i="1" dirty="0">
                <a:solidFill>
                  <a:srgbClr val="535C6B"/>
                </a:solidFill>
                <a:latin typeface="Arial" pitchFamily="34" charset="0"/>
                <a:ea typeface="Arial" pitchFamily="34" charset="-122"/>
                <a:cs typeface="Arial" pitchFamily="34" charset="-120"/>
              </a:rPr>
              <a:t>A security product must be verifiable.</a:t>
            </a:r>
            <a:endParaRPr lang="en-US" sz="1050" dirty="0"/>
          </a:p>
        </p:txBody>
      </p:sp>
      <p:sp>
        <p:nvSpPr>
          <p:cNvPr id="11" name="Shape 8"/>
          <p:cNvSpPr/>
          <p:nvPr/>
        </p:nvSpPr>
        <p:spPr>
          <a:xfrm>
            <a:off x="3291840" y="1097280"/>
            <a:ext cx="2560320" cy="2377440"/>
          </a:xfrm>
          <a:prstGeom prst="roundRect">
            <a:avLst>
              <a:gd name="adj" fmla="val 3077"/>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2" name="Shape 9"/>
          <p:cNvSpPr/>
          <p:nvPr/>
        </p:nvSpPr>
        <p:spPr>
          <a:xfrm>
            <a:off x="3520440" y="1298448"/>
            <a:ext cx="502920" cy="502920"/>
          </a:xfrm>
          <a:prstGeom prst="ellipse">
            <a:avLst/>
          </a:prstGeom>
          <a:solidFill>
            <a:srgbClr val="F0E9FB"/>
          </a:solidFill>
          <a:ln/>
        </p:spPr>
      </p:sp>
      <p:pic>
        <p:nvPicPr>
          <p:cNvPr id="13" name="Image 1" descr="preencoded.png">    </p:cNvPr>
          <p:cNvPicPr>
            <a:picLocks noChangeAspect="1"/>
          </p:cNvPicPr>
          <p:nvPr/>
        </p:nvPicPr>
        <p:blipFill>
          <a:blip r:embed="rId2"/>
          <a:stretch>
            <a:fillRect/>
          </a:stretch>
        </p:blipFill>
        <p:spPr>
          <a:xfrm>
            <a:off x="3641141" y="1419149"/>
            <a:ext cx="261518" cy="261518"/>
          </a:xfrm>
          <a:prstGeom prst="rect">
            <a:avLst/>
          </a:prstGeom>
        </p:spPr>
      </p:pic>
      <p:sp>
        <p:nvSpPr>
          <p:cNvPr id="14" name="Text 10"/>
          <p:cNvSpPr txBox="1"/>
          <p:nvPr/>
        </p:nvSpPr>
        <p:spPr>
          <a:xfrm>
            <a:off x="3520440" y="1938528"/>
            <a:ext cx="2103120" cy="32004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Paid</a:t>
            </a:r>
            <a:endParaRPr lang="en-US" sz="1500" dirty="0"/>
          </a:p>
        </p:txBody>
      </p:sp>
      <p:sp>
        <p:nvSpPr>
          <p:cNvPr id="15" name="Text 11"/>
          <p:cNvSpPr txBox="1"/>
          <p:nvPr/>
        </p:nvSpPr>
        <p:spPr>
          <a:xfrm>
            <a:off x="3520440" y="2304288"/>
            <a:ext cx="2103120" cy="640080"/>
          </a:xfrm>
          <a:prstGeom prst="rect">
            <a:avLst/>
          </a:prstGeom>
          <a:noFill/>
          <a:ln/>
        </p:spPr>
        <p:txBody>
          <a:bodyPr wrap="square" lIns="0" tIns="0" rIns="0" bIns="0" rtlCol="0" anchor="t"/>
          <a:lstStyle/>
          <a:p>
            <a:pPr algn="l" indent="0" marL="0">
              <a:buNone/>
            </a:pPr>
            <a:r>
              <a:rPr lang="en-US" sz="1200" dirty="0">
                <a:solidFill>
                  <a:srgbClr val="0F1419"/>
                </a:solidFill>
                <a:latin typeface="Arial" pitchFamily="34" charset="0"/>
                <a:ea typeface="Arial" pitchFamily="34" charset="-122"/>
                <a:cs typeface="Arial" pitchFamily="34" charset="-120"/>
              </a:rPr>
              <a:t>A hosted control panel with alerts and a guardian, per agent per month.</a:t>
            </a:r>
            <a:endParaRPr lang="en-US" sz="1200" dirty="0"/>
          </a:p>
        </p:txBody>
      </p:sp>
      <p:sp>
        <p:nvSpPr>
          <p:cNvPr id="16" name="Text 12"/>
          <p:cNvSpPr txBox="1"/>
          <p:nvPr/>
        </p:nvSpPr>
        <p:spPr>
          <a:xfrm>
            <a:off x="3520440" y="3017520"/>
            <a:ext cx="2103120" cy="320040"/>
          </a:xfrm>
          <a:prstGeom prst="rect">
            <a:avLst/>
          </a:prstGeom>
          <a:noFill/>
          <a:ln/>
        </p:spPr>
        <p:txBody>
          <a:bodyPr wrap="square" lIns="0" tIns="0" rIns="0" bIns="0" rtlCol="0" anchor="t"/>
          <a:lstStyle/>
          <a:p>
            <a:pPr algn="l" indent="0" marL="0">
              <a:buNone/>
            </a:pPr>
            <a:r>
              <a:rPr lang="en-US" sz="1050" i="1" dirty="0">
                <a:solidFill>
                  <a:srgbClr val="535C6B"/>
                </a:solidFill>
                <a:latin typeface="Arial" pitchFamily="34" charset="0"/>
                <a:ea typeface="Arial" pitchFamily="34" charset="-122"/>
                <a:cs typeface="Arial" pitchFamily="34" charset="-120"/>
              </a:rPr>
              <a:t>What runs around the clock.</a:t>
            </a:r>
            <a:endParaRPr lang="en-US" sz="1050" dirty="0"/>
          </a:p>
        </p:txBody>
      </p:sp>
      <p:sp>
        <p:nvSpPr>
          <p:cNvPr id="17" name="Shape 13"/>
          <p:cNvSpPr/>
          <p:nvPr/>
        </p:nvSpPr>
        <p:spPr>
          <a:xfrm>
            <a:off x="6035040" y="1097280"/>
            <a:ext cx="2560320" cy="2377440"/>
          </a:xfrm>
          <a:prstGeom prst="roundRect">
            <a:avLst>
              <a:gd name="adj" fmla="val 3077"/>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8" name="Shape 14"/>
          <p:cNvSpPr/>
          <p:nvPr/>
        </p:nvSpPr>
        <p:spPr>
          <a:xfrm>
            <a:off x="6263640" y="1298448"/>
            <a:ext cx="502920" cy="502920"/>
          </a:xfrm>
          <a:prstGeom prst="ellipse">
            <a:avLst/>
          </a:prstGeom>
          <a:solidFill>
            <a:srgbClr val="E8EDFB"/>
          </a:solidFill>
          <a:ln/>
        </p:spPr>
      </p:sp>
      <p:pic>
        <p:nvPicPr>
          <p:cNvPr id="19" name="Image 2" descr="preencoded.png">    </p:cNvPr>
          <p:cNvPicPr>
            <a:picLocks noChangeAspect="1"/>
          </p:cNvPicPr>
          <p:nvPr/>
        </p:nvPicPr>
        <p:blipFill>
          <a:blip r:embed="rId3"/>
          <a:stretch>
            <a:fillRect/>
          </a:stretch>
        </p:blipFill>
        <p:spPr>
          <a:xfrm>
            <a:off x="6384341" y="1419149"/>
            <a:ext cx="261518" cy="261518"/>
          </a:xfrm>
          <a:prstGeom prst="rect">
            <a:avLst/>
          </a:prstGeom>
        </p:spPr>
      </p:pic>
      <p:sp>
        <p:nvSpPr>
          <p:cNvPr id="20" name="Text 15"/>
          <p:cNvSpPr txBox="1"/>
          <p:nvPr/>
        </p:nvSpPr>
        <p:spPr>
          <a:xfrm>
            <a:off x="6263640" y="1938528"/>
            <a:ext cx="2103120" cy="32004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Later</a:t>
            </a:r>
            <a:endParaRPr lang="en-US" sz="1500" dirty="0"/>
          </a:p>
        </p:txBody>
      </p:sp>
      <p:sp>
        <p:nvSpPr>
          <p:cNvPr id="21" name="Text 16"/>
          <p:cNvSpPr txBox="1"/>
          <p:nvPr/>
        </p:nvSpPr>
        <p:spPr>
          <a:xfrm>
            <a:off x="6263640" y="2304288"/>
            <a:ext cx="2103120" cy="640080"/>
          </a:xfrm>
          <a:prstGeom prst="rect">
            <a:avLst/>
          </a:prstGeom>
          <a:noFill/>
          <a:ln/>
        </p:spPr>
        <p:txBody>
          <a:bodyPr wrap="square" lIns="0" tIns="0" rIns="0" bIns="0" rtlCol="0" anchor="t"/>
          <a:lstStyle/>
          <a:p>
            <a:pPr algn="l" indent="0" marL="0">
              <a:buNone/>
            </a:pPr>
            <a:r>
              <a:rPr lang="en-US" sz="1200" dirty="0">
                <a:solidFill>
                  <a:srgbClr val="0F1419"/>
                </a:solidFill>
                <a:latin typeface="Arial" pitchFamily="34" charset="0"/>
                <a:ea typeface="Arial" pitchFamily="34" charset="-122"/>
                <a:cs typeface="Arial" pitchFamily="34" charset="-120"/>
              </a:rPr>
              <a:t>A fee per payment through a hosted facilitator.</a:t>
            </a:r>
            <a:endParaRPr lang="en-US" sz="1200" dirty="0"/>
          </a:p>
        </p:txBody>
      </p:sp>
      <p:sp>
        <p:nvSpPr>
          <p:cNvPr id="22" name="Text 17"/>
          <p:cNvSpPr txBox="1"/>
          <p:nvPr/>
        </p:nvSpPr>
        <p:spPr>
          <a:xfrm>
            <a:off x="6263640" y="3017520"/>
            <a:ext cx="2103120" cy="320040"/>
          </a:xfrm>
          <a:prstGeom prst="rect">
            <a:avLst/>
          </a:prstGeom>
          <a:noFill/>
          <a:ln/>
        </p:spPr>
        <p:txBody>
          <a:bodyPr wrap="square" lIns="0" tIns="0" rIns="0" bIns="0" rtlCol="0" anchor="t"/>
          <a:lstStyle/>
          <a:p>
            <a:pPr algn="l" indent="0" marL="0">
              <a:buNone/>
            </a:pPr>
            <a:r>
              <a:rPr lang="en-US" sz="1050" i="1" dirty="0">
                <a:solidFill>
                  <a:srgbClr val="535C6B"/>
                </a:solidFill>
                <a:latin typeface="Arial" pitchFamily="34" charset="0"/>
                <a:ea typeface="Arial" pitchFamily="34" charset="-122"/>
                <a:cs typeface="Arial" pitchFamily="34" charset="-120"/>
              </a:rPr>
              <a:t>Needs no program change.</a:t>
            </a:r>
            <a:endParaRPr lang="en-US" sz="1050" dirty="0"/>
          </a:p>
        </p:txBody>
      </p:sp>
      <p:sp>
        <p:nvSpPr>
          <p:cNvPr id="23" name="Text 18"/>
          <p:cNvSpPr txBox="1"/>
          <p:nvPr/>
        </p:nvSpPr>
        <p:spPr>
          <a:xfrm>
            <a:off x="548640" y="3749040"/>
            <a:ext cx="8046720" cy="36576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Adoption comes from the free parts. Teams pay for what runs around the clock.</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12</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Roadmap</a:t>
            </a:r>
            <a:endParaRPr lang="en-US" sz="3000" dirty="0"/>
          </a:p>
        </p:txBody>
      </p:sp>
      <p:sp>
        <p:nvSpPr>
          <p:cNvPr id="5" name="Shape 3"/>
          <p:cNvSpPr/>
          <p:nvPr/>
        </p:nvSpPr>
        <p:spPr>
          <a:xfrm>
            <a:off x="676656" y="1417320"/>
            <a:ext cx="7680960" cy="0"/>
          </a:xfrm>
          <a:prstGeom prst="line">
            <a:avLst/>
          </a:prstGeom>
          <a:noFill/>
          <a:ln w="25400">
            <a:solidFill>
              <a:srgbClr val="DFE3EA"/>
            </a:solidFill>
            <a:prstDash val="solid"/>
          </a:ln>
        </p:spPr>
      </p:sp>
      <p:sp>
        <p:nvSpPr>
          <p:cNvPr id="6" name="Shape 4"/>
          <p:cNvSpPr/>
          <p:nvPr/>
        </p:nvSpPr>
        <p:spPr>
          <a:xfrm>
            <a:off x="548640" y="1289304"/>
            <a:ext cx="256032" cy="256032"/>
          </a:xfrm>
          <a:prstGeom prst="ellipse">
            <a:avLst/>
          </a:prstGeom>
          <a:solidFill>
            <a:srgbClr val="B45309"/>
          </a:solidFill>
          <a:ln/>
        </p:spPr>
      </p:sp>
      <p:sp>
        <p:nvSpPr>
          <p:cNvPr id="7" name="Text 5"/>
          <p:cNvSpPr txBox="1"/>
          <p:nvPr/>
        </p:nvSpPr>
        <p:spPr>
          <a:xfrm>
            <a:off x="548640" y="1691640"/>
            <a:ext cx="2560320" cy="292608"/>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This week</a:t>
            </a:r>
            <a:endParaRPr lang="en-US" sz="1500" dirty="0"/>
          </a:p>
        </p:txBody>
      </p:sp>
      <p:sp>
        <p:nvSpPr>
          <p:cNvPr id="8" name="Text 6"/>
          <p:cNvSpPr txBox="1"/>
          <p:nvPr/>
        </p:nvSpPr>
        <p:spPr>
          <a:xfrm>
            <a:off x="548640" y="1984248"/>
            <a:ext cx="2560320" cy="22860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for the Oct 4 submission · in progress</a:t>
            </a:r>
            <a:endParaRPr lang="en-US" sz="1050" dirty="0"/>
          </a:p>
        </p:txBody>
      </p:sp>
      <p:sp>
        <p:nvSpPr>
          <p:cNvPr id="9" name="Text 7"/>
          <p:cNvSpPr txBox="1"/>
          <p:nvPr/>
        </p:nvSpPr>
        <p:spPr>
          <a:xfrm>
            <a:off x="548640" y="2331720"/>
            <a:ext cx="2560320" cy="210312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The web app with a real wallet on devnet</a:t>
            </a:r>
            <a:endParaRPr lang="en-US" sz="1150" dirty="0"/>
          </a:p>
        </p:txBody>
      </p:sp>
      <p:sp>
        <p:nvSpPr>
          <p:cNvPr id="10" name="Shape 8"/>
          <p:cNvSpPr/>
          <p:nvPr/>
        </p:nvSpPr>
        <p:spPr>
          <a:xfrm>
            <a:off x="3291840" y="1289304"/>
            <a:ext cx="256032" cy="256032"/>
          </a:xfrm>
          <a:prstGeom prst="ellipse">
            <a:avLst/>
          </a:prstGeom>
          <a:solidFill>
            <a:srgbClr val="6D28D9"/>
          </a:solidFill>
          <a:ln/>
        </p:spPr>
      </p:sp>
      <p:sp>
        <p:nvSpPr>
          <p:cNvPr id="11" name="Text 9"/>
          <p:cNvSpPr txBox="1"/>
          <p:nvPr/>
        </p:nvSpPr>
        <p:spPr>
          <a:xfrm>
            <a:off x="3291840" y="1691640"/>
            <a:ext cx="2560320" cy="292608"/>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By Nov 2</a:t>
            </a:r>
            <a:endParaRPr lang="en-US" sz="1500" dirty="0"/>
          </a:p>
        </p:txBody>
      </p:sp>
      <p:sp>
        <p:nvSpPr>
          <p:cNvPr id="12" name="Text 10"/>
          <p:cNvSpPr txBox="1"/>
          <p:nvPr/>
        </p:nvSpPr>
        <p:spPr>
          <a:xfrm>
            <a:off x="3291840" y="1984248"/>
            <a:ext cx="2560320" cy="22860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the Colosseum hackathon</a:t>
            </a:r>
            <a:endParaRPr lang="en-US" sz="1050" dirty="0"/>
          </a:p>
        </p:txBody>
      </p:sp>
      <p:sp>
        <p:nvSpPr>
          <p:cNvPr id="13" name="Text 11"/>
          <p:cNvSpPr txBox="1"/>
          <p:nvPr/>
        </p:nvSpPr>
        <p:spPr>
          <a:xfrm>
            <a:off x="3291840" y="2331720"/>
            <a:ext cx="2560320" cy="210312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Telegram buttons that open the owner's wallet directly</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Recorded runs with a live Claude model</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Five user conversations</a:t>
            </a:r>
            <a:endParaRPr lang="en-US" sz="1150" dirty="0"/>
          </a:p>
        </p:txBody>
      </p:sp>
      <p:sp>
        <p:nvSpPr>
          <p:cNvPr id="14" name="Shape 12"/>
          <p:cNvSpPr/>
          <p:nvPr/>
        </p:nvSpPr>
        <p:spPr>
          <a:xfrm>
            <a:off x="6035040" y="1289304"/>
            <a:ext cx="256032" cy="256032"/>
          </a:xfrm>
          <a:prstGeom prst="ellipse">
            <a:avLst/>
          </a:prstGeom>
          <a:solidFill>
            <a:srgbClr val="0F1419"/>
          </a:solidFill>
          <a:ln/>
        </p:spPr>
      </p:sp>
      <p:sp>
        <p:nvSpPr>
          <p:cNvPr id="15" name="Text 13"/>
          <p:cNvSpPr txBox="1"/>
          <p:nvPr/>
        </p:nvSpPr>
        <p:spPr>
          <a:xfrm>
            <a:off x="6035040" y="1691640"/>
            <a:ext cx="2560320" cy="292608"/>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Then</a:t>
            </a:r>
            <a:endParaRPr lang="en-US" sz="1500" dirty="0"/>
          </a:p>
        </p:txBody>
      </p:sp>
      <p:sp>
        <p:nvSpPr>
          <p:cNvPr id="16" name="Text 14"/>
          <p:cNvSpPr txBox="1"/>
          <p:nvPr/>
        </p:nvSpPr>
        <p:spPr>
          <a:xfrm>
            <a:off x="6035040" y="1984248"/>
            <a:ext cx="2560320" cy="22860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on the way to mainnet</a:t>
            </a:r>
            <a:endParaRPr lang="en-US" sz="1050" dirty="0"/>
          </a:p>
        </p:txBody>
      </p:sp>
      <p:sp>
        <p:nvSpPr>
          <p:cNvPr id="17" name="Text 15"/>
          <p:cNvSpPr txBox="1"/>
          <p:nvPr/>
        </p:nvSpPr>
        <p:spPr>
          <a:xfrm>
            <a:off x="6035040" y="2331720"/>
            <a:ext cx="2560320" cy="210312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An independent audit</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Upgrade authority moved to a timelocked multisig, or revoked</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Mainnet</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251960" y="457200"/>
            <a:ext cx="640080" cy="640080"/>
          </a:xfrm>
          <a:prstGeom prst="roundRect">
            <a:avLst>
              <a:gd name="adj" fmla="val 42857"/>
            </a:avLst>
          </a:prstGeom>
          <a:solidFill>
            <a:srgbClr val="6D28D9"/>
          </a:solidFill>
          <a:ln/>
        </p:spPr>
      </p:sp>
      <p:sp>
        <p:nvSpPr>
          <p:cNvPr id="3" name="Text 1"/>
          <p:cNvSpPr txBox="1"/>
          <p:nvPr/>
        </p:nvSpPr>
        <p:spPr>
          <a:xfrm>
            <a:off x="4251960" y="457200"/>
            <a:ext cx="640080" cy="64008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L</a:t>
            </a:r>
            <a:endParaRPr lang="en-US" sz="2800" dirty="0"/>
          </a:p>
        </p:txBody>
      </p:sp>
      <p:sp>
        <p:nvSpPr>
          <p:cNvPr id="4" name="Text 2"/>
          <p:cNvSpPr txBox="1"/>
          <p:nvPr/>
        </p:nvSpPr>
        <p:spPr>
          <a:xfrm>
            <a:off x="548640" y="1280160"/>
            <a:ext cx="8046720" cy="1097280"/>
          </a:xfrm>
          <a:prstGeom prst="rect">
            <a:avLst/>
          </a:prstGeom>
          <a:noFill/>
          <a:ln/>
        </p:spPr>
        <p:txBody>
          <a:bodyPr wrap="square" lIns="0" tIns="0" rIns="0" bIns="0" rtlCol="0" anchor="ctr"/>
          <a:lstStyle/>
          <a:p>
            <a:pPr algn="ctr" indent="0" marL="0">
              <a:buNone/>
            </a:pPr>
            <a:r>
              <a:rPr lang="en-US" sz="3200" b="1" dirty="0">
                <a:solidFill>
                  <a:srgbClr val="0F1419"/>
                </a:solidFill>
                <a:latin typeface="Arial" pitchFamily="34" charset="0"/>
                <a:ea typeface="Arial" pitchFamily="34" charset="-122"/>
                <a:cs typeface="Arial" pitchFamily="34" charset="-120"/>
              </a:rPr>
              <a:t>The model was fooled.</a:t>
            </a:r>
            <a:endParaRPr lang="en-US" sz="3200" dirty="0"/>
          </a:p>
          <a:p>
            <a:pPr algn="ctr" indent="0" marL="0">
              <a:buNone/>
            </a:pPr>
            <a:r>
              <a:rPr lang="en-US" sz="3200" b="1" dirty="0">
                <a:solidFill>
                  <a:srgbClr val="0F1419"/>
                </a:solidFill>
                <a:latin typeface="Arial" pitchFamily="34" charset="0"/>
                <a:ea typeface="Arial" pitchFamily="34" charset="-122"/>
                <a:cs typeface="Arial" pitchFamily="34" charset="-120"/>
              </a:rPr>
              <a:t>The money wasn't moved.</a:t>
            </a:r>
            <a:endParaRPr lang="en-US" sz="3200" dirty="0"/>
          </a:p>
        </p:txBody>
      </p:sp>
      <p:sp>
        <p:nvSpPr>
          <p:cNvPr id="5" name="Text 3"/>
          <p:cNvSpPr txBox="1"/>
          <p:nvPr/>
        </p:nvSpPr>
        <p:spPr>
          <a:xfrm>
            <a:off x="548640" y="2468880"/>
            <a:ext cx="8046720" cy="365760"/>
          </a:xfrm>
          <a:prstGeom prst="rect">
            <a:avLst/>
          </a:prstGeom>
          <a:noFill/>
          <a:ln/>
        </p:spPr>
        <p:txBody>
          <a:bodyPr wrap="square" lIns="0" tIns="0" rIns="0" bIns="0" rtlCol="0" anchor="t"/>
          <a:lstStyle/>
          <a:p>
            <a:pPr algn="ctr" indent="0" marL="0">
              <a:buNone/>
            </a:pPr>
            <a:r>
              <a:rPr lang="en-US" sz="1500" dirty="0">
                <a:solidFill>
                  <a:srgbClr val="535C6B"/>
                </a:solidFill>
                <a:latin typeface="Arial" pitchFamily="34" charset="0"/>
                <a:ea typeface="Arial" pitchFamily="34" charset="-122"/>
                <a:cs typeface="Arial" pitchFamily="34" charset="-120"/>
              </a:rPr>
              <a:t>Solana's Allowances cap how much. Leash decides who, how fast, and when to stop.</a:t>
            </a:r>
            <a:endParaRPr lang="en-US" sz="1500" dirty="0"/>
          </a:p>
        </p:txBody>
      </p:sp>
      <p:sp>
        <p:nvSpPr>
          <p:cNvPr id="6" name="Text 4"/>
          <p:cNvSpPr txBox="1"/>
          <p:nvPr/>
        </p:nvSpPr>
        <p:spPr>
          <a:xfrm>
            <a:off x="2514600" y="3017520"/>
            <a:ext cx="4114800" cy="274320"/>
          </a:xfrm>
          <a:prstGeom prst="rect">
            <a:avLst/>
          </a:prstGeom>
          <a:noFill/>
          <a:ln/>
        </p:spPr>
        <p:txBody>
          <a:bodyPr wrap="square" lIns="0" tIns="0" rIns="0" bIns="0" rtlCol="0" anchor="t"/>
          <a:lstStyle/>
          <a:p>
            <a:pPr algn="ctr" indent="0" marL="0">
              <a:buNone/>
            </a:pPr>
            <a:r>
              <a:rPr lang="en-US" sz="1200" b="1" dirty="0">
                <a:solidFill>
                  <a:srgbClr val="0F1419"/>
                </a:solidFill>
                <a:latin typeface="Arial" pitchFamily="34" charset="0"/>
                <a:ea typeface="Arial" pitchFamily="34" charset="-122"/>
                <a:cs typeface="Arial" pitchFamily="34" charset="-120"/>
              </a:rPr>
              <a:t>Parth Deshmukh · solo builder</a:t>
            </a:r>
            <a:endParaRPr lang="en-US" sz="1200" dirty="0"/>
          </a:p>
        </p:txBody>
      </p:sp>
      <p:pic>
        <p:nvPicPr>
          <p:cNvPr id="7" name="Image 0" descr="preencoded.png">    </p:cNvPr>
          <p:cNvPicPr>
            <a:picLocks noChangeAspect="1"/>
          </p:cNvPicPr>
          <p:nvPr/>
        </p:nvPicPr>
        <p:blipFill>
          <a:blip r:embed="rId1"/>
          <a:stretch>
            <a:fillRect/>
          </a:stretch>
        </p:blipFill>
        <p:spPr>
          <a:xfrm>
            <a:off x="548640" y="3657600"/>
            <a:ext cx="237744" cy="237744"/>
          </a:xfrm>
          <a:prstGeom prst="rect">
            <a:avLst/>
          </a:prstGeom>
        </p:spPr>
      </p:pic>
      <p:sp>
        <p:nvSpPr>
          <p:cNvPr id="8" name="Text 5"/>
          <p:cNvSpPr txBox="1"/>
          <p:nvPr/>
        </p:nvSpPr>
        <p:spPr>
          <a:xfrm>
            <a:off x="877824" y="3639312"/>
            <a:ext cx="2286000" cy="274320"/>
          </a:xfrm>
          <a:prstGeom prst="rect">
            <a:avLst/>
          </a:prstGeom>
          <a:noFill/>
          <a:ln/>
        </p:spPr>
        <p:txBody>
          <a:bodyPr wrap="square" lIns="0" tIns="0" rIns="0" bIns="0" rtlCol="0" anchor="ctr"/>
          <a:lstStyle/>
          <a:p>
            <a:pPr indent="0" marL="0">
              <a:buNone/>
            </a:pPr>
            <a:r>
              <a:rPr lang="en-US" sz="950" u="sng" dirty="0">
                <a:solidFill>
                  <a:srgbClr val="6D28D9"/>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github.com/parthdeshmukh488-ops/hub</a:t>
            </a:r>
            <a:endParaRPr lang="en-US" sz="950" dirty="0"/>
          </a:p>
        </p:txBody>
      </p:sp>
      <p:pic>
        <p:nvPicPr>
          <p:cNvPr id="9" name="Image 1" descr="preencoded.png">    </p:cNvPr>
          <p:cNvPicPr>
            <a:picLocks noChangeAspect="1"/>
          </p:cNvPicPr>
          <p:nvPr/>
        </p:nvPicPr>
        <p:blipFill>
          <a:blip r:embed="rId3"/>
          <a:stretch>
            <a:fillRect/>
          </a:stretch>
        </p:blipFill>
        <p:spPr>
          <a:xfrm>
            <a:off x="3291840" y="3657600"/>
            <a:ext cx="237744" cy="237744"/>
          </a:xfrm>
          <a:prstGeom prst="rect">
            <a:avLst/>
          </a:prstGeom>
        </p:spPr>
      </p:pic>
      <p:sp>
        <p:nvSpPr>
          <p:cNvPr id="10" name="Text 6"/>
          <p:cNvSpPr txBox="1"/>
          <p:nvPr/>
        </p:nvSpPr>
        <p:spPr>
          <a:xfrm>
            <a:off x="3621024" y="3639312"/>
            <a:ext cx="2286000" cy="274320"/>
          </a:xfrm>
          <a:prstGeom prst="rect">
            <a:avLst/>
          </a:prstGeom>
          <a:noFill/>
          <a:ln/>
        </p:spPr>
        <p:txBody>
          <a:bodyPr wrap="square" lIns="0" tIns="0" rIns="0" bIns="0" rtlCol="0" anchor="ctr"/>
          <a:lstStyle/>
          <a:p>
            <a:pPr indent="0" marL="0">
              <a:buNone/>
            </a:pPr>
            <a:r>
              <a:rPr lang="en-US" sz="950" u="sng" dirty="0">
                <a:solidFill>
                  <a:srgbClr val="6D28D9"/>
                </a:solidFill>
                <a:latin typeface="Arial" pitchFamily="34" charset="0"/>
                <a:ea typeface="Arial" pitchFamily="34" charset="-122"/>
                <a:cs typeface="Arial" pitchFamily="34" charset="-120"/>
                <a:hlinkClick r:id="rId4" invalidUrl="" action="" tgtFrame="" tooltip="" history="1" highlightClick="0" endSnd="0">
                  <a:extLst>
                    <a:ext uri="{A12FA001-AC4F-418D-AE19-62706E023703}">
                      <ahyp:hlinkClr xmlns:ahyp="http://schemas.microsoft.com/office/drawing/2018/hyperlinkcolor" val="tx"/>
                    </a:ext>
                  </a:extLst>
                </a:hlinkClick>
              </a:rPr>
              <a:t>Leash on devnet: HyL9S5mA…HJncu</a:t>
            </a:r>
            <a:endParaRPr lang="en-US" sz="950" dirty="0"/>
          </a:p>
        </p:txBody>
      </p:sp>
      <p:pic>
        <p:nvPicPr>
          <p:cNvPr id="11" name="Image 2" descr="preencoded.png">    </p:cNvPr>
          <p:cNvPicPr>
            <a:picLocks noChangeAspect="1"/>
          </p:cNvPicPr>
          <p:nvPr/>
        </p:nvPicPr>
        <p:blipFill>
          <a:blip r:embed="rId5"/>
          <a:stretch>
            <a:fillRect/>
          </a:stretch>
        </p:blipFill>
        <p:spPr>
          <a:xfrm>
            <a:off x="6035040" y="3657600"/>
            <a:ext cx="237744" cy="237744"/>
          </a:xfrm>
          <a:prstGeom prst="rect">
            <a:avLst/>
          </a:prstGeom>
        </p:spPr>
      </p:pic>
      <p:sp>
        <p:nvSpPr>
          <p:cNvPr id="12" name="Text 7"/>
          <p:cNvSpPr txBox="1"/>
          <p:nvPr/>
        </p:nvSpPr>
        <p:spPr>
          <a:xfrm>
            <a:off x="6364224" y="3639312"/>
            <a:ext cx="2286000" cy="274320"/>
          </a:xfrm>
          <a:prstGeom prst="rect">
            <a:avLst/>
          </a:prstGeom>
          <a:noFill/>
          <a:ln/>
        </p:spPr>
        <p:txBody>
          <a:bodyPr wrap="square" lIns="0" tIns="0" rIns="0" bIns="0" rtlCol="0" anchor="ctr"/>
          <a:lstStyle/>
          <a:p>
            <a:pPr indent="0" marL="0">
              <a:buNone/>
            </a:pPr>
            <a:r>
              <a:rPr lang="en-US" sz="950" u="sng" dirty="0">
                <a:solidFill>
                  <a:srgbClr val="6D28D9"/>
                </a:solidFill>
                <a:latin typeface="Arial" pitchFamily="34" charset="0"/>
                <a:ea typeface="Arial" pitchFamily="34" charset="-122"/>
                <a:cs typeface="Arial" pitchFamily="34" charset="-120"/>
                <a:hlinkClick r:id="rId6" invalidUrl="" action="" tgtFrame="" tooltip="" history="1" highlightClick="0" endSnd="0">
                  <a:extLst>
                    <a:ext uri="{A12FA001-AC4F-418D-AE19-62706E023703}">
                      <ahyp:hlinkClr xmlns:ahyp="http://schemas.microsoft.com/office/drawing/2018/hyperlinkcolor" val="tx"/>
                    </a:ext>
                  </a:extLst>
                </a:hlinkClick>
              </a:rPr>
              <a:t>Demo video (2:19)</a:t>
            </a:r>
            <a:endParaRPr lang="en-US" sz="950" dirty="0"/>
          </a:p>
        </p:txBody>
      </p:sp>
      <p:sp>
        <p:nvSpPr>
          <p:cNvPr id="13" name="Text 8"/>
          <p:cNvSpPr txBox="1"/>
          <p:nvPr/>
        </p:nvSpPr>
        <p:spPr>
          <a:xfrm>
            <a:off x="548640" y="4434840"/>
            <a:ext cx="8046720" cy="228600"/>
          </a:xfrm>
          <a:prstGeom prst="rect">
            <a:avLst/>
          </a:prstGeom>
          <a:noFill/>
          <a:ln/>
        </p:spPr>
        <p:txBody>
          <a:bodyPr wrap="square" lIns="0" tIns="0" rIns="0" bIns="0" rtlCol="0" anchor="t"/>
          <a:lstStyle/>
          <a:p>
            <a:pPr algn="ctr" indent="0" marL="0">
              <a:buNone/>
            </a:pPr>
            <a:r>
              <a:rPr lang="en-US" sz="900" dirty="0">
                <a:solidFill>
                  <a:srgbClr val="535C6B"/>
                </a:solidFill>
                <a:latin typeface="Arial" pitchFamily="34" charset="0"/>
                <a:ea typeface="Arial" pitchFamily="34" charset="-122"/>
                <a:cs typeface="Arial" pitchFamily="34" charset="-120"/>
              </a:rPr>
              <a:t>Built with parallel Claude Code sessions, each owning one part of the architecture.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Leash: spending limits and an off switch for AI agents, enforced on Solana</dc:title>
  <dc:subject>PptxGenJS Presentation</dc:subject>
  <dc:creator>Leash</dc:creator>
  <cp:lastModifiedBy>Leash</cp:lastModifiedBy>
  <cp:revision>1</cp:revision>
  <dcterms:created xsi:type="dcterms:W3CDTF">2026-10-03T12:12:37Z</dcterms:created>
  <dcterms:modified xsi:type="dcterms:W3CDTF">2026-10-03T12:12:37Z</dcterms:modified>
</cp:coreProperties>
</file>